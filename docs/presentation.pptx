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62" r:id="rId2"/>
    <p:sldId id="263" r:id="rId3"/>
    <p:sldId id="264" r:id="rId4"/>
    <p:sldId id="265" r:id="rId5"/>
    <p:sldId id="266" r:id="rId6"/>
    <p:sldId id="267" r:id="rId7"/>
    <p:sldId id="270" r:id="rId8"/>
    <p:sldId id="280" r:id="rId9"/>
    <p:sldId id="283" r:id="rId10"/>
    <p:sldId id="293" r:id="rId11"/>
    <p:sldId id="294" r:id="rId12"/>
    <p:sldId id="269" r:id="rId13"/>
    <p:sldId id="281" r:id="rId14"/>
    <p:sldId id="295" r:id="rId22"/>
    <p:sldId id="279" r:id="rId15"/>
    <p:sldId id="275" r:id="rId16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 showGuides="1">
      <p:cViewPr varScale="1">
        <p:scale>
          <a:sx n="111" d="100"/>
          <a:sy n="111" d="100"/>
        </p:scale>
        <p:origin x="558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1008376219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10654A-DB5D-4FA2-BFBA-DA32D08A6797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6C42D-DEF1-692D-EB23-56912B18EA73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517D75-5C25-5334-B8EA-D5B29D84D7EA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4D8AE-49E3-EB79-B25B-AB8BD153DE5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50934D-2EE7-1E6E-81A9-BBDDD4ECF2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19B5AB-3C67-9217-69ED-DBE23F98481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C2FEB-1E8F-4380-8FE4-F9D67098F9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5D2238-25F6-F084-F194-B08C82005CBD}" type="slidenum">
              <a:rPr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152659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CBCB3-A5B2-A499-0B59-C14AA7E2E84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94A65-4A95-5C32-0584-82265EE9CA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0D2290-2F05-50C4-D552-6C25AE48DCE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B3B07-7196-F996-3707-594AEB274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8268F6-FB98-9775-D61D-DAEA8E938702}" type="slidenum">
              <a:rPr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631730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440481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7668913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573249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12</a:t>
            </a:fld>
            <a:endParaRPr lang="ru-RU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8268F6-FB98-9775-D61D-DAEA8E938702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0EF839-8C2F-1635-BA9E-18E16C384912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C2024A-A9FC-D896-80FF-52C5C7D0B8F6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 dirty="0"/>
              <a:t>КВОРУМ</a:t>
            </a:r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E31E2F71-AB2B-7A09-F5CC-7574560B988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t="1450" b="1450"/>
          <a:stretch/>
        </p:blipFill>
        <p:spPr bwMode="auto">
          <a:xfrm>
            <a:off x="304800" y="330200"/>
            <a:ext cx="5194300" cy="1082675"/>
          </a:xfrm>
          <a:prstGeom prst="rect">
            <a:avLst/>
          </a:prstGeo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 lang="ru-RU" dirty="0"/>
              <a:t>№ 7. </a:t>
            </a:r>
            <a:r>
              <a:rPr lang="en-US" dirty="0" err="1"/>
              <a:t>Интеллектуальная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мониторинга</a:t>
            </a:r>
            <a:r>
              <a:rPr lang="en-US" dirty="0"/>
              <a:t> </a:t>
            </a:r>
            <a:r>
              <a:rPr lang="en-US" dirty="0" err="1"/>
              <a:t>строительной</a:t>
            </a:r>
            <a:r>
              <a:rPr lang="en-US" dirty="0"/>
              <a:t> </a:t>
            </a:r>
            <a:r>
              <a:rPr lang="en-US" dirty="0" err="1"/>
              <a:t>площадки</a:t>
            </a:r>
            <a:endParaRPr lang="ru-RU" dirty="0"/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609484257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lstStyle/>
          <a:p>
            <a:endParaRPr lang="en-US"/>
          </a:p>
        </p:txBody>
      </p:sp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sz="1300" dirty="0" err="1">
                <a:solidFill>
                  <a:schemeClr val="tx1"/>
                </a:solidFill>
              </a:rPr>
              <a:t>Каждое отклонение несёт числа (facts) и снимок с рамками (evidence). Правила — это данные, а не код: новый класс техники — одна запись в YAML, новое правило этапа — правка в интерфейсе с пересчётом.</a:t>
            </a:r>
            <a:endParaRPr sz="1300" dirty="0">
              <a:solidFill>
                <a:schemeClr val="tx1"/>
              </a:solidFill>
            </a:endParaRPr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Петрин Денис Иванович, студент ФИИ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3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Студенты ФИИ МГУ и МФТИ: компьютерное зрение, бэкенд, продукт и дизайн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Факультет искусственного интеллекта МГУ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МФТИ ФПМИ </a:t>
            </a:r>
            <a:r>
              <a:rPr lang="en-US" i="1" dirty="0">
                <a:solidFill>
                  <a:schemeClr val="tx1"/>
                </a:solidFill>
              </a:rPr>
              <a:t>AI360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dirty="0">
                <a:solidFill>
                  <a:schemeClr val="tx1"/>
                </a:solidFill>
              </a:rPr>
              <a:t>г. Москва</a:t>
            </a:r>
            <a:endParaRPr dirty="0"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 dirty="0">
                <a:solidFill>
                  <a:schemeClr val="accent5"/>
                </a:solidFill>
                <a:latin typeface="Montserrat"/>
              </a:rPr>
              <a:t>КОМАНДА «КВОРУМ»</a:t>
            </a: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dirty="0" err="1">
                <a:solidFill>
                  <a:schemeClr val="tx1"/>
                </a:solidFill>
              </a:rPr>
              <a:t>Система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анализирует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снимки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камер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стройплощадки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автоматически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сопоставляет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факт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работ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календарным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графиком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распознаёт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технику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определяет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участок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привязывает</a:t>
            </a:r>
            <a:r>
              <a:rPr lang="en-US" dirty="0">
                <a:solidFill>
                  <a:schemeClr val="tx1"/>
                </a:solidFill>
              </a:rPr>
              <a:t> к </a:t>
            </a:r>
            <a:r>
              <a:rPr lang="en-US" dirty="0" err="1">
                <a:solidFill>
                  <a:schemeClr val="tx1"/>
                </a:solidFill>
              </a:rPr>
              <a:t>этапу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находит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отклонения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пересчитывает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прогноз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сроков</a:t>
            </a:r>
            <a:r>
              <a:rPr lang="en-US" dirty="0">
                <a:solidFill>
                  <a:schemeClr val="tx1"/>
                </a:solidFill>
              </a:rPr>
              <a:t>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74514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67261468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@denbug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+7 901 745 3592</a:t>
            </a:r>
            <a:endParaRPr sz="1200" dirty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ФИИ МГУ</a:t>
            </a:r>
          </a:p>
        </p:txBody>
      </p:sp>
      <p:sp>
        <p:nvSpPr>
          <p:cNvPr id="789313918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Денис Петрин</a:t>
            </a:r>
            <a:endParaRPr dirty="0"/>
          </a:p>
        </p:txBody>
      </p:sp>
      <p:sp>
        <p:nvSpPr>
          <p:cNvPr id="2086725175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06280066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Маркетинг и дизайн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@infuy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+7 983 324 5207</a:t>
            </a:r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ФИИ МГУ</a:t>
            </a:r>
          </a:p>
        </p:txBody>
      </p:sp>
      <p:sp>
        <p:nvSpPr>
          <p:cNvPr id="1456275104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Александр Горбунов</a:t>
            </a:r>
            <a:endParaRPr dirty="0"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172799835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lstStyle/>
          <a:p>
            <a:endParaRPr lang="en-US"/>
          </a:p>
        </p:txBody>
      </p:sp>
      <p:sp>
        <p:nvSpPr>
          <p:cNvPr id="368022300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lstStyle/>
          <a:p>
            <a:endParaRPr lang="en-US"/>
          </a:p>
        </p:txBody>
      </p:sp>
      <p:sp>
        <p:nvSpPr>
          <p:cNvPr id="1344225912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lstStyle/>
          <a:p>
            <a:endParaRPr lang="en-US"/>
          </a:p>
        </p:txBody>
      </p:sp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«КВОРУМ»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Разработка и </a:t>
            </a:r>
            <a:r>
              <a:rPr lang="en-US" sz="1200" dirty="0">
                <a:solidFill>
                  <a:schemeClr val="tx1"/>
                </a:solidFill>
              </a:rPr>
              <a:t>DevOps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@cerXXXX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+7 903 975 4526</a:t>
            </a:r>
            <a:endParaRPr sz="1200" dirty="0">
              <a:solidFill>
                <a:schemeClr val="tx1"/>
              </a:solidFill>
            </a:endParaRPr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МФТИ ФПМИ </a:t>
            </a:r>
            <a:r>
              <a:rPr lang="en-US" sz="1200" dirty="0">
                <a:solidFill>
                  <a:schemeClr val="tx1"/>
                </a:solidFill>
              </a:rPr>
              <a:t>AI360</a:t>
            </a:r>
            <a:endParaRPr dirty="0"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Иван Поляков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«КВОРУМ»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Собрались под ЛЦТ-2026: двое — первокурсники ФИИ МГУ, один — МФТИ ФПМИ AI360. Работали как продуктовая команда: ТЗ → методика → архитектурные решения (ADR) → код с тестами → репетиция запуска на чистой машине.</a:t>
            </a:r>
            <a:endParaRPr dirty="0"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  <a:endParaRPr dirty="0"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dirty="0">
                <a:solidFill>
                  <a:schemeClr val="tx1"/>
                </a:solidFill>
              </a:rPr>
              <a:t>1) Техника есть, но не та или не там — у каждого отклонения D1–D10 порог в данных, числа и снимок.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2) Zero-shot почти не видит технику (mAP50 0,07) — дообучили до 0,81 и показываем обе цифры.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3) Запуск на чужой машине — образы, веса и демо-кадры скачиваются одной командой.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endParaRPr dirty="0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dirty="0" err="1">
                <a:solidFill>
                  <a:schemeClr val="tx1"/>
                </a:solidFill>
              </a:rPr>
              <a:t>Возможность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превратить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пассивное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видеонаблюдение</a:t>
            </a:r>
            <a:r>
              <a:rPr lang="en-US" dirty="0">
                <a:solidFill>
                  <a:schemeClr val="tx1"/>
                </a:solidFill>
              </a:rPr>
              <a:t> в </a:t>
            </a:r>
            <a:r>
              <a:rPr lang="en-US" dirty="0" err="1">
                <a:solidFill>
                  <a:schemeClr val="tx1"/>
                </a:solidFill>
              </a:rPr>
              <a:t>активного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цифрового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помощника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прораба</a:t>
            </a:r>
            <a:r>
              <a:rPr lang="en-US" dirty="0">
                <a:solidFill>
                  <a:schemeClr val="tx1"/>
                </a:solidFill>
              </a:rPr>
              <a:t>. </a:t>
            </a:r>
            <a:r>
              <a:rPr lang="en-US" dirty="0" err="1">
                <a:solidFill>
                  <a:schemeClr val="tx1"/>
                </a:solidFill>
              </a:rPr>
              <a:t>Не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просто</a:t>
            </a:r>
            <a:r>
              <a:rPr lang="en-US" dirty="0">
                <a:solidFill>
                  <a:schemeClr val="tx1"/>
                </a:solidFill>
              </a:rPr>
              <a:t> «</a:t>
            </a:r>
            <a:r>
              <a:rPr lang="en-US" dirty="0" err="1">
                <a:solidFill>
                  <a:schemeClr val="tx1"/>
                </a:solidFill>
              </a:rPr>
              <a:t>запись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архива</a:t>
            </a:r>
            <a:r>
              <a:rPr lang="en-US" dirty="0">
                <a:solidFill>
                  <a:schemeClr val="tx1"/>
                </a:solidFill>
              </a:rPr>
              <a:t>», а </a:t>
            </a:r>
            <a:r>
              <a:rPr lang="en-US" dirty="0" err="1">
                <a:solidFill>
                  <a:schemeClr val="tx1"/>
                </a:solidFill>
              </a:rPr>
              <a:t>система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которая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сама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говорит</a:t>
            </a:r>
            <a:r>
              <a:rPr lang="en-US" dirty="0">
                <a:solidFill>
                  <a:schemeClr val="tx1"/>
                </a:solidFill>
              </a:rPr>
              <a:t>: «</a:t>
            </a:r>
            <a:r>
              <a:rPr lang="en-US" dirty="0" err="1">
                <a:solidFill>
                  <a:schemeClr val="tx1"/>
                </a:solidFill>
              </a:rPr>
              <a:t>вот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отклонение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вот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доказательство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вот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прогноз</a:t>
            </a:r>
            <a:r>
              <a:rPr lang="en-US" dirty="0">
                <a:solidFill>
                  <a:schemeClr val="tx1"/>
                </a:solidFill>
              </a:rPr>
              <a:t>».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  <a:endParaRPr dirty="0"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1400" dirty="0">
                <a:solidFill>
                  <a:schemeClr val="tx1"/>
                </a:solidFill>
              </a:rPr>
              <a:t>4 сервиса (план, площадка, распознавание, анализ с отчётами) + gateway. У каждого сервиса с данными — своя БД, связь только по REST</a:t>
            </a: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Распознавание: YOLO-World, дообученный на открытых датасетах стройтехники, + OpenCLIP для стадии объекта</a:t>
            </a: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Правила отклонений, классы техники, зоны и пороги — это данные (YAML, БД), а не код</a:t>
            </a: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Стек: FastAPI, PostgreSQL, SeaweedFS (S3), React, Docker.</a:t>
            </a:r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От видеоархива — к контролю графика: система сама говорит, что не так, где и почему</a:t>
            </a: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Цепочка ценности: Снимок → Техника → Участок → Этап графика → Отклонение → Прогноз</a:t>
            </a:r>
            <a:endParaRPr lang="ru-RU" sz="13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Развитие: гибрид детекторов, расчёт графика для всех типов объектов (сейчас — монолитный жилой дом), другие площадки с техникой: карьеры, порты.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  <a:endParaRPr dirty="0"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4751754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4 сервиса + gateway: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plan-service — объекты, график (импорт XLSX/CSV или расчёт по МРР), этапы, правила «этап → техника»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site-service — камеры, зоны, снимки, детекции, окна наблюдения по 30 минут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vision-service — распознавание техники (YOLO-World) и стадии объекта (OpenCLIP)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analysis-service — отклонения D1–D10, прогноз, PDF-отчёт и LLM-резюме. У каждого сервиса с данными — своя БД, связь только по REST через gateway.</a:t>
            </a:r>
            <a:br>
              <a:rPr lang="en-US" dirty="0">
                <a:solidFill>
                  <a:schemeClr val="tx1"/>
                </a:solidFill>
              </a:rPr>
            </a:b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Данные, а не код: правила, классы техники, зоны и пороги. Новый класс техники — одна запись в YAML, без правки кода.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Сквозные X-API-Key и X-Request-Id: один запрос прослеживается через все сервисы.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65220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  <p:sp>
        <p:nvSpPr>
          <p:cNvPr id="1029284307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 dirty="0">
                <a:solidFill>
                  <a:schemeClr val="accent5"/>
                </a:solidFill>
              </a:rPr>
              <a:t>АРХИТЕКТУРА РЕШЕНИЯ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5712D0-C197-73D8-C6CA-634675406EB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9445" y="1747768"/>
            <a:ext cx="6072555" cy="33624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accent5"/>
                </a:solidFill>
              </a:rPr>
              <a:t>ОБОСНОВАНИЕ ВЫБОРА ТЕХНОЛОГИЙ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2" y="1695025"/>
            <a:ext cx="6903795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YOLO-World + OpenCLIP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Классы техники задаются текстом: новый тип машины добавляется без переобучения. OpenCLIP — стадия по фото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Дообучение ce-ulima-v1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YOLO-World, дообученный на Construction Equipment и датасете Лимы: mAP50 0,07 → 0,81 на отложенном тесте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FastAPI</a:t>
            </a:r>
            <a:r>
              <a:rPr lang="en-US" b="1" dirty="0">
                <a:solidFill>
                  <a:schemeClr val="accent1"/>
                </a:solidFill>
              </a:rPr>
              <a:t> + PostgreSQL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Асинхронный</a:t>
            </a:r>
            <a:r>
              <a:rPr lang="en-US" dirty="0">
                <a:solidFill>
                  <a:schemeClr val="tx1"/>
                </a:solidFill>
              </a:rPr>
              <a:t> Python-</a:t>
            </a:r>
            <a:r>
              <a:rPr lang="en-US" dirty="0" err="1">
                <a:solidFill>
                  <a:schemeClr val="tx1"/>
                </a:solidFill>
              </a:rPr>
              <a:t>стек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изолированными</a:t>
            </a:r>
            <a:r>
              <a:rPr lang="en-US" dirty="0">
                <a:solidFill>
                  <a:schemeClr val="tx1"/>
                </a:solidFill>
              </a:rPr>
              <a:t> БД </a:t>
            </a:r>
            <a:r>
              <a:rPr lang="en-US" dirty="0" err="1">
                <a:solidFill>
                  <a:schemeClr val="tx1"/>
                </a:solidFill>
              </a:rPr>
              <a:t>на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сервис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SeaweedFS (S3)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Хранилище снимков и отчётов. У заказчика меняется на любой S3 через .env, без правки кода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2" y="5123063"/>
            <a:ext cx="6080835" cy="712587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React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Интерфейс оператора: у каждого отклонения — числа, правило и снимок с рамками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7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471956" name="Скругленный прямоугольник 11"/>
          <p:cNvSpPr/>
          <p:nvPr/>
        </p:nvSpPr>
        <p:spPr bwMode="auto">
          <a:xfrm>
            <a:off x="346074" y="324562"/>
            <a:ext cx="477352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0980009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45791128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Кадр с камеры</a:t>
            </a:r>
          </a:p>
        </p:txBody>
      </p:sp>
      <p:sp>
        <p:nvSpPr>
          <p:cNvPr id="175425605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EXIF-</a:t>
            </a:r>
            <a:r>
              <a:rPr lang="en-US" dirty="0" err="1">
                <a:solidFill>
                  <a:schemeClr val="tx1"/>
                </a:solidFill>
              </a:rPr>
              <a:t>время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зона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камеры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Нет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времени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статус</a:t>
            </a:r>
            <a:r>
              <a:rPr lang="en-US" dirty="0">
                <a:solidFill>
                  <a:schemeClr val="tx1"/>
                </a:solidFill>
              </a:rPr>
              <a:t> NEEDS_TIME, </a:t>
            </a:r>
            <a:r>
              <a:rPr lang="en-US" dirty="0" err="1">
                <a:solidFill>
                  <a:schemeClr val="tx1"/>
                </a:solidFill>
              </a:rPr>
              <a:t>дубль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по</a:t>
            </a:r>
            <a:r>
              <a:rPr lang="en-US" dirty="0">
                <a:solidFill>
                  <a:schemeClr val="tx1"/>
                </a:solidFill>
              </a:rPr>
              <a:t> sha256 — </a:t>
            </a:r>
            <a:r>
              <a:rPr lang="en-US" dirty="0" err="1">
                <a:solidFill>
                  <a:schemeClr val="tx1"/>
                </a:solidFill>
              </a:rPr>
              <a:t>отклонён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67808411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Сессия 30 минут</a:t>
            </a:r>
          </a:p>
        </p:txBody>
      </p:sp>
      <p:sp>
        <p:nvSpPr>
          <p:cNvPr id="1063055699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Кадры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окна</a:t>
            </a:r>
            <a:r>
              <a:rPr lang="en-US" dirty="0">
                <a:solidFill>
                  <a:schemeClr val="tx1"/>
                </a:solidFill>
              </a:rPr>
              <a:t> → </a:t>
            </a:r>
            <a:r>
              <a:rPr lang="en-US" dirty="0" err="1">
                <a:solidFill>
                  <a:schemeClr val="tx1"/>
                </a:solidFill>
              </a:rPr>
              <a:t>один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факт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Статус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единицы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работает</a:t>
            </a:r>
            <a:r>
              <a:rPr lang="en-US" dirty="0">
                <a:solidFill>
                  <a:schemeClr val="tx1"/>
                </a:solidFill>
              </a:rPr>
              <a:t> / </a:t>
            </a:r>
            <a:r>
              <a:rPr lang="en-US" dirty="0" err="1">
                <a:solidFill>
                  <a:schemeClr val="tx1"/>
                </a:solidFill>
              </a:rPr>
              <a:t>простой</a:t>
            </a:r>
            <a:r>
              <a:rPr lang="en-US" dirty="0">
                <a:solidFill>
                  <a:schemeClr val="tx1"/>
                </a:solidFill>
              </a:rPr>
              <a:t> / </a:t>
            </a:r>
            <a:r>
              <a:rPr lang="en-US" dirty="0" err="1">
                <a:solidFill>
                  <a:schemeClr val="tx1"/>
                </a:solidFill>
              </a:rPr>
              <a:t>вне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зоны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0135430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Прогноз</a:t>
            </a:r>
          </a:p>
        </p:txBody>
      </p:sp>
      <p:sp>
        <p:nvSpPr>
          <p:cNvPr id="1321846474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Отклонение</a:t>
            </a:r>
            <a:r>
              <a:rPr lang="en-US" dirty="0">
                <a:solidFill>
                  <a:schemeClr val="tx1"/>
                </a:solidFill>
              </a:rPr>
              <a:t> = facts (</a:t>
            </a:r>
            <a:r>
              <a:rPr lang="en-US" dirty="0" err="1">
                <a:solidFill>
                  <a:schemeClr val="tx1"/>
                </a:solidFill>
              </a:rPr>
              <a:t>числа</a:t>
            </a:r>
            <a:r>
              <a:rPr lang="en-US" dirty="0">
                <a:solidFill>
                  <a:schemeClr val="tx1"/>
                </a:solidFill>
              </a:rPr>
              <a:t>) + evidence (</a:t>
            </a:r>
            <a:r>
              <a:rPr lang="en-US" dirty="0" err="1">
                <a:solidFill>
                  <a:schemeClr val="tx1"/>
                </a:solidFill>
              </a:rPr>
              <a:t>кадр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рамками</a:t>
            </a:r>
            <a:r>
              <a:rPr lang="en-US" dirty="0">
                <a:solidFill>
                  <a:schemeClr val="tx1"/>
                </a:solidFill>
              </a:rPr>
              <a:t>)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Гант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пересчитывает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прогноз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сдвигает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зависимые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этапы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704065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Техника и участок</a:t>
            </a:r>
          </a:p>
        </p:txBody>
      </p:sp>
      <p:sp>
        <p:nvSpPr>
          <p:cNvPr id="852980671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YOLO-World: класс и рамка техники на кадре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Участок — по точке, где рамка касается земли, в зоне камеры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8284361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Правило этапа</a:t>
            </a:r>
          </a:p>
        </p:txBody>
      </p:sp>
      <p:sp>
        <p:nvSpPr>
          <p:cNvPr id="1837104852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>
            <a:normAutofit fontScale="92500"/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В </a:t>
            </a:r>
            <a:r>
              <a:rPr lang="en-US" dirty="0" err="1">
                <a:solidFill>
                  <a:schemeClr val="tx1"/>
                </a:solidFill>
              </a:rPr>
              <a:t>карточке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этапа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какая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техника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сколько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единиц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нужн</a:t>
            </a:r>
            <a:r>
              <a:rPr lang="ru-RU" dirty="0">
                <a:solidFill>
                  <a:schemeClr val="tx1"/>
                </a:solidFill>
              </a:rPr>
              <a:t>ы</a:t>
            </a:r>
            <a:r>
              <a:rPr lang="en-US" dirty="0">
                <a:solidFill>
                  <a:schemeClr val="tx1"/>
                </a:solidFill>
              </a:rPr>
              <a:t> в </a:t>
            </a:r>
            <a:r>
              <a:rPr lang="en-US" dirty="0" err="1">
                <a:solidFill>
                  <a:schemeClr val="tx1"/>
                </a:solidFill>
              </a:rPr>
              <a:t>участке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Факт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против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правила</a:t>
            </a:r>
            <a:r>
              <a:rPr lang="en-US" dirty="0">
                <a:solidFill>
                  <a:schemeClr val="tx1"/>
                </a:solidFill>
              </a:rPr>
              <a:t> → </a:t>
            </a:r>
            <a:r>
              <a:rPr lang="en-US" dirty="0" err="1">
                <a:solidFill>
                  <a:schemeClr val="tx1"/>
                </a:solidFill>
              </a:rPr>
              <a:t>отклонение</a:t>
            </a:r>
            <a:r>
              <a:rPr lang="en-US" dirty="0">
                <a:solidFill>
                  <a:schemeClr val="tx1"/>
                </a:solidFill>
              </a:rPr>
              <a:t> D1–D10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731368653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670215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144373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664500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5829465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336023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998851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937511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810320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75127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1</a:t>
            </a:r>
            <a:endParaRPr/>
          </a:p>
        </p:txBody>
      </p:sp>
      <p:sp>
        <p:nvSpPr>
          <p:cNvPr id="812859897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2</a:t>
            </a:r>
            <a:endParaRPr/>
          </a:p>
        </p:txBody>
      </p:sp>
      <p:sp>
        <p:nvSpPr>
          <p:cNvPr id="108934526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3</a:t>
            </a:r>
            <a:endParaRPr/>
          </a:p>
        </p:txBody>
      </p:sp>
      <p:sp>
        <p:nvSpPr>
          <p:cNvPr id="1741896490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4</a:t>
            </a:r>
            <a:endParaRPr/>
          </a:p>
        </p:txBody>
      </p:sp>
      <p:sp>
        <p:nvSpPr>
          <p:cNvPr id="1007682587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5</a:t>
            </a:r>
            <a:endParaRPr/>
          </a:p>
        </p:txBody>
      </p:sp>
      <p:sp>
        <p:nvSpPr>
          <p:cNvPr id="147549282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СВЯЗЬ СНИМКОВ С ГРАФИКОМ</a:t>
            </a:r>
          </a:p>
        </p:txBody>
      </p:sp>
      <p:sp>
        <p:nvSpPr>
          <p:cNvPr id="1473606708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586179979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2105368717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293685711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624313899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944520" name="Скругленный прямоугольник 2"/>
          <p:cNvSpPr/>
          <p:nvPr/>
        </p:nvSpPr>
        <p:spPr bwMode="auto">
          <a:xfrm>
            <a:off x="346075" y="324562"/>
            <a:ext cx="369971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7D902B22-114B-E4E6-B83F-E4F34518D58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1" t="3496" r="-10" b="5763"/>
          <a:stretch>
            <a:fillRect/>
          </a:stretch>
        </p:blipFill>
        <p:spPr bwMode="auto">
          <a:xfrm>
            <a:off x="5034405" y="1358954"/>
            <a:ext cx="2172255" cy="4270120"/>
          </a:xfrm>
          <a:prstGeom prst="roundRect">
            <a:avLst>
              <a:gd name="adj" fmla="val 12294"/>
            </a:avLst>
          </a:prstGeom>
          <a:noFill/>
        </p:spPr>
      </p:pic>
      <p:sp>
        <p:nvSpPr>
          <p:cNvPr id="680146116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Наблюдение</a:t>
            </a:r>
          </a:p>
        </p:txBody>
      </p:sp>
      <p:sp>
        <p:nvSpPr>
          <p:cNvPr id="867742702" name="Текст 4"/>
          <p:cNvSpPr>
            <a:spLocks noGrp="1"/>
          </p:cNvSpPr>
          <p:nvPr>
            <p:ph type="body" sz="quarter" idx="18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Обзор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лента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предупреждений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график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план-факт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камеры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отчёты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всё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что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читает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прораб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ежедневно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18894724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Настройка объекта</a:t>
            </a:r>
          </a:p>
        </p:txBody>
      </p:sp>
      <p:sp>
        <p:nvSpPr>
          <p:cNvPr id="1233166073" name="Текст 6"/>
          <p:cNvSpPr>
            <a:spLocks noGrp="1"/>
          </p:cNvSpPr>
          <p:nvPr>
            <p:ph type="body" sz="quarter" idx="23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Реквизиты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календарный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график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правила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привязки</a:t>
            </a:r>
            <a:r>
              <a:rPr lang="en-US" dirty="0">
                <a:solidFill>
                  <a:schemeClr val="tx1"/>
                </a:solidFill>
              </a:rPr>
              <a:t> «</a:t>
            </a:r>
            <a:r>
              <a:rPr lang="en-US" dirty="0" err="1">
                <a:solidFill>
                  <a:schemeClr val="tx1"/>
                </a:solidFill>
              </a:rPr>
              <a:t>этап</a:t>
            </a:r>
            <a:r>
              <a:rPr lang="en-US" dirty="0">
                <a:solidFill>
                  <a:schemeClr val="tx1"/>
                </a:solidFill>
              </a:rPr>
              <a:t> → </a:t>
            </a:r>
            <a:r>
              <a:rPr lang="en-US" dirty="0" err="1">
                <a:solidFill>
                  <a:schemeClr val="tx1"/>
                </a:solidFill>
              </a:rPr>
              <a:t>техника</a:t>
            </a:r>
            <a:r>
              <a:rPr lang="en-US" dirty="0">
                <a:solidFill>
                  <a:schemeClr val="tx1"/>
                </a:solidFill>
              </a:rPr>
              <a:t>», </a:t>
            </a:r>
            <a:r>
              <a:rPr lang="en-US" dirty="0" err="1">
                <a:solidFill>
                  <a:schemeClr val="tx1"/>
                </a:solidFill>
              </a:rPr>
              <a:t>зоны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на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камерах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27124232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Данные</a:t>
            </a:r>
          </a:p>
        </p:txBody>
      </p:sp>
      <p:sp>
        <p:nvSpPr>
          <p:cNvPr id="594633161" name="Текст 8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Загрузка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снимков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контролем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качества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время</a:t>
            </a:r>
            <a:r>
              <a:rPr lang="en-US" dirty="0">
                <a:solidFill>
                  <a:schemeClr val="tx1"/>
                </a:solidFill>
              </a:rPr>
              <a:t> в </a:t>
            </a:r>
            <a:r>
              <a:rPr lang="en-US" dirty="0" err="1">
                <a:solidFill>
                  <a:schemeClr val="tx1"/>
                </a:solidFill>
              </a:rPr>
              <a:t>метаданных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отсутствие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дублей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распознавание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64702574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Справочники</a:t>
            </a:r>
          </a:p>
        </p:txBody>
      </p:sp>
      <p:sp>
        <p:nvSpPr>
          <p:cNvPr id="884516365" name="Текст 10"/>
          <p:cNvSpPr>
            <a:spLocks noGrp="1"/>
          </p:cNvSpPr>
          <p:nvPr>
            <p:ph type="body" sz="quarter" idx="27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Пороги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отклонений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классы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техники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логика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системы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как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данные</a:t>
            </a:r>
            <a:r>
              <a:rPr lang="en-US" dirty="0">
                <a:solidFill>
                  <a:schemeClr val="tx1"/>
                </a:solidFill>
              </a:rPr>
              <a:t>, а </a:t>
            </a:r>
            <a:r>
              <a:rPr lang="en-US" dirty="0" err="1">
                <a:solidFill>
                  <a:schemeClr val="tx1"/>
                </a:solidFill>
              </a:rPr>
              <a:t>не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код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99655860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9</a:t>
            </a:fld>
            <a:endParaRPr lang="ru-RU">
              <a:solidFill>
                <a:schemeClr val="accent5"/>
              </a:solidFill>
            </a:endParaRPr>
          </a:p>
        </p:txBody>
      </p:sp>
      <p:grpSp>
        <p:nvGrpSpPr>
          <p:cNvPr id="1034340990" name="Группа 12"/>
          <p:cNvGrpSpPr/>
          <p:nvPr/>
        </p:nvGrpSpPr>
        <p:grpSpPr bwMode="auto">
          <a:xfrm>
            <a:off x="4951937" y="1228926"/>
            <a:ext cx="2268386" cy="4490387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117324971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СТРУКТУРА ПРОТОТИПА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52D95A-5845-CCBD-464F-273B308830D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5920140" name="Скругленный прямоугольник 1">
            <a:extLst>
              <a:ext uri="{FF2B5EF4-FFF2-40B4-BE49-F238E27FC236}">
                <a16:creationId xmlns:a16="http://schemas.microsoft.com/office/drawing/2014/main" id="{A2896616-099A-7A75-2BB1-F1C452A3518A}"/>
              </a:ext>
            </a:extLst>
          </p:cNvPr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8502126" name="Номер слайда 6">
            <a:extLst>
              <a:ext uri="{FF2B5EF4-FFF2-40B4-BE49-F238E27FC236}">
                <a16:creationId xmlns:a16="http://schemas.microsoft.com/office/drawing/2014/main" id="{F36DE4B1-1538-40F6-1960-D016DA371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48536300" name="Заголовок 13">
            <a:extLst>
              <a:ext uri="{FF2B5EF4-FFF2-40B4-BE49-F238E27FC236}">
                <a16:creationId xmlns:a16="http://schemas.microsoft.com/office/drawing/2014/main" id="{06182070-1D05-43F0-45F4-8FA12018693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ПРОТОТИП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ACF152-CEEF-4662-9614-8AFC5625DBAE}"/>
              </a:ext>
            </a:extLst>
          </p:cNvPr>
          <p:cNvGrpSpPr/>
          <p:nvPr/>
        </p:nvGrpSpPr>
        <p:grpSpPr>
          <a:xfrm>
            <a:off x="2057437" y="1042144"/>
            <a:ext cx="7757132" cy="4806563"/>
            <a:chOff x="2057437" y="1042144"/>
            <a:chExt cx="7757132" cy="4806563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94E30DC1-8178-5947-5DB3-C19372CFEFFE}"/>
                </a:ext>
              </a:extLst>
            </p:cNvPr>
            <p:cNvGrpSpPr/>
            <p:nvPr/>
          </p:nvGrpSpPr>
          <p:grpSpPr bwMode="auto">
            <a:xfrm>
              <a:off x="2057437" y="1042144"/>
              <a:ext cx="7757132" cy="4806563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08D97072-A55B-EE0C-10E2-8CE3BF80E9B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4A46D859-2D11-296D-E53F-D6679853D729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76BE853F-1323-5A8F-56A3-F7F7B1B51E17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C51E5813-E2B3-C6BD-243F-DDB172626BB8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BD82CFD7-8DDC-7B50-DDC1-20BA4372A3A9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DB656046-28F1-D81C-B0F2-015726AC32B3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7C79FEA1-7C2E-16A6-791A-436CC93E8A8A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6765572F-A40A-4204-D9D6-DD466B243FA3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AB0CA85B-8E22-E677-2DF5-567F748E32EB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9C65AC97-91A8-5C57-E0D6-2DBA758C866F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9CE1E1B1-7C8F-D112-5D1C-07012CFC0525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A9BEA9BC-489B-C1D0-06E6-2DFBF8A812BE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3DEEC0A-45E8-2C67-D412-B92BD2EB405E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727D2A13-DDB6-9714-C7D8-02320B473F2E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DD832FED-F025-19AE-FAD0-FD7565743118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55874C37-8FB5-35F3-6F3F-2CBD1A583FF1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5B9F8BFD-0794-EE48-7FAB-DCE8E5AFCDE9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CE8E2707-012E-7613-185D-D655CB1D2427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FB9C079-F46C-9812-5271-C2FC1E585D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57437" y="1816300"/>
              <a:ext cx="7754636" cy="38765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1A2BF9A-CA73-9D96-CF91-C6D359C075B9}"/>
              </a:ext>
            </a:extLst>
          </p:cNvPr>
          <p:cNvGrpSpPr/>
          <p:nvPr/>
        </p:nvGrpSpPr>
        <p:grpSpPr>
          <a:xfrm>
            <a:off x="1335024" y="2450592"/>
            <a:ext cx="722413" cy="356616"/>
            <a:chOff x="1335024" y="2450592"/>
            <a:chExt cx="722413" cy="356616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F806875-A311-95A9-EF7C-E5D110E3F26B}"/>
                </a:ext>
              </a:extLst>
            </p:cNvPr>
            <p:cNvCxnSpPr/>
            <p:nvPr/>
          </p:nvCxnSpPr>
          <p:spPr>
            <a:xfrm flipH="1">
              <a:off x="1636776" y="2807208"/>
              <a:ext cx="420661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719EB71-BBB8-C4B7-E020-A8C181C224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35024" y="2450592"/>
              <a:ext cx="301752" cy="35661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406693" y="2058755"/>
            <a:ext cx="1649496" cy="42572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>
                <a:solidFill>
                  <a:schemeClr val="accent5"/>
                </a:solidFill>
              </a:rPr>
              <a:t>сводка по объекту</a:t>
            </a:r>
          </a:p>
        </p:txBody>
      </p:sp>
    </p:spTree>
    <p:extLst>
      <p:ext uri="{BB962C8B-B14F-4D97-AF65-F5344CB8AC3E}">
        <p14:creationId xmlns:p14="http://schemas.microsoft.com/office/powerpoint/2010/main" val="34062572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CB96DE-42B5-C482-522D-5399513453F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12294" name="Скругленный прямоугольник 2">
            <a:extLst>
              <a:ext uri="{FF2B5EF4-FFF2-40B4-BE49-F238E27FC236}">
                <a16:creationId xmlns:a16="http://schemas.microsoft.com/office/drawing/2014/main" id="{0935B526-6572-9F62-FAD7-170CE8FD11D0}"/>
              </a:ext>
            </a:extLst>
          </p:cNvPr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00372309" name="Номер слайда 6">
            <a:extLst>
              <a:ext uri="{FF2B5EF4-FFF2-40B4-BE49-F238E27FC236}">
                <a16:creationId xmlns:a16="http://schemas.microsoft.com/office/drawing/2014/main" id="{254E12BA-0303-871B-0BA4-5E614F67FC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11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20462955" name="Текст 3">
            <a:extLst>
              <a:ext uri="{FF2B5EF4-FFF2-40B4-BE49-F238E27FC236}">
                <a16:creationId xmlns:a16="http://schemas.microsoft.com/office/drawing/2014/main" id="{CDA7A03A-1920-4EEB-0A1C-614FA18F1D6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auto">
          <a:xfrm>
            <a:off x="8292891" y="1105718"/>
            <a:ext cx="3626835" cy="500887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Обязательная техника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Группы классов с минимальным числом машин. Нет ни одной группы — D1, собрана только часть — D2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Допустимая техника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Классы, которые могут работать на этапе, но не требуются. Всё остальное — D3 «техника не по этапу»</a:t>
            </a: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Признак старта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Какие классы вместе означают начало этапа: по нему система находит фактический старт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Устойчивость</a:t>
            </a:r>
          </a:p>
          <a:p>
            <a:pPr lvl="1">
              <a:defRPr/>
            </a:pPr>
            <a:r>
              <a:rPr lang="ru-RU" sz="1450" dirty="0">
                <a:solidFill>
                  <a:schemeClr val="tx1"/>
                </a:solidFill>
              </a:rPr>
              <a:t>Условие должно держаться несколько сессий подряд — одна случайная машина не даёт тревоги</a:t>
            </a:r>
            <a:endParaRPr lang="ru-RU" sz="1450" dirty="0">
              <a:solidFill>
                <a:schemeClr val="tx1"/>
              </a:solidFill>
            </a:endParaRPr>
          </a:p>
        </p:txBody>
      </p:sp>
      <p:sp>
        <p:nvSpPr>
          <p:cNvPr id="320200776" name="Заголовок 13">
            <a:extLst>
              <a:ext uri="{FF2B5EF4-FFF2-40B4-BE49-F238E27FC236}">
                <a16:creationId xmlns:a16="http://schemas.microsoft.com/office/drawing/2014/main" id="{2A26B42A-75D5-4CD7-B5A0-D3EF03F71C09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ЭТАП </a:t>
            </a:r>
            <a:r>
              <a:rPr lang="en-US" dirty="0"/>
              <a:t>→ </a:t>
            </a:r>
            <a:r>
              <a:rPr lang="ru-RU" dirty="0"/>
              <a:t>ТЕХНИКА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1AF724-D960-0C69-650F-400A12D68D4A}"/>
              </a:ext>
            </a:extLst>
          </p:cNvPr>
          <p:cNvGrpSpPr/>
          <p:nvPr/>
        </p:nvGrpSpPr>
        <p:grpSpPr>
          <a:xfrm>
            <a:off x="267284" y="1206873"/>
            <a:ext cx="7759626" cy="4806563"/>
            <a:chOff x="267284" y="1206873"/>
            <a:chExt cx="7759626" cy="4806563"/>
          </a:xfrm>
        </p:grpSpPr>
        <p:grpSp>
          <p:nvGrpSpPr>
            <p:cNvPr id="11" name="Group 83">
              <a:extLst>
                <a:ext uri="{FF2B5EF4-FFF2-40B4-BE49-F238E27FC236}">
                  <a16:creationId xmlns:a16="http://schemas.microsoft.com/office/drawing/2014/main" id="{24629891-711E-A87D-F209-A3318EC9252F}"/>
                </a:ext>
              </a:extLst>
            </p:cNvPr>
            <p:cNvGrpSpPr/>
            <p:nvPr/>
          </p:nvGrpSpPr>
          <p:grpSpPr bwMode="auto">
            <a:xfrm>
              <a:off x="269778" y="1206873"/>
              <a:ext cx="7757132" cy="4806563"/>
              <a:chOff x="1027152" y="2693983"/>
              <a:chExt cx="6796849" cy="4462905"/>
            </a:xfrm>
          </p:grpSpPr>
          <p:sp>
            <p:nvSpPr>
              <p:cNvPr id="13" name="AutoShape 1">
                <a:extLst>
                  <a:ext uri="{FF2B5EF4-FFF2-40B4-BE49-F238E27FC236}">
                    <a16:creationId xmlns:a16="http://schemas.microsoft.com/office/drawing/2014/main" id="{C7B85541-967C-329B-37B2-E0F36FA5F6F7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Rectangle 2">
                <a:extLst>
                  <a:ext uri="{FF2B5EF4-FFF2-40B4-BE49-F238E27FC236}">
                    <a16:creationId xmlns:a16="http://schemas.microsoft.com/office/drawing/2014/main" id="{56A350E0-2215-B3D7-835F-2AD5E4A17BFE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AutoShape 3">
                <a:extLst>
                  <a:ext uri="{FF2B5EF4-FFF2-40B4-BE49-F238E27FC236}">
                    <a16:creationId xmlns:a16="http://schemas.microsoft.com/office/drawing/2014/main" id="{88A3707E-5D2C-1E8A-9C6F-5BA49253539A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4">
                <a:extLst>
                  <a:ext uri="{FF2B5EF4-FFF2-40B4-BE49-F238E27FC236}">
                    <a16:creationId xmlns:a16="http://schemas.microsoft.com/office/drawing/2014/main" id="{746FC7D9-15FF-AAA2-5C0B-A0E13057E574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5">
                <a:extLst>
                  <a:ext uri="{FF2B5EF4-FFF2-40B4-BE49-F238E27FC236}">
                    <a16:creationId xmlns:a16="http://schemas.microsoft.com/office/drawing/2014/main" id="{A06E5E10-1469-22D7-58F5-AE2AC244CED1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Oval 6">
                <a:extLst>
                  <a:ext uri="{FF2B5EF4-FFF2-40B4-BE49-F238E27FC236}">
                    <a16:creationId xmlns:a16="http://schemas.microsoft.com/office/drawing/2014/main" id="{FF0AE1BF-89C4-0762-0DC8-46B2DDD6FDD3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7AD0B4E-28FA-A190-1993-3648D7BEC2A0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ACA41B05-9F49-38DF-A1D8-ADD78F567C2A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B414A41D-2999-A268-0F40-819FA8F982EF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9DB6C1B4-6C35-8FDB-0CD1-7C6BFFE3094E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C7D8B99D-63D5-A8DD-32AA-CE4C41366A33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62F2555B-B73A-4B2C-7286-D04C9CDAA5DE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2DA11E19-AE12-5E31-DB0F-7C32CFE3C133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B075CC1B-8D52-735B-80FA-01CBDA58D8D7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C917E5CC-CBB6-E91D-5EC3-A28824F688C9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0F344A6-987A-55AE-B96B-FFFE56EDD500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9CB43ACC-5212-F9D5-4D58-96C907D3B532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94066B1A-278F-6DFD-1F0B-22002ABE14FB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14088A7-BF04-B718-6981-9DD9498AB3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7284" y="1903556"/>
              <a:ext cx="7754636" cy="38834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178335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767918" name="Скругленный прямоугольник 8"/>
          <p:cNvSpPr/>
          <p:nvPr/>
        </p:nvSpPr>
        <p:spPr bwMode="auto">
          <a:xfrm>
            <a:off x="281611" y="887375"/>
            <a:ext cx="4375367" cy="5295060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17194336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12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58568974" name="Заголовок 2"/>
          <p:cNvSpPr>
            <a:spLocks noGrp="1"/>
          </p:cNvSpPr>
          <p:nvPr>
            <p:ph type="title"/>
          </p:nvPr>
        </p:nvSpPr>
        <p:spPr bwMode="auto">
          <a:xfrm>
            <a:off x="505009" y="1029610"/>
            <a:ext cx="3906828" cy="395228"/>
          </a:xfrm>
        </p:spPr>
        <p:txBody>
          <a:bodyPr/>
          <a:lstStyle/>
          <a:p>
            <a:pPr>
              <a:defRPr/>
            </a:pPr>
            <a:r>
              <a:rPr lang="ru-RU" sz="2000" dirty="0">
                <a:solidFill>
                  <a:schemeClr val="accent5"/>
                </a:solidFill>
              </a:rPr>
              <a:t>ЛЕНТА ПРЕДУПРЕЖДЕНИЙ</a:t>
            </a:r>
          </a:p>
        </p:txBody>
      </p:sp>
      <p:sp>
        <p:nvSpPr>
          <p:cNvPr id="1933660009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05009" y="1567072"/>
            <a:ext cx="3928569" cy="4482614"/>
          </a:xfrm>
        </p:spPr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Каждый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элемент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b="1" dirty="0" err="1">
                <a:solidFill>
                  <a:schemeClr val="accent1"/>
                </a:solidFill>
              </a:rPr>
              <a:t>код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отклонения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серьёзность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временное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окно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статус</a:t>
            </a:r>
            <a:r>
              <a:rPr lang="en-US" dirty="0">
                <a:solidFill>
                  <a:schemeClr val="tx1"/>
                </a:solidFill>
              </a:rPr>
              <a:t>. </a:t>
            </a:r>
            <a:r>
              <a:rPr lang="en-US" dirty="0" err="1">
                <a:solidFill>
                  <a:schemeClr val="tx1"/>
                </a:solidFill>
              </a:rPr>
              <a:t>День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за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днём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видно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где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объект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шёл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чисто</a:t>
            </a:r>
            <a:r>
              <a:rPr lang="en-US" dirty="0">
                <a:solidFill>
                  <a:schemeClr val="tx1"/>
                </a:solidFill>
              </a:rPr>
              <a:t>, а </a:t>
            </a:r>
            <a:r>
              <a:rPr lang="en-US" dirty="0" err="1">
                <a:solidFill>
                  <a:schemeClr val="tx1"/>
                </a:solidFill>
              </a:rPr>
              <a:t>где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правила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не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сошлись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фактом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Фильтры</a:t>
            </a:r>
            <a:r>
              <a:rPr lang="en-US" b="1" dirty="0">
                <a:solidFill>
                  <a:schemeClr val="accent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открытые</a:t>
            </a:r>
            <a:r>
              <a:rPr lang="en-US" dirty="0">
                <a:solidFill>
                  <a:schemeClr val="tx1"/>
                </a:solidFill>
              </a:rPr>
              <a:t> / </a:t>
            </a:r>
            <a:r>
              <a:rPr lang="en-US" dirty="0" err="1">
                <a:solidFill>
                  <a:schemeClr val="tx1"/>
                </a:solidFill>
              </a:rPr>
              <a:t>закрытые</a:t>
            </a:r>
            <a:r>
              <a:rPr lang="en-US" dirty="0">
                <a:solidFill>
                  <a:schemeClr val="tx1"/>
                </a:solidFill>
              </a:rPr>
              <a:t> / </a:t>
            </a:r>
            <a:r>
              <a:rPr lang="en-US" dirty="0" err="1">
                <a:solidFill>
                  <a:schemeClr val="tx1"/>
                </a:solidFill>
              </a:rPr>
              <a:t>ложные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серьёзность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коды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период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оператор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смотрит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только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то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что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нужно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сейчас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Решение оператора (подтвердить / ложное) сохраняется и видно в отчёте; отклонение закрывается само, когда условие больше не выполняется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4" name="Picture Placeholder 2">
            <a:extLst>
              <a:ext uri="{FF2B5EF4-FFF2-40B4-BE49-F238E27FC236}">
                <a16:creationId xmlns:a16="http://schemas.microsoft.com/office/drawing/2014/main" id="{C9C2BACB-4AEE-17E3-6F43-BE305D6E60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032" r="14032"/>
          <a:stretch/>
        </p:blipFill>
        <p:spPr bwMode="auto">
          <a:xfrm>
            <a:off x="4832581" y="1029610"/>
            <a:ext cx="7077808" cy="4945526"/>
          </a:xfrm>
          <a:prstGeom prst="roundRect">
            <a:avLst>
              <a:gd name="adj" fmla="val 6127"/>
            </a:avLst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12294" name="Скругленный прямоугольник 2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00372309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13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20462955" name="Текст 3"/>
          <p:cNvSpPr>
            <a:spLocks noGrp="1"/>
          </p:cNvSpPr>
          <p:nvPr>
            <p:ph type="body" sz="quarter" idx="15"/>
          </p:nvPr>
        </p:nvSpPr>
        <p:spPr bwMode="auto">
          <a:xfrm>
            <a:off x="308684" y="1470269"/>
            <a:ext cx="3626835" cy="416040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Факт-старт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Система находит его сама: первая сессия, где на участке собран признак старта этапа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Прогноз и перенос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Прогноз — по темпу работы техники за последние дни; зависимые этапы сдвигаются по связям графика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«Этап выполнен»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Отметка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оператора</a:t>
            </a:r>
            <a:r>
              <a:rPr lang="en-US" sz="1450" dirty="0">
                <a:solidFill>
                  <a:schemeClr val="tx1"/>
                </a:solidFill>
              </a:rPr>
              <a:t>: </a:t>
            </a:r>
            <a:r>
              <a:rPr lang="en-US" sz="1450" dirty="0" err="1">
                <a:solidFill>
                  <a:schemeClr val="tx1"/>
                </a:solidFill>
              </a:rPr>
              <a:t>пересчёт</a:t>
            </a:r>
            <a:r>
              <a:rPr lang="en-US" sz="1450" dirty="0">
                <a:solidFill>
                  <a:schemeClr val="tx1"/>
                </a:solidFill>
              </a:rPr>
              <a:t> «</a:t>
            </a:r>
            <a:r>
              <a:rPr lang="en-US" sz="1450" dirty="0" err="1">
                <a:solidFill>
                  <a:schemeClr val="tx1"/>
                </a:solidFill>
              </a:rPr>
              <a:t>было</a:t>
            </a:r>
            <a:r>
              <a:rPr lang="en-US" sz="1450" dirty="0">
                <a:solidFill>
                  <a:schemeClr val="tx1"/>
                </a:solidFill>
              </a:rPr>
              <a:t> → </a:t>
            </a:r>
            <a:r>
              <a:rPr lang="en-US" sz="1450" dirty="0" err="1">
                <a:solidFill>
                  <a:schemeClr val="tx1"/>
                </a:solidFill>
              </a:rPr>
              <a:t>стало</a:t>
            </a:r>
            <a:r>
              <a:rPr lang="en-US" sz="1450" dirty="0">
                <a:solidFill>
                  <a:schemeClr val="tx1"/>
                </a:solidFill>
              </a:rPr>
              <a:t>»; </a:t>
            </a:r>
            <a:r>
              <a:rPr lang="en-US" sz="1450" dirty="0" err="1">
                <a:solidFill>
                  <a:schemeClr val="tx1"/>
                </a:solidFill>
              </a:rPr>
              <a:t>снятие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отметки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возвращает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всё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назад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Критический путь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Подсвечен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на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диаграмме</a:t>
            </a:r>
            <a:r>
              <a:rPr lang="en-US" sz="1450" dirty="0">
                <a:solidFill>
                  <a:schemeClr val="tx1"/>
                </a:solidFill>
              </a:rPr>
              <a:t>; </a:t>
            </a:r>
            <a:r>
              <a:rPr lang="en-US" sz="1450" dirty="0" err="1">
                <a:solidFill>
                  <a:schemeClr val="tx1"/>
                </a:solidFill>
              </a:rPr>
              <a:t>задержка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на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нём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сразу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видна</a:t>
            </a:r>
            <a:r>
              <a:rPr lang="en-US" sz="1450" dirty="0">
                <a:solidFill>
                  <a:schemeClr val="tx1"/>
                </a:solidFill>
              </a:rPr>
              <a:t> в </a:t>
            </a:r>
            <a:r>
              <a:rPr lang="en-US" sz="1450" dirty="0" err="1">
                <a:solidFill>
                  <a:schemeClr val="tx1"/>
                </a:solidFill>
              </a:rPr>
              <a:t>дате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окончания</a:t>
            </a:r>
            <a:endParaRPr lang="ru-RU" sz="1450" dirty="0">
              <a:solidFill>
                <a:schemeClr val="tx1"/>
              </a:solidFill>
            </a:endParaRPr>
          </a:p>
        </p:txBody>
      </p:sp>
      <p:sp>
        <p:nvSpPr>
          <p:cNvPr id="32020077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ГАНТ И ПРОГНОЗ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48367BB-FCDF-EA76-DFEC-E6F1EE34AC10}"/>
              </a:ext>
            </a:extLst>
          </p:cNvPr>
          <p:cNvGrpSpPr/>
          <p:nvPr/>
        </p:nvGrpSpPr>
        <p:grpSpPr>
          <a:xfrm>
            <a:off x="4099906" y="1025718"/>
            <a:ext cx="7757132" cy="4806563"/>
            <a:chOff x="2057437" y="1042144"/>
            <a:chExt cx="7757132" cy="4806563"/>
          </a:xfrm>
        </p:grpSpPr>
        <p:grpSp>
          <p:nvGrpSpPr>
            <p:cNvPr id="11" name="Group 83">
              <a:extLst>
                <a:ext uri="{FF2B5EF4-FFF2-40B4-BE49-F238E27FC236}">
                  <a16:creationId xmlns:a16="http://schemas.microsoft.com/office/drawing/2014/main" id="{759B3D19-6E33-F082-4925-90DD78CA1906}"/>
                </a:ext>
              </a:extLst>
            </p:cNvPr>
            <p:cNvGrpSpPr/>
            <p:nvPr/>
          </p:nvGrpSpPr>
          <p:grpSpPr bwMode="auto">
            <a:xfrm>
              <a:off x="2057437" y="1042144"/>
              <a:ext cx="7757132" cy="4806563"/>
              <a:chOff x="1027152" y="2693983"/>
              <a:chExt cx="6796849" cy="4462905"/>
            </a:xfrm>
          </p:grpSpPr>
          <p:sp>
            <p:nvSpPr>
              <p:cNvPr id="13" name="AutoShape 1">
                <a:extLst>
                  <a:ext uri="{FF2B5EF4-FFF2-40B4-BE49-F238E27FC236}">
                    <a16:creationId xmlns:a16="http://schemas.microsoft.com/office/drawing/2014/main" id="{B1C904A4-3ADE-FD0E-BF6A-A048866EFE1D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Rectangle 2">
                <a:extLst>
                  <a:ext uri="{FF2B5EF4-FFF2-40B4-BE49-F238E27FC236}">
                    <a16:creationId xmlns:a16="http://schemas.microsoft.com/office/drawing/2014/main" id="{8AF3DA00-4500-BC01-C2F7-B3DAD8C321C6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AutoShape 3">
                <a:extLst>
                  <a:ext uri="{FF2B5EF4-FFF2-40B4-BE49-F238E27FC236}">
                    <a16:creationId xmlns:a16="http://schemas.microsoft.com/office/drawing/2014/main" id="{16710499-6685-AB47-96AF-13330181B802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4">
                <a:extLst>
                  <a:ext uri="{FF2B5EF4-FFF2-40B4-BE49-F238E27FC236}">
                    <a16:creationId xmlns:a16="http://schemas.microsoft.com/office/drawing/2014/main" id="{56ACA19C-20B6-DF80-31F6-31079F669B55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5">
                <a:extLst>
                  <a:ext uri="{FF2B5EF4-FFF2-40B4-BE49-F238E27FC236}">
                    <a16:creationId xmlns:a16="http://schemas.microsoft.com/office/drawing/2014/main" id="{8E06B126-0983-8BCD-1758-C6C5D7F9CBDA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Oval 6">
                <a:extLst>
                  <a:ext uri="{FF2B5EF4-FFF2-40B4-BE49-F238E27FC236}">
                    <a16:creationId xmlns:a16="http://schemas.microsoft.com/office/drawing/2014/main" id="{FC095A73-1D5E-7494-DDED-871A2DBDF4DD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343320B1-E31F-FCDF-B5BE-077166A1CDAF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E8981878-C992-8B81-6E9A-6C74F0D49F5F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D49D5031-C424-1354-C698-A4DD2F6B9F6A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5979040-D996-0AA1-916F-E307D39AD425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2625A7E6-2F2D-7875-1E1B-7FF68EFFC9BF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D72A0A22-BD0E-0641-6424-C1B1743D3540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23E6344D-0DF6-50A9-CE04-1C825156AFE1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F55BDF03-CCD5-A7B3-2FD6-E9E9667F6132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AFD7E96-7F8C-062D-FD55-48D7B97DA0BE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65C5DE58-FF0A-F878-BB53-E004FA4A193A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AA354CD4-37DB-5B8E-0357-A6E05CB487F0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48A4ACC4-102A-A65C-F5D3-7626E9663761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40083BF-E96D-DA41-323B-24A4A4CBE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57437" y="1816301"/>
              <a:ext cx="7754636" cy="383079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183568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9524664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66709802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86554" name="Скругленный прямоугольник 1"/>
          <p:cNvSpPr/>
          <p:nvPr/>
        </p:nvSpPr>
        <p:spPr bwMode="auto">
          <a:xfrm>
            <a:off x="346074" y="324562"/>
            <a:ext cx="597708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171090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56749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28869434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30935763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27652" y="3547298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Высота 10–15 м (мачта или башенный кран), вид на всё пятно застройки. Положение не меняется: зоны размечаются один раз на эталонном кадре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21543870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89" y="3547297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Отдельные камеры на въезде и выезде.</a:t>
            </a: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Видят самосвалы и миксеры, которые на площадке недолго. Снимок раз в 20–30 минут, время — в EXIF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09396534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57248" y="354296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Видеть минимум двумя камерами.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На демо склад видит только камера D3: когда она закрыта, система ставит D10 «участок вне контроля». Пятно застройки видят две камеры — контроль не теряется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40055161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3133576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749588672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197120625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221184223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574393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РЕКОМЕНДАЦИИ ПО УСТАНОВКЕ КАМЕР</a:t>
            </a:r>
          </a:p>
        </p:txBody>
      </p:sp>
      <p:cxnSp>
        <p:nvCxnSpPr>
          <p:cNvPr id="1633715086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FE889A6-2C88-5A32-656F-113401E60107}"/>
              </a:ext>
            </a:extLst>
          </p:cNvPr>
          <p:cNvSpPr txBox="1"/>
          <p:nvPr/>
        </p:nvSpPr>
        <p:spPr>
          <a:xfrm>
            <a:off x="1139011" y="3052913"/>
            <a:ext cx="2458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 err="1">
                <a:solidFill>
                  <a:schemeClr val="tx1"/>
                </a:solidFill>
                <a:effectLst/>
                <a:latin typeface="+mn-lt"/>
              </a:rPr>
              <a:t>Обзорные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800" b="1" i="0" dirty="0" err="1">
                <a:solidFill>
                  <a:schemeClr val="tx1"/>
                </a:solidFill>
                <a:effectLst/>
                <a:latin typeface="+mn-lt"/>
              </a:rPr>
              <a:t>камеры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2779B-DA2A-2EE7-57B7-AC4B3F503E14}"/>
              </a:ext>
            </a:extLst>
          </p:cNvPr>
          <p:cNvSpPr txBox="1"/>
          <p:nvPr/>
        </p:nvSpPr>
        <p:spPr>
          <a:xfrm>
            <a:off x="5158575" y="3052913"/>
            <a:ext cx="19796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Въезд</a:t>
            </a:r>
            <a:r>
              <a:rPr lang="en-US" b="1" dirty="0"/>
              <a:t> и </a:t>
            </a:r>
            <a:r>
              <a:rPr lang="en-US" b="1" dirty="0" err="1"/>
              <a:t>выезд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D7FEFC-520C-69D9-473F-CFB4BBCCF03A}"/>
              </a:ext>
            </a:extLst>
          </p:cNvPr>
          <p:cNvSpPr txBox="1"/>
          <p:nvPr/>
        </p:nvSpPr>
        <p:spPr>
          <a:xfrm>
            <a:off x="8921745" y="3043449"/>
            <a:ext cx="25540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Критичный</a:t>
            </a:r>
            <a:r>
              <a:rPr lang="en-US" b="1" dirty="0"/>
              <a:t> </a:t>
            </a:r>
            <a:r>
              <a:rPr lang="en-US" b="1" dirty="0" err="1"/>
              <a:t>участок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4" y="324562"/>
            <a:ext cx="5192083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ru-RU" sz="3600" dirty="0">
                <a:solidFill>
                  <a:schemeClr val="tx1"/>
                </a:solidFill>
              </a:rPr>
              <a:t>Архитектура готова к горизонтальному росту и подключению к инфраструктуре заказчика без правок кода сервисов</a:t>
            </a: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Много объектов — уже сейчас: объекты, камеры и графики — строки в базе. Воркеры распознавания масштабируются копиями (--scale site-worker=N)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Гибрид: дообученный детектор + YOLOE + CLIP по вырезкам. Проверен офлайн: 112 найденных машин против 81 при том же числе ложных, 106 мс на снимок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sz="1600" dirty="0" err="1">
                <a:solidFill>
                  <a:schemeClr val="tx1"/>
                </a:solidFill>
              </a:rPr>
              <a:t>Методика: техника, которая работает стоя (кран, насос), вне размеченных участков — чтобы не было ложного простоя D4</a:t>
            </a:r>
            <a:endParaRPr lang="ru-RU" sz="1600" dirty="0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>
              <a:defRPr/>
            </a:pPr>
            <a:r>
              <a:rPr lang="en-US" sz="1300" dirty="0" err="1">
                <a:solidFill>
                  <a:schemeClr val="tx1"/>
                </a:solidFill>
              </a:rPr>
              <a:t>Не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только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стройплощадки</a:t>
            </a:r>
            <a:r>
              <a:rPr lang="en-US" sz="1300" dirty="0">
                <a:solidFill>
                  <a:schemeClr val="tx1"/>
                </a:solidFill>
              </a:rPr>
              <a:t>: </a:t>
            </a:r>
            <a:r>
              <a:rPr lang="en-US" sz="1300" dirty="0" err="1">
                <a:solidFill>
                  <a:schemeClr val="tx1"/>
                </a:solidFill>
              </a:rPr>
              <a:t>логистические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хабы</a:t>
            </a:r>
            <a:r>
              <a:rPr lang="en-US" sz="1300" dirty="0">
                <a:solidFill>
                  <a:schemeClr val="tx1"/>
                </a:solidFill>
              </a:rPr>
              <a:t>, </a:t>
            </a:r>
            <a:r>
              <a:rPr lang="en-US" sz="1300" dirty="0" err="1">
                <a:solidFill>
                  <a:schemeClr val="tx1"/>
                </a:solidFill>
              </a:rPr>
              <a:t>портовые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терминалы</a:t>
            </a:r>
            <a:r>
              <a:rPr lang="en-US" sz="1300" dirty="0">
                <a:solidFill>
                  <a:schemeClr val="tx1"/>
                </a:solidFill>
              </a:rPr>
              <a:t>, </a:t>
            </a:r>
            <a:r>
              <a:rPr lang="en-US" sz="1300" dirty="0" err="1">
                <a:solidFill>
                  <a:schemeClr val="tx1"/>
                </a:solidFill>
              </a:rPr>
              <a:t>карьеры</a:t>
            </a:r>
            <a:r>
              <a:rPr lang="en-US" sz="1300" dirty="0">
                <a:solidFill>
                  <a:schemeClr val="tx1"/>
                </a:solidFill>
              </a:rPr>
              <a:t>. </a:t>
            </a:r>
            <a:r>
              <a:rPr lang="en-US" sz="1300" dirty="0" err="1">
                <a:solidFill>
                  <a:schemeClr val="tx1"/>
                </a:solidFill>
              </a:rPr>
              <a:t>Та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же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методика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сессий</a:t>
            </a:r>
            <a:r>
              <a:rPr lang="en-US" sz="1300" dirty="0">
                <a:solidFill>
                  <a:schemeClr val="tx1"/>
                </a:solidFill>
              </a:rPr>
              <a:t> и </a:t>
            </a:r>
            <a:r>
              <a:rPr lang="en-US" sz="1300" dirty="0" err="1">
                <a:solidFill>
                  <a:schemeClr val="tx1"/>
                </a:solidFill>
              </a:rPr>
              <a:t>отклонений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Разметка кадров своей площадки заказчика: на Лиме такое дообучение подняло mAP50 с 0,07 до 0,81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МАСШТАБИРОВАНИЕ И РАЗВИТИЕ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accent5"/>
                </a:solidFill>
              </a:rPr>
              <a:t>КАЧЕСТВО РАСПОЗНАВАНИЯ И СКОРОСТЬ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2" y="1695025"/>
            <a:ext cx="6903795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mAP50 0,81 на тесте Лимы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Против 0,07 у zero-shot. 264 отложенных кадра, 4 945 рамок: самосвал, погрузчик, миксер, насос, кран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Чужие объекты — честно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100 снимков организаторов, 600 машин: при рабочем пороге 83 верно и 18 ложных. Zero-shot — 59 верно и 521 ложная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29 мс на снимок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Медиана на RTX 3060 Laptop, p90 — 58 мс. Требование ТЗ — до 100 мс. Без GPU — около 1 с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Снимок → анализ за ~1 с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После распознавания факт окна пересчитывается сразу. Стек поднимается одной командой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2" y="5123063"/>
            <a:ext cx="6080835" cy="712587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Что не измерено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Ночь, зима, стадия по фото. Узкое место — назвать машину, а не найти её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7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</TotalTime>
  <Words>1312</Words>
  <Application>Microsoft Office PowerPoint</Application>
  <PresentationFormat>Widescreen</PresentationFormat>
  <Paragraphs>169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Lato Light</vt:lpstr>
      <vt:lpstr>Montserrat</vt:lpstr>
      <vt:lpstr>Wingdings</vt:lpstr>
      <vt:lpstr>Для Академия инноваторов 16_9</vt:lpstr>
      <vt:lpstr>КВОРУМ</vt:lpstr>
      <vt:lpstr>КОМАНДА «КВОРУМ»</vt:lpstr>
      <vt:lpstr>КОМАНДА «КВОРУМ»</vt:lpstr>
      <vt:lpstr>КОМАНДА «КВОРУМ»</vt:lpstr>
      <vt:lpstr>КОРОТКО О РЕШЕНИИ</vt:lpstr>
      <vt:lpstr>АРХИТЕКТУРА РЕШЕНИЯ</vt:lpstr>
      <vt:lpstr>ОБОСНОВАНИЕ ВЫБОРА ТЕХНОЛОГИЙ</vt:lpstr>
      <vt:lpstr>СВЯЗЬ СНИМКОВ С ГРАФИКОМ</vt:lpstr>
      <vt:lpstr>СТРУКТУРА ПРОТОТИПА</vt:lpstr>
      <vt:lpstr>ПРОТОТИП</vt:lpstr>
      <vt:lpstr>ЭТАП → ТЕХНИКА</vt:lpstr>
      <vt:lpstr>ЛЕНТА ПРЕДУПРЕЖДЕНИЙ</vt:lpstr>
      <vt:lpstr>ГАНТ И ПРОГНОЗ</vt:lpstr>
      <vt:lpstr>РЕКОМЕНДАЦИИ ПО УСТАНОВКЕ КАМЕР</vt:lpstr>
      <vt:lpstr>МАСШТАБИРОВАНИЕ И РАЗВИТИЕ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Infuy</cp:lastModifiedBy>
  <cp:revision>98</cp:revision>
  <dcterms:created xsi:type="dcterms:W3CDTF">2023-05-15T07:36:23Z</dcterms:created>
  <dcterms:modified xsi:type="dcterms:W3CDTF">2026-09-29T19:30:32Z</dcterms:modified>
</cp:coreProperties>
</file>
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62" r:id="rId2"/>
    <p:sldId id="263" r:id="rId3"/>
    <p:sldId id="264" r:id="rId4"/>
    <p:sldId id="265" r:id="rId5"/>
    <p:sldId id="266" r:id="rId6"/>
    <p:sldId id="267" r:id="rId7"/>
    <p:sldId id="270" r:id="rId8"/>
    <p:sldId id="280" r:id="rId9"/>
    <p:sldId id="283" r:id="rId10"/>
    <p:sldId id="296" r:id="rId23"/>
    <p:sldId id="297" r:id="rId24"/>
    <p:sldId id="298" r:id="rId25"/>
    <p:sldId id="299" r:id="rId26"/>
    <p:sldId id="294" r:id="rId12"/>
    <p:sldId id="269" r:id="rId13"/>
    <p:sldId id="281" r:id="rId14"/>
    <p:sldId id="295" r:id="rId22"/>
    <p:sldId id="279" r:id="rId15"/>
    <p:sldId id="275" r:id="rId16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597">
          <p15:clr>
            <a:srgbClr val="A4A3A4"/>
          </p15:clr>
        </p15:guide>
        <p15:guide id="2" pos="3591">
          <p15:clr>
            <a:srgbClr val="A4A3A4"/>
          </p15:clr>
        </p15:guide>
        <p15:guide id="3" pos="5496">
          <p15:clr>
            <a:srgbClr val="A4A3A4"/>
          </p15:clr>
        </p15:guide>
        <p15:guide id="4" pos="4112">
          <p15:clr>
            <a:srgbClr val="A4A3A4"/>
          </p15:clr>
        </p15:guide>
        <p15:guide id="5" pos="393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 showGuides="1">
      <p:cViewPr varScale="1">
        <p:scale>
          <a:sx n="111" d="100"/>
          <a:sy n="111" d="100"/>
        </p:scale>
        <p:origin x="558" y="96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8.xml"/><Relationship Id="rId16" Type="http://schemas.openxmlformats.org/officeDocument/2006/relationships/slide" Target="slides/slide19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7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1812951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76178070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29.09.2026</a:t>
            </a:fld>
            <a:endParaRPr lang="ru-RU"/>
          </a:p>
        </p:txBody>
      </p:sp>
      <p:sp>
        <p:nvSpPr>
          <p:cNvPr id="1008376219" name="Образ слайда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657332147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161909993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32077215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4A0333-DA6B-BAA6-F9EA-5D8AC4D62B17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29B8682-549C-E1BB-F508-D1525C1FC77B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1444576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3266101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0362608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3</a:t>
            </a:fld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8542127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5156749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5942801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4</a:t>
            </a:fld>
            <a:endParaRPr lang="ru-RU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299260-C65D-4A5C-3C37-B22449FEC14D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67B9-54C4-EB22-8C9E-0FC5BA1455A2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10654A-DB5D-4FA2-BFBA-DA32D08A6797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66C42D-DEF1-692D-EB23-56912B18EA73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B517D75-5C25-5334-B8EA-D5B29D84D7EA}" type="slidenum">
              <a:rPr/>
              <a:t>9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ECBCB3-A5B2-A499-0B59-C14AA7E2E84A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094A65-4A95-5C32-0584-82265EE9CA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0D2290-2F05-50C4-D552-6C25AE48DCE0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8B3B07-7196-F996-3707-594AEB2742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8268F6-FB98-9775-D61D-DAEA8E938702}" type="slidenum">
              <a:rPr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631730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5440481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576689137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25732498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12</a:t>
            </a:fld>
            <a:endParaRPr lang="ru-RU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8268F6-FB98-9775-D61D-DAEA8E938702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0EF839-8C2F-1635-BA9E-18E16C384912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C2024A-A9FC-D896-80FF-52C5C7D0B8F6}" type="slidenum">
              <a:rPr/>
              <a:t>15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Титульный слайд"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368288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88029575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401620835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602869623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076004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1666356196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522378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29.09.2026</a:t>
            </a:fld>
            <a:endParaRPr lang="ru-RU"/>
          </a:p>
        </p:txBody>
      </p:sp>
      <p:sp>
        <p:nvSpPr>
          <p:cNvPr id="104878655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9380906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92736678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1795973529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  <a:p>
            <a:pPr lvl="0">
              <a:defRPr/>
            </a:pPr>
            <a:r>
              <a:rPr lang="en-US"/>
              <a:t/>
            </a:r>
            <a:endParaRPr/>
          </a:p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913937985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  <a:p>
            <a:pPr lvl="0">
              <a:defRPr/>
            </a:pPr>
            <a:r>
              <a:rPr lang="en-US"/>
              <a:t/>
            </a:r>
            <a:endParaRPr/>
          </a:p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1548332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  <a:p>
            <a:pPr lvl="0">
              <a:defRPr/>
            </a:pPr>
            <a:r>
              <a:rPr lang="en-US"/>
              <a:t/>
            </a:r>
            <a:endParaRPr/>
          </a:p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200006364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  <a:p>
            <a:pPr lvl="0">
              <a:defRPr/>
            </a:pPr>
            <a:r>
              <a:rPr lang="en-US"/>
              <a:t/>
            </a:r>
            <a:endParaRPr/>
          </a:p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660029963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  <a:p>
            <a:pPr lvl="0">
              <a:defRPr/>
            </a:pPr>
            <a:r>
              <a:rPr lang="en-US"/>
              <a:t/>
            </a:r>
            <a:endParaRPr/>
          </a:p>
          <a:p>
            <a:pPr lvl="0"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5602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29.09.2026</a:t>
            </a:fld>
            <a:endParaRPr lang="ru-RU"/>
          </a:p>
        </p:txBody>
      </p:sp>
      <p:sp>
        <p:nvSpPr>
          <p:cNvPr id="11232564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0745183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1669326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71237116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29.09.2026</a:t>
            </a:fld>
            <a:endParaRPr lang="ru-RU"/>
          </a:p>
        </p:txBody>
      </p:sp>
      <p:sp>
        <p:nvSpPr>
          <p:cNvPr id="185866539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1058281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454463469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8536032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104292606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188977096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29.09.2026</a:t>
            </a:fld>
            <a:endParaRPr lang="ru-RU"/>
          </a:p>
        </p:txBody>
      </p:sp>
      <p:sp>
        <p:nvSpPr>
          <p:cNvPr id="1213391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777490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91928755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8555898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2017223496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</a:p>
        </p:txBody>
      </p:sp>
      <p:sp>
        <p:nvSpPr>
          <p:cNvPr id="73163667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791712141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17280543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29.09.2026</a:t>
            </a:fld>
            <a:endParaRPr lang="ru-RU"/>
          </a:p>
        </p:txBody>
      </p:sp>
      <p:sp>
        <p:nvSpPr>
          <p:cNvPr id="657734324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41445009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91046477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812139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29.09.2026</a:t>
            </a:fld>
            <a:endParaRPr lang="ru-RU"/>
          </a:p>
        </p:txBody>
      </p:sp>
      <p:sp>
        <p:nvSpPr>
          <p:cNvPr id="14842797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861867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185011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975281028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896366570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376611987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29.09.2026</a:t>
            </a:fld>
            <a:endParaRPr lang="ru-RU"/>
          </a:p>
        </p:txBody>
      </p:sp>
      <p:sp>
        <p:nvSpPr>
          <p:cNvPr id="155615248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1458955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801652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29.09.2026</a:t>
            </a:fld>
            <a:endParaRPr lang="ru-RU"/>
          </a:p>
        </p:txBody>
      </p:sp>
      <p:sp>
        <p:nvSpPr>
          <p:cNvPr id="2075348248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19872225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196834576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127087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29.09.2026</a:t>
            </a:fld>
            <a:endParaRPr lang="ru-RU"/>
          </a:p>
        </p:txBody>
      </p:sp>
      <p:sp>
        <p:nvSpPr>
          <p:cNvPr id="19504199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00584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792380901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874422937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/>
            </a:r>
            <a:endParaRPr/>
          </a:p>
        </p:txBody>
      </p:sp>
      <p:sp>
        <p:nvSpPr>
          <p:cNvPr id="1694822356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269095115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/>
            </a:r>
            <a:endParaRPr/>
          </a:p>
        </p:txBody>
      </p:sp>
      <p:sp>
        <p:nvSpPr>
          <p:cNvPr id="1682530970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926454970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/>
            </a:r>
            <a:endParaRPr/>
          </a:p>
        </p:txBody>
      </p:sp>
      <p:sp>
        <p:nvSpPr>
          <p:cNvPr id="1069797757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635738940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/>
            </a:r>
            <a:endParaRPr/>
          </a:p>
        </p:txBody>
      </p:sp>
      <p:sp>
        <p:nvSpPr>
          <p:cNvPr id="476364177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458554842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/>
            </a:r>
            <a:endParaRPr/>
          </a:p>
        </p:txBody>
      </p:sp>
      <p:sp>
        <p:nvSpPr>
          <p:cNvPr id="1682611309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680188690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/>
            </a:r>
            <a:endParaRPr/>
          </a:p>
        </p:txBody>
      </p:sp>
      <p:sp>
        <p:nvSpPr>
          <p:cNvPr id="19577271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689925399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25697210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208148889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684210003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2519466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969617493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40847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29.09.2026</a:t>
            </a:fld>
            <a:endParaRPr lang="ru-RU"/>
          </a:p>
        </p:txBody>
      </p:sp>
      <p:sp>
        <p:nvSpPr>
          <p:cNvPr id="208819332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757589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177865552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839753479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67254588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01935067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20516688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25329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29.09.2026</a:t>
            </a:fld>
            <a:endParaRPr lang="ru-RU"/>
          </a:p>
        </p:txBody>
      </p:sp>
      <p:sp>
        <p:nvSpPr>
          <p:cNvPr id="149572482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8407401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2103893195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808292524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2031151279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99899808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741709136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239403092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25408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29.09.2026</a:t>
            </a:fld>
            <a:endParaRPr lang="ru-RU"/>
          </a:p>
        </p:txBody>
      </p:sp>
      <p:sp>
        <p:nvSpPr>
          <p:cNvPr id="15107933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229932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337256866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1868929240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9388821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018155805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263972428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56472058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72275498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858109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29.09.2026</a:t>
            </a:fld>
            <a:endParaRPr lang="ru-RU"/>
          </a:p>
        </p:txBody>
      </p:sp>
      <p:sp>
        <p:nvSpPr>
          <p:cNvPr id="45079419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0081529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59732652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169114585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41476688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73066030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399164481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16024821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41652764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969505246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46930435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66692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29.09.2026</a:t>
            </a:fld>
            <a:endParaRPr lang="ru-RU"/>
          </a:p>
        </p:txBody>
      </p:sp>
      <p:sp>
        <p:nvSpPr>
          <p:cNvPr id="3437555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715226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45142924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1632442884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491519423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201879207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982414852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654076117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56283262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20619203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154626048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84985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29.09.2026</a:t>
            </a:fld>
            <a:endParaRPr lang="ru-RU"/>
          </a:p>
        </p:txBody>
      </p:sp>
      <p:sp>
        <p:nvSpPr>
          <p:cNvPr id="144845255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3310992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12492746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41322562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376240833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876004260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977609924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99710853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949188184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268968598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595903953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410288170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74155163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957983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29.09.2026</a:t>
            </a:fld>
            <a:endParaRPr lang="ru-RU"/>
          </a:p>
        </p:txBody>
      </p:sp>
      <p:sp>
        <p:nvSpPr>
          <p:cNvPr id="167580533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143372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560885061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1122197277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16118850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428729295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856443119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922520453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034779806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508616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8964899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29.09.2026</a:t>
            </a:fld>
            <a:endParaRPr lang="ru-RU"/>
          </a:p>
        </p:txBody>
      </p:sp>
      <p:sp>
        <p:nvSpPr>
          <p:cNvPr id="37812774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3889069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34715051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2021024583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320280167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604478788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1235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29.09.2026</a:t>
            </a:fld>
            <a:endParaRPr lang="ru-RU"/>
          </a:p>
        </p:txBody>
      </p:sp>
      <p:sp>
        <p:nvSpPr>
          <p:cNvPr id="11471699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3036871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59102376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93639810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19972244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52558450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823724485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5624748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90666637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66197673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69067376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07894898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65861159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445328777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00255233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2008796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cxnSp>
        <p:nvCxnSpPr>
          <p:cNvPr id="589614520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1545724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625227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67509977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161946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318129555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29.09.2026</a:t>
            </a:fld>
            <a:endParaRPr lang="ru-RU"/>
          </a:p>
        </p:txBody>
      </p:sp>
      <p:sp>
        <p:nvSpPr>
          <p:cNvPr id="2139654067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87854632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4939360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580386608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99003789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68171859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93250523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29.09.2026</a:t>
            </a:fld>
            <a:endParaRPr lang="ru-RU"/>
          </a:p>
        </p:txBody>
      </p:sp>
      <p:sp>
        <p:nvSpPr>
          <p:cNvPr id="79260098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5050469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64420842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1656314850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554257058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1990252769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2026721607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5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7097445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1903902632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131779235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29.09.2026</a:t>
            </a:fld>
            <a:endParaRPr lang="ru-RU"/>
          </a:p>
        </p:txBody>
      </p:sp>
      <p:sp>
        <p:nvSpPr>
          <p:cNvPr id="192607067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8248768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hdr="0" ftr="0" dt="0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19991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rPr lang="ru-RU" sz="4800" dirty="0"/>
              <a:t>КВОРУМ</a:t>
            </a:r>
          </a:p>
        </p:txBody>
      </p:sp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E31E2F71-AB2B-7A09-F5CC-7574560B988C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t="1450" b="1450"/>
          <a:stretch/>
        </p:blipFill>
        <p:spPr bwMode="auto">
          <a:xfrm>
            <a:off x="304800" y="330200"/>
            <a:ext cx="5194300" cy="1082675"/>
          </a:xfrm>
          <a:prstGeom prst="rect">
            <a:avLst/>
          </a:prstGeom>
        </p:spPr>
      </p:pic>
      <p:sp>
        <p:nvSpPr>
          <p:cNvPr id="757351073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/>
          <a:lstStyle/>
          <a:p>
            <a:pPr indent="268288">
              <a:defRPr/>
            </a:pPr>
            <a:r>
              <a:rPr lang="ru-RU" dirty="0"/>
              <a:t>№ 7. </a:t>
            </a:r>
            <a:r>
              <a:rPr lang="en-US" dirty="0" err="1"/>
              <a:t>Интеллектуальная</a:t>
            </a:r>
            <a:r>
              <a:rPr lang="en-US" dirty="0"/>
              <a:t> </a:t>
            </a:r>
            <a:r>
              <a:rPr lang="en-US" dirty="0" err="1"/>
              <a:t>система</a:t>
            </a:r>
            <a:r>
              <a:rPr lang="en-US" dirty="0"/>
              <a:t> </a:t>
            </a:r>
            <a:r>
              <a:rPr lang="en-US" dirty="0" err="1"/>
              <a:t>мониторинга</a:t>
            </a:r>
            <a:r>
              <a:rPr lang="en-US" dirty="0"/>
              <a:t> </a:t>
            </a:r>
            <a:r>
              <a:rPr lang="en-US" dirty="0" err="1"/>
              <a:t>строительной</a:t>
            </a:r>
            <a:r>
              <a:rPr lang="en-US" dirty="0"/>
              <a:t> </a:t>
            </a:r>
            <a:r>
              <a:rPr lang="en-US" dirty="0" err="1"/>
              <a:t>площадки</a:t>
            </a:r>
            <a:endParaRPr lang="ru-RU" dirty="0"/>
          </a:p>
        </p:txBody>
      </p:sp>
      <p:sp>
        <p:nvSpPr>
          <p:cNvPr id="1091804844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098921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1609484257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lstStyle/>
          <a:p>
            <a:endParaRPr lang="en-US"/>
          </a:p>
        </p:txBody>
      </p:sp>
      <p:sp>
        <p:nvSpPr>
          <p:cNvPr id="1143600250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441518184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en-US" sz="1300" dirty="0" err="1">
                <a:solidFill>
                  <a:schemeClr val="tx1"/>
                </a:solidFill>
              </a:rPr>
              <a:t>Каждое отклонение несёт числа (facts) и снимок с рамками (evidence). Правила — это данные, а не код: новый класс техники — одна запись в YAML, новое правило этапа — правка в интерфейсе с пересчётом.</a:t>
            </a:r>
            <a:endParaRPr sz="1300" dirty="0">
              <a:solidFill>
                <a:schemeClr val="tx1"/>
              </a:solidFill>
            </a:endParaRPr>
          </a:p>
        </p:txBody>
      </p:sp>
      <p:sp>
        <p:nvSpPr>
          <p:cNvPr id="661119785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Петрин Денис Иванович, студент ФИИ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3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ru-RU" i="1" dirty="0">
                <a:solidFill>
                  <a:schemeClr val="tx1"/>
                </a:solidFill>
              </a:rPr>
              <a:t>Студенты ФИИ МГУ и МФТИ: компьютерное зрение, бэкенд, продукт и дизайн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ru-RU" i="1" dirty="0">
                <a:solidFill>
                  <a:schemeClr val="tx1"/>
                </a:solidFill>
              </a:rPr>
              <a:t>Факультет искусственного интеллекта МГУ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ru-RU" i="1" dirty="0">
                <a:solidFill>
                  <a:schemeClr val="tx1"/>
                </a:solidFill>
              </a:rPr>
              <a:t>МФТИ ФПМИ </a:t>
            </a:r>
            <a:r>
              <a:rPr lang="en-US" i="1" dirty="0">
                <a:solidFill>
                  <a:schemeClr val="tx1"/>
                </a:solidFill>
              </a:rPr>
              <a:t>AI360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Город и регион: </a:t>
            </a:r>
            <a:r>
              <a:rPr lang="ru-RU" dirty="0">
                <a:solidFill>
                  <a:schemeClr val="tx1"/>
                </a:solidFill>
              </a:rPr>
              <a:t>г. Москва</a:t>
            </a:r>
            <a:endParaRPr dirty="0"/>
          </a:p>
        </p:txBody>
      </p:sp>
      <p:sp>
        <p:nvSpPr>
          <p:cNvPr id="648121520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328740113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r>
              <a:rPr lang="ru-RU" sz="2400" dirty="0">
                <a:solidFill>
                  <a:schemeClr val="accent5"/>
                </a:solidFill>
                <a:latin typeface="Montserrat"/>
              </a:rPr>
              <a:t>КОМАНДА «КВОРУМ»</a:t>
            </a:r>
          </a:p>
        </p:txBody>
      </p:sp>
      <p:cxnSp>
        <p:nvCxnSpPr>
          <p:cNvPr id="147895407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16552124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31184900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03619342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075761414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en-US" dirty="0" err="1">
                <a:solidFill>
                  <a:schemeClr val="tx1"/>
                </a:solidFill>
              </a:rPr>
              <a:t>Система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анализирует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снимки</a:t>
            </a:r>
            <a:r>
              <a:rPr lang="en-US" dirty="0">
                <a:solidFill>
                  <a:schemeClr val="tx1"/>
                </a:solidFill>
              </a:rPr>
              <a:t> с </a:t>
            </a:r>
            <a:r>
              <a:rPr lang="en-US" dirty="0" err="1">
                <a:solidFill>
                  <a:schemeClr val="tx1"/>
                </a:solidFill>
              </a:rPr>
              <a:t>камер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стройплощадки</a:t>
            </a:r>
            <a:r>
              <a:rPr lang="en-US" dirty="0">
                <a:solidFill>
                  <a:schemeClr val="tx1"/>
                </a:solidFill>
              </a:rPr>
              <a:t> и </a:t>
            </a:r>
            <a:r>
              <a:rPr lang="en-US" dirty="0" err="1">
                <a:solidFill>
                  <a:schemeClr val="tx1"/>
                </a:solidFill>
              </a:rPr>
              <a:t>автоматически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сопоставляет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факт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работ</a:t>
            </a:r>
            <a:r>
              <a:rPr lang="en-US" dirty="0">
                <a:solidFill>
                  <a:schemeClr val="tx1"/>
                </a:solidFill>
              </a:rPr>
              <a:t> с </a:t>
            </a:r>
            <a:r>
              <a:rPr lang="en-US" dirty="0" err="1">
                <a:solidFill>
                  <a:schemeClr val="tx1"/>
                </a:solidFill>
              </a:rPr>
              <a:t>календарным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графиком</a:t>
            </a:r>
            <a:r>
              <a:rPr lang="en-US" dirty="0">
                <a:solidFill>
                  <a:schemeClr val="tx1"/>
                </a:solidFill>
              </a:rPr>
              <a:t>: </a:t>
            </a:r>
            <a:r>
              <a:rPr lang="en-US" dirty="0" err="1">
                <a:solidFill>
                  <a:schemeClr val="tx1"/>
                </a:solidFill>
              </a:rPr>
              <a:t>распознаёт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технику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определяет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участок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привязывает</a:t>
            </a:r>
            <a:r>
              <a:rPr lang="en-US" dirty="0">
                <a:solidFill>
                  <a:schemeClr val="tx1"/>
                </a:solidFill>
              </a:rPr>
              <a:t> к </a:t>
            </a:r>
            <a:r>
              <a:rPr lang="en-US" dirty="0" err="1">
                <a:solidFill>
                  <a:schemeClr val="tx1"/>
                </a:solidFill>
              </a:rPr>
              <a:t>этапу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находит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отклонения</a:t>
            </a:r>
            <a:r>
              <a:rPr lang="en-US" dirty="0">
                <a:solidFill>
                  <a:schemeClr val="tx1"/>
                </a:solidFill>
              </a:rPr>
              <a:t> и </a:t>
            </a:r>
            <a:r>
              <a:rPr lang="en-US" dirty="0" err="1">
                <a:solidFill>
                  <a:schemeClr val="tx1"/>
                </a:solidFill>
              </a:rPr>
              <a:t>пересчитывает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прогноз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сроков</a:t>
            </a:r>
            <a:r>
              <a:rPr lang="en-US" dirty="0">
                <a:solidFill>
                  <a:schemeClr val="tx1"/>
                </a:solidFill>
              </a:rPr>
              <a:t>.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2108767591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2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774514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767261468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Капитан</a:t>
            </a:r>
            <a:endParaRPr dirty="0"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en-US" sz="1200" dirty="0">
                <a:solidFill>
                  <a:schemeClr val="tx1"/>
                </a:solidFill>
              </a:rPr>
              <a:t>@denbug</a:t>
            </a:r>
            <a:endParaRPr dirty="0"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en-US" sz="1200" dirty="0">
                <a:solidFill>
                  <a:schemeClr val="tx1"/>
                </a:solidFill>
              </a:rPr>
              <a:t>+7 901 745 3592</a:t>
            </a:r>
            <a:endParaRPr sz="1200" dirty="0">
              <a:solidFill>
                <a:schemeClr val="tx1"/>
              </a:solidFill>
            </a:endParaRPr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ФИИ МГУ</a:t>
            </a:r>
          </a:p>
        </p:txBody>
      </p:sp>
      <p:sp>
        <p:nvSpPr>
          <p:cNvPr id="789313918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 dirty="0">
                <a:solidFill>
                  <a:schemeClr val="accent5"/>
                </a:solidFill>
              </a:rPr>
              <a:t>Денис Петрин</a:t>
            </a:r>
            <a:endParaRPr dirty="0"/>
          </a:p>
        </p:txBody>
      </p:sp>
      <p:sp>
        <p:nvSpPr>
          <p:cNvPr id="2086725175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06280066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Маркетинг и дизайн</a:t>
            </a:r>
            <a:endParaRPr dirty="0"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en-US" sz="1200" dirty="0">
                <a:solidFill>
                  <a:schemeClr val="tx1"/>
                </a:solidFill>
              </a:rPr>
              <a:t>@infuy</a:t>
            </a:r>
            <a:endParaRPr dirty="0"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en-US" sz="1200" dirty="0">
                <a:solidFill>
                  <a:schemeClr val="tx1"/>
                </a:solidFill>
              </a:rPr>
              <a:t>+7 983 324 5207</a:t>
            </a:r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ФИИ МГУ</a:t>
            </a:r>
          </a:p>
        </p:txBody>
      </p:sp>
      <p:sp>
        <p:nvSpPr>
          <p:cNvPr id="1456275104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 dirty="0">
                <a:solidFill>
                  <a:schemeClr val="accent5"/>
                </a:solidFill>
              </a:rPr>
              <a:t>Александр Горбунов</a:t>
            </a:r>
            <a:endParaRPr dirty="0"/>
          </a:p>
        </p:txBody>
      </p:sp>
      <p:sp>
        <p:nvSpPr>
          <p:cNvPr id="48154554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662366709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93695819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3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172799835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lstStyle/>
          <a:p>
            <a:endParaRPr lang="en-US"/>
          </a:p>
        </p:txBody>
      </p:sp>
      <p:sp>
        <p:nvSpPr>
          <p:cNvPr id="368022300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lstStyle/>
          <a:p>
            <a:endParaRPr lang="en-US"/>
          </a:p>
        </p:txBody>
      </p:sp>
      <p:sp>
        <p:nvSpPr>
          <p:cNvPr id="1344225912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lstStyle/>
          <a:p>
            <a:endParaRPr lang="en-US"/>
          </a:p>
        </p:txBody>
      </p:sp>
      <p:sp>
        <p:nvSpPr>
          <p:cNvPr id="415042907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 dirty="0">
                <a:latin typeface="Montserrat"/>
              </a:rPr>
              <a:t>КОМАНДА «КВОРУМ»</a:t>
            </a:r>
          </a:p>
        </p:txBody>
      </p:sp>
      <p:sp>
        <p:nvSpPr>
          <p:cNvPr id="105846267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Разработка и </a:t>
            </a:r>
            <a:r>
              <a:rPr lang="en-US" sz="1200" dirty="0">
                <a:solidFill>
                  <a:schemeClr val="tx1"/>
                </a:solidFill>
              </a:rPr>
              <a:t>DevOps</a:t>
            </a:r>
            <a:endParaRPr dirty="0"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en-US" sz="1200" dirty="0">
                <a:solidFill>
                  <a:schemeClr val="tx1"/>
                </a:solidFill>
              </a:rPr>
              <a:t>@cerXXXX</a:t>
            </a:r>
            <a:endParaRPr dirty="0"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en-US" sz="1200" dirty="0">
                <a:solidFill>
                  <a:schemeClr val="tx1"/>
                </a:solidFill>
              </a:rPr>
              <a:t>+7 903 975 4526</a:t>
            </a:r>
            <a:endParaRPr sz="1200" dirty="0">
              <a:solidFill>
                <a:schemeClr val="tx1"/>
              </a:solidFill>
            </a:endParaRPr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МФТИ ФПМИ </a:t>
            </a:r>
            <a:r>
              <a:rPr lang="en-US" sz="1200" dirty="0">
                <a:solidFill>
                  <a:schemeClr val="tx1"/>
                </a:solidFill>
              </a:rPr>
              <a:t>AI360</a:t>
            </a:r>
            <a:endParaRPr dirty="0"/>
          </a:p>
        </p:txBody>
      </p:sp>
      <p:sp>
        <p:nvSpPr>
          <p:cNvPr id="12787506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 dirty="0">
                <a:solidFill>
                  <a:schemeClr val="accent5"/>
                </a:solidFill>
              </a:rPr>
              <a:t>Иван Поляков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463204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40408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4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86529765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 dirty="0">
                <a:latin typeface="Montserrat"/>
              </a:rPr>
              <a:t>КОМАНДА «КВОРУМ»</a:t>
            </a:r>
          </a:p>
        </p:txBody>
      </p:sp>
      <p:sp>
        <p:nvSpPr>
          <p:cNvPr id="158889012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 dirty="0" sz="1400">
                <a:solidFill>
                  <a:schemeClr val="tx1"/>
                </a:solidFill>
              </a:rPr>
              <a:t>Собрались под ЛЦТ-2026: двое — первокурсники ФИИ МГУ, один — МФТИ ФПМИ AI360. Работали как продуктовая команда: ТЗ → методика → архитектурные решения (ADR) → код с тестами → репетиция запуска на чистой машине.</a:t>
            </a:r>
            <a:endParaRPr dirty="0"/>
          </a:p>
        </p:txBody>
      </p:sp>
      <p:sp>
        <p:nvSpPr>
          <p:cNvPr id="493921390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  <a:endParaRPr dirty="0"/>
          </a:p>
        </p:txBody>
      </p:sp>
      <p:sp>
        <p:nvSpPr>
          <p:cNvPr id="243118211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en-US" dirty="0">
                <a:solidFill>
                  <a:schemeClr val="tx1"/>
                </a:solidFill>
              </a:rPr>
              <a:t>1) Техника есть, но не та или не там — у каждого отклонения D1–D10 порог в данных, числа и снимок.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2) Zero-shot почти не видит технику (mAP50 0,07) — дообучили до 0,81 и показываем обе цифры.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3) Запуск на чужой машине — образы, веса и демо-кадры скачиваются одной командой.</a:t>
            </a:r>
            <a:br>
              <a:rPr lang="en-US" dirty="0">
                <a:solidFill>
                  <a:schemeClr val="tx1"/>
                </a:solidFill>
              </a:rPr>
            </a:br>
            <a:br>
              <a:rPr lang="en-US" dirty="0">
                <a:solidFill>
                  <a:schemeClr val="tx1"/>
                </a:solidFill>
              </a:rPr>
            </a:br>
            <a:endParaRPr dirty="0">
              <a:solidFill>
                <a:schemeClr val="tx1"/>
              </a:solidFill>
            </a:endParaRPr>
          </a:p>
        </p:txBody>
      </p:sp>
      <p:sp>
        <p:nvSpPr>
          <p:cNvPr id="765507967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1574440249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en-US" dirty="0" err="1">
                <a:solidFill>
                  <a:schemeClr val="tx1"/>
                </a:solidFill>
              </a:rPr>
              <a:t>Превратить видеонаблюдение в помощника прораба: система сама говорит «вот отклонение, вот доказательство, вот прогноз».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790469585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  <a:endParaRPr dirty="0"/>
          </a:p>
        </p:txBody>
      </p:sp>
      <p:cxnSp>
        <p:nvCxnSpPr>
          <p:cNvPr id="1125078722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01438399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54362844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72459714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977750831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433482465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4634285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2449051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93046190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7018758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5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7821818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1400" dirty="0">
                <a:solidFill>
                  <a:schemeClr val="tx1"/>
                </a:solidFill>
              </a:rPr>
              <a:t>4 сервиса (план, площадка, распознавание, анализ с отчётами) + gateway. У каждого сервиса с данными — своя БД, связь только по REST</a:t>
            </a:r>
            <a:endParaRPr lang="ru-RU" sz="140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sz="1400" dirty="0" err="1">
                <a:solidFill>
                  <a:schemeClr val="tx1"/>
                </a:solidFill>
              </a:rPr>
              <a:t>Распознавание: YOLO-World, дообученный на открытых датасетах стройтехники, + OpenCLIP для стадии объекта</a:t>
            </a:r>
            <a:endParaRPr lang="ru-RU" sz="140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sz="1400" dirty="0" err="1">
                <a:solidFill>
                  <a:schemeClr val="tx1"/>
                </a:solidFill>
              </a:rPr>
              <a:t>Правила отклонений, классы техники, зоны и пороги — это данные (YAML, БД), а не код</a:t>
            </a:r>
            <a:endParaRPr lang="ru-RU" sz="140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sz="1400" dirty="0" err="1">
                <a:solidFill>
                  <a:schemeClr val="tx1"/>
                </a:solidFill>
              </a:rPr>
              <a:t>Стек: FastAPI, PostgreSQL, SeaweedFS (S3), React, Docker.</a:t>
            </a:r>
            <a:endParaRPr sz="1400" dirty="0">
              <a:solidFill>
                <a:schemeClr val="tx1"/>
              </a:solidFill>
            </a:endParaRPr>
          </a:p>
        </p:txBody>
      </p:sp>
      <p:sp>
        <p:nvSpPr>
          <p:cNvPr id="321655550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1400" dirty="0" err="1">
                <a:solidFill>
                  <a:schemeClr val="tx1"/>
                </a:solidFill>
              </a:rPr>
              <a:t>От видеоархива — к контролю графика: система сама говорит, что не так, где и почему</a:t>
            </a:r>
            <a:endParaRPr lang="ru-RU" sz="140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sz="1400" dirty="0" err="1">
                <a:solidFill>
                  <a:schemeClr val="tx1"/>
                </a:solidFill>
              </a:rPr>
              <a:t>Цепочка ценности: Снимок → Техника → Участок → Этап графика → Отклонение → Прогноз</a:t>
            </a:r>
            <a:endParaRPr lang="ru-RU" sz="135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sz="1400" dirty="0" err="1">
                <a:solidFill>
                  <a:schemeClr val="tx1"/>
                </a:solidFill>
              </a:rPr>
              <a:t>Развитие: гибрид детекторов, расчёт графика для всех типов объектов (сейчас — монолитный жилой дом), другие площадки с техникой: карьеры, порты.</a:t>
            </a: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60750015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2139836321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  <a:endParaRPr dirty="0"/>
          </a:p>
        </p:txBody>
      </p:sp>
      <p:sp>
        <p:nvSpPr>
          <p:cNvPr id="87825378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454368" name="Прямоугольник 29"/>
          <p:cNvSpPr/>
          <p:nvPr/>
        </p:nvSpPr>
        <p:spPr bwMode="auto"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94751754" name="Объект 28"/>
          <p:cNvSpPr>
            <a:spLocks noGrp="1"/>
          </p:cNvSpPr>
          <p:nvPr>
            <p:ph idx="1"/>
          </p:nvPr>
        </p:nvSpPr>
        <p:spPr bwMode="auto">
          <a:xfrm>
            <a:off x="521133" y="1263123"/>
            <a:ext cx="5574868" cy="4937652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4 сервиса + gateway: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plan-service — объекты, график (импорт XLSX/CSV или расчёт по МРР), этапы, правила «этап → техника»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site-service — камеры, зоны, снимки, детекции, окна наблюдения по 30 минут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vision-service — распознавание техники (YOLO-World) и стадии объекта (OpenCLIP)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analysis-service — отклонения D1–D10, прогноз, PDF-отчёт и LLM-резюме. У каждого сервиса с данными — своя БД, связь только по REST через gateway.</a:t>
            </a:r>
            <a:br>
              <a:rPr lang="en-US" dirty="0">
                <a:solidFill>
                  <a:schemeClr val="tx1"/>
                </a:solidFill>
              </a:rPr>
            </a:b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Данные, а не код: правила, классы техники, зоны и пороги. Новый класс техники — одна запись в YAML, без правки кода.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Сквозные X-API-Key и X-Request-Id: один запрос прослеживается через все сервисы.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065220022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  <p:sp>
        <p:nvSpPr>
          <p:cNvPr id="1029284307" name="Заголовок 27"/>
          <p:cNvSpPr>
            <a:spLocks noGrp="1"/>
          </p:cNvSpPr>
          <p:nvPr>
            <p:ph type="title"/>
          </p:nvPr>
        </p:nvSpPr>
        <p:spPr bwMode="auto">
          <a:xfrm>
            <a:off x="527444" y="395288"/>
            <a:ext cx="5574868" cy="425729"/>
          </a:xfrm>
        </p:spPr>
        <p:txBody>
          <a:bodyPr/>
          <a:lstStyle/>
          <a:p>
            <a:pPr>
              <a:defRPr/>
            </a:pPr>
            <a:r>
              <a:rPr lang="ru-RU" sz="2000" dirty="0">
                <a:solidFill>
                  <a:schemeClr val="accent5"/>
                </a:solidFill>
              </a:rPr>
              <a:t>АРХИТЕКТУРА РЕШЕНИЯ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5712D0-C197-73D8-C6CA-634675406EB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9445" y="1747768"/>
            <a:ext cx="6072555" cy="33624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268687" name="Заголовок 5"/>
          <p:cNvSpPr>
            <a:spLocks noGrp="1"/>
          </p:cNvSpPr>
          <p:nvPr>
            <p:ph type="title"/>
          </p:nvPr>
        </p:nvSpPr>
        <p:spPr bwMode="auto">
          <a:xfrm>
            <a:off x="533490" y="370426"/>
            <a:ext cx="5562510" cy="442374"/>
          </a:xfrm>
        </p:spPr>
        <p:txBody>
          <a:bodyPr/>
          <a:lstStyle/>
          <a:p>
            <a:pPr>
              <a:defRPr/>
            </a:pPr>
            <a:r>
              <a:rPr lang="ru-RU" dirty="0">
                <a:solidFill>
                  <a:schemeClr val="accent5"/>
                </a:solidFill>
              </a:rPr>
              <a:t>ОБОСНОВАНИЕ ВЫБОРА ТЕХНОЛОГИЙ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1484418242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2" y="1695025"/>
            <a:ext cx="6903795" cy="712587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b="1" dirty="0">
                <a:solidFill>
                  <a:schemeClr val="accent1"/>
                </a:solidFill>
              </a:rPr>
              <a:t>YOLO-World + OpenCLIP</a:t>
            </a:r>
            <a:endParaRPr lang="ru-RU" b="1" dirty="0">
              <a:solidFill>
                <a:schemeClr val="accent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Классы техники задаются текстом: новый тип машины добавляется без переобучения. OpenCLIP — стадия по фото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022034793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4902200" cy="712587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b="1" dirty="0" err="1">
                <a:solidFill>
                  <a:schemeClr val="accent1"/>
                </a:solidFill>
              </a:rPr>
              <a:t>Дообучение ce-ulima-v1</a:t>
            </a:r>
            <a:endParaRPr lang="ru-RU" b="1" dirty="0">
              <a:solidFill>
                <a:schemeClr val="accent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YOLO-World, дообученный на Construction Equipment и датасете Лимы: mAP50 0,07 → 0,81 на отложенном тесте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31907780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4902200" cy="712587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b="1" dirty="0" err="1">
                <a:solidFill>
                  <a:schemeClr val="accent1"/>
                </a:solidFill>
              </a:rPr>
              <a:t>FastAPI</a:t>
            </a:r>
            <a:r>
              <a:rPr lang="en-US" b="1" dirty="0">
                <a:solidFill>
                  <a:schemeClr val="accent1"/>
                </a:solidFill>
              </a:rPr>
              <a:t> + PostgreSQL</a:t>
            </a:r>
            <a:endParaRPr lang="ru-RU" b="1" dirty="0">
              <a:solidFill>
                <a:schemeClr val="accent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Асинхронный</a:t>
            </a:r>
            <a:r>
              <a:rPr lang="en-US" dirty="0">
                <a:solidFill>
                  <a:schemeClr val="tx1"/>
                </a:solidFill>
              </a:rPr>
              <a:t> Python-</a:t>
            </a:r>
            <a:r>
              <a:rPr lang="en-US" dirty="0" err="1">
                <a:solidFill>
                  <a:schemeClr val="tx1"/>
                </a:solidFill>
              </a:rPr>
              <a:t>стек</a:t>
            </a:r>
            <a:r>
              <a:rPr lang="en-US" dirty="0">
                <a:solidFill>
                  <a:schemeClr val="tx1"/>
                </a:solidFill>
              </a:rPr>
              <a:t> с </a:t>
            </a:r>
            <a:r>
              <a:rPr lang="en-US" dirty="0" err="1">
                <a:solidFill>
                  <a:schemeClr val="tx1"/>
                </a:solidFill>
              </a:rPr>
              <a:t>изолированными</a:t>
            </a:r>
            <a:r>
              <a:rPr lang="en-US" dirty="0">
                <a:solidFill>
                  <a:schemeClr val="tx1"/>
                </a:solidFill>
              </a:rPr>
              <a:t> БД </a:t>
            </a:r>
            <a:r>
              <a:rPr lang="en-US" dirty="0" err="1">
                <a:solidFill>
                  <a:schemeClr val="tx1"/>
                </a:solidFill>
              </a:rPr>
              <a:t>на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сервис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43334351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4902200" cy="712587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b="1" dirty="0" err="1">
                <a:solidFill>
                  <a:schemeClr val="accent1"/>
                </a:solidFill>
              </a:rPr>
              <a:t>SeaweedFS (S3)</a:t>
            </a:r>
            <a:endParaRPr lang="ru-RU" b="1" dirty="0">
              <a:solidFill>
                <a:schemeClr val="accent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Хранилище снимков и отчётов. У заказчика меняется на любой S3 через .env, без правки кода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730022883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2" y="5123063"/>
            <a:ext cx="6080835" cy="712587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b="1" dirty="0">
                <a:solidFill>
                  <a:schemeClr val="accent1"/>
                </a:solidFill>
              </a:rPr>
              <a:t>React</a:t>
            </a:r>
            <a:endParaRPr lang="ru-RU" b="1" dirty="0">
              <a:solidFill>
                <a:schemeClr val="accent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Интерфейс оператора: у каждого отклонения — числа, правило и снимок с рамками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785097449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7</a:t>
            </a:fld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941653181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55020351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98580274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98046321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96696805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0471956" name="Скругленный прямоугольник 11"/>
          <p:cNvSpPr/>
          <p:nvPr/>
        </p:nvSpPr>
        <p:spPr bwMode="auto">
          <a:xfrm>
            <a:off x="346074" y="324562"/>
            <a:ext cx="60600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70980009" name="Номер слайда 12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8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45791128" name="Текст 1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ru-RU" b="0" dirty="0">
                <a:solidFill>
                  <a:schemeClr val="accent5"/>
                </a:solidFill>
              </a:rPr>
              <a:t>Кадр с камеры</a:t>
            </a:r>
          </a:p>
        </p:txBody>
      </p:sp>
      <p:sp>
        <p:nvSpPr>
          <p:cNvPr id="175425605" name="Текст 2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814077"/>
            <a:ext cx="2526079" cy="112068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EXIF-</a:t>
            </a:r>
            <a:r>
              <a:rPr lang="en-US" dirty="0" err="1">
                <a:solidFill>
                  <a:schemeClr val="tx1"/>
                </a:solidFill>
              </a:rPr>
              <a:t>время</a:t>
            </a:r>
            <a:r>
              <a:rPr lang="en-US" dirty="0">
                <a:solidFill>
                  <a:schemeClr val="tx1"/>
                </a:solidFill>
              </a:rPr>
              <a:t> и </a:t>
            </a:r>
            <a:r>
              <a:rPr lang="en-US" dirty="0" err="1">
                <a:solidFill>
                  <a:schemeClr val="tx1"/>
                </a:solidFill>
              </a:rPr>
              <a:t>зона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камеры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Нет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времени</a:t>
            </a:r>
            <a:r>
              <a:rPr lang="en-US" dirty="0">
                <a:solidFill>
                  <a:schemeClr val="tx1"/>
                </a:solidFill>
              </a:rPr>
              <a:t> — </a:t>
            </a:r>
            <a:r>
              <a:rPr lang="en-US" dirty="0" err="1">
                <a:solidFill>
                  <a:schemeClr val="tx1"/>
                </a:solidFill>
              </a:rPr>
              <a:t>статус</a:t>
            </a:r>
            <a:r>
              <a:rPr lang="en-US" dirty="0">
                <a:solidFill>
                  <a:schemeClr val="tx1"/>
                </a:solidFill>
              </a:rPr>
              <a:t> NEEDS_TIME, </a:t>
            </a:r>
            <a:r>
              <a:rPr lang="en-US" dirty="0" err="1">
                <a:solidFill>
                  <a:schemeClr val="tx1"/>
                </a:solidFill>
              </a:rPr>
              <a:t>дубль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по</a:t>
            </a:r>
            <a:r>
              <a:rPr lang="en-US" dirty="0">
                <a:solidFill>
                  <a:schemeClr val="tx1"/>
                </a:solidFill>
              </a:rPr>
              <a:t> sha256 — </a:t>
            </a:r>
            <a:r>
              <a:rPr lang="en-US" dirty="0" err="1">
                <a:solidFill>
                  <a:schemeClr val="tx1"/>
                </a:solidFill>
              </a:rPr>
              <a:t>отклонён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67808411" name="Текст 3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ru-RU" b="0" dirty="0">
                <a:solidFill>
                  <a:schemeClr val="accent5"/>
                </a:solidFill>
              </a:rPr>
              <a:t>Сессия 30 минут</a:t>
            </a:r>
          </a:p>
        </p:txBody>
      </p:sp>
      <p:sp>
        <p:nvSpPr>
          <p:cNvPr id="1063055699" name="Текст 4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814077"/>
            <a:ext cx="2526079" cy="112068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Кадры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окна</a:t>
            </a:r>
            <a:r>
              <a:rPr lang="en-US" dirty="0">
                <a:solidFill>
                  <a:schemeClr val="tx1"/>
                </a:solidFill>
              </a:rPr>
              <a:t> → </a:t>
            </a:r>
            <a:r>
              <a:rPr lang="en-US" dirty="0" err="1">
                <a:solidFill>
                  <a:schemeClr val="tx1"/>
                </a:solidFill>
              </a:rPr>
              <a:t>один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факт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Статус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единицы</a:t>
            </a:r>
            <a:r>
              <a:rPr lang="en-US" dirty="0">
                <a:solidFill>
                  <a:schemeClr val="tx1"/>
                </a:solidFill>
              </a:rPr>
              <a:t>: </a:t>
            </a:r>
            <a:r>
              <a:rPr lang="en-US" dirty="0" err="1">
                <a:solidFill>
                  <a:schemeClr val="tx1"/>
                </a:solidFill>
              </a:rPr>
              <a:t>работает</a:t>
            </a:r>
            <a:r>
              <a:rPr lang="en-US" dirty="0">
                <a:solidFill>
                  <a:schemeClr val="tx1"/>
                </a:solidFill>
              </a:rPr>
              <a:t> / </a:t>
            </a:r>
            <a:r>
              <a:rPr lang="en-US" dirty="0" err="1">
                <a:solidFill>
                  <a:schemeClr val="tx1"/>
                </a:solidFill>
              </a:rPr>
              <a:t>простой</a:t>
            </a:r>
            <a:r>
              <a:rPr lang="en-US" dirty="0">
                <a:solidFill>
                  <a:schemeClr val="tx1"/>
                </a:solidFill>
              </a:rPr>
              <a:t> / </a:t>
            </a:r>
            <a:r>
              <a:rPr lang="en-US" dirty="0" err="1">
                <a:solidFill>
                  <a:schemeClr val="tx1"/>
                </a:solidFill>
              </a:rPr>
              <a:t>вне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зоны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501354303" name="Текст 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ru-RU" b="0" dirty="0">
                <a:solidFill>
                  <a:schemeClr val="accent5"/>
                </a:solidFill>
              </a:rPr>
              <a:t>Прогноз</a:t>
            </a:r>
          </a:p>
        </p:txBody>
      </p:sp>
      <p:sp>
        <p:nvSpPr>
          <p:cNvPr id="1321846474" name="Текст 6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814077"/>
            <a:ext cx="2526079" cy="1120685"/>
          </a:xfrm>
        </p:spPr>
        <p:txBody>
          <a:bodyPr>
            <a:normAutofit fontScale="92500" lnSpcReduction="10000"/>
          </a:bodyPr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Отклонение</a:t>
            </a:r>
            <a:r>
              <a:rPr lang="en-US" dirty="0">
                <a:solidFill>
                  <a:schemeClr val="tx1"/>
                </a:solidFill>
              </a:rPr>
              <a:t> = facts (</a:t>
            </a:r>
            <a:r>
              <a:rPr lang="en-US" dirty="0" err="1">
                <a:solidFill>
                  <a:schemeClr val="tx1"/>
                </a:solidFill>
              </a:rPr>
              <a:t>числа</a:t>
            </a:r>
            <a:r>
              <a:rPr lang="en-US" dirty="0">
                <a:solidFill>
                  <a:schemeClr val="tx1"/>
                </a:solidFill>
              </a:rPr>
              <a:t>) + evidence (</a:t>
            </a:r>
            <a:r>
              <a:rPr lang="en-US" dirty="0" err="1">
                <a:solidFill>
                  <a:schemeClr val="tx1"/>
                </a:solidFill>
              </a:rPr>
              <a:t>кадр</a:t>
            </a:r>
            <a:r>
              <a:rPr lang="en-US" dirty="0">
                <a:solidFill>
                  <a:schemeClr val="tx1"/>
                </a:solidFill>
              </a:rPr>
              <a:t> с </a:t>
            </a:r>
            <a:r>
              <a:rPr lang="en-US" dirty="0" err="1">
                <a:solidFill>
                  <a:schemeClr val="tx1"/>
                </a:solidFill>
              </a:rPr>
              <a:t>рамками</a:t>
            </a:r>
            <a:r>
              <a:rPr lang="en-US" dirty="0">
                <a:solidFill>
                  <a:schemeClr val="tx1"/>
                </a:solidFill>
              </a:rPr>
              <a:t>)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Гант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пересчитывает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прогноз</a:t>
            </a:r>
            <a:r>
              <a:rPr lang="en-US" dirty="0">
                <a:solidFill>
                  <a:schemeClr val="tx1"/>
                </a:solidFill>
              </a:rPr>
              <a:t> и </a:t>
            </a:r>
            <a:r>
              <a:rPr lang="en-US" dirty="0" err="1">
                <a:solidFill>
                  <a:schemeClr val="tx1"/>
                </a:solidFill>
              </a:rPr>
              <a:t>сдвигает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зависимые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этапы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704065" name="Текст 7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ru-RU" b="0" dirty="0">
                <a:solidFill>
                  <a:schemeClr val="accent5"/>
                </a:solidFill>
              </a:rPr>
              <a:t>Техника и участок</a:t>
            </a:r>
          </a:p>
        </p:txBody>
      </p:sp>
      <p:sp>
        <p:nvSpPr>
          <p:cNvPr id="852980671" name="Текст 8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5181340"/>
            <a:ext cx="2526079" cy="112068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YOLO-World: класс и рамка техники на кадре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Участок — по точке, где рамка касается земли, в зоне камеры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8284361" name="Текст 9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ru-RU" b="0" dirty="0">
                <a:solidFill>
                  <a:schemeClr val="accent5"/>
                </a:solidFill>
              </a:rPr>
              <a:t>Правило этапа</a:t>
            </a:r>
          </a:p>
        </p:txBody>
      </p:sp>
      <p:sp>
        <p:nvSpPr>
          <p:cNvPr id="1837104852" name="Текст 10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5181340"/>
            <a:ext cx="2526079" cy="1120685"/>
          </a:xfrm>
        </p:spPr>
        <p:txBody>
          <a:bodyPr>
            <a:normAutofit fontScale="92500"/>
          </a:bodyPr>
          <a:lstStyle/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В </a:t>
            </a:r>
            <a:r>
              <a:rPr lang="en-US" dirty="0" err="1">
                <a:solidFill>
                  <a:schemeClr val="tx1"/>
                </a:solidFill>
              </a:rPr>
              <a:t>карточке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этапа</a:t>
            </a:r>
            <a:r>
              <a:rPr lang="en-US" dirty="0">
                <a:solidFill>
                  <a:schemeClr val="tx1"/>
                </a:solidFill>
              </a:rPr>
              <a:t> — </a:t>
            </a:r>
            <a:r>
              <a:rPr lang="en-US" dirty="0" err="1">
                <a:solidFill>
                  <a:schemeClr val="tx1"/>
                </a:solidFill>
              </a:rPr>
              <a:t>какая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техника</a:t>
            </a:r>
            <a:r>
              <a:rPr lang="en-US" dirty="0">
                <a:solidFill>
                  <a:schemeClr val="tx1"/>
                </a:solidFill>
              </a:rPr>
              <a:t> и </a:t>
            </a:r>
            <a:r>
              <a:rPr lang="en-US" dirty="0" err="1">
                <a:solidFill>
                  <a:schemeClr val="tx1"/>
                </a:solidFill>
              </a:rPr>
              <a:t>сколько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единиц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нужн</a:t>
            </a:r>
            <a:r>
              <a:rPr lang="ru-RU" dirty="0">
                <a:solidFill>
                  <a:schemeClr val="tx1"/>
                </a:solidFill>
              </a:rPr>
              <a:t>ы</a:t>
            </a:r>
            <a:r>
              <a:rPr lang="en-US" dirty="0">
                <a:solidFill>
                  <a:schemeClr val="tx1"/>
                </a:solidFill>
              </a:rPr>
              <a:t> в </a:t>
            </a:r>
            <a:r>
              <a:rPr lang="en-US" dirty="0" err="1">
                <a:solidFill>
                  <a:schemeClr val="tx1"/>
                </a:solidFill>
              </a:rPr>
              <a:t>участке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Факт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против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правила</a:t>
            </a:r>
            <a:r>
              <a:rPr lang="en-US" dirty="0">
                <a:solidFill>
                  <a:schemeClr val="tx1"/>
                </a:solidFill>
              </a:rPr>
              <a:t> → </a:t>
            </a:r>
            <a:r>
              <a:rPr lang="en-US" dirty="0" err="1">
                <a:solidFill>
                  <a:schemeClr val="tx1"/>
                </a:solidFill>
              </a:rPr>
              <a:t>отклонение</a:t>
            </a:r>
            <a:r>
              <a:rPr lang="en-US" dirty="0">
                <a:solidFill>
                  <a:schemeClr val="tx1"/>
                </a:solidFill>
              </a:rPr>
              <a:t> D1–D10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1731368653" name="Прямая соединительная линия 33"/>
          <p:cNvCxnSpPr/>
          <p:nvPr/>
        </p:nvCxnSpPr>
        <p:spPr bwMode="auto"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4670215" name="Прямая соединительная линия 34"/>
          <p:cNvCxnSpPr/>
          <p:nvPr/>
        </p:nvCxnSpPr>
        <p:spPr bwMode="auto"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144373" name="Прямая соединительная линия 35"/>
          <p:cNvCxnSpPr/>
          <p:nvPr/>
        </p:nvCxnSpPr>
        <p:spPr bwMode="auto"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4664500" name="Прямая соединительная линия 36"/>
          <p:cNvCxnSpPr/>
          <p:nvPr/>
        </p:nvCxnSpPr>
        <p:spPr bwMode="auto"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5829465" name="Прямая соединительная линия 37"/>
          <p:cNvCxnSpPr/>
          <p:nvPr/>
        </p:nvCxnSpPr>
        <p:spPr bwMode="auto"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2336023" name="Прямая соединительная линия 38"/>
          <p:cNvCxnSpPr/>
          <p:nvPr/>
        </p:nvCxnSpPr>
        <p:spPr bwMode="auto"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998851" name="Прямая соединительная линия 39"/>
          <p:cNvCxnSpPr/>
          <p:nvPr/>
        </p:nvCxnSpPr>
        <p:spPr bwMode="auto"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7937511" name="Прямая соединительная линия 40"/>
          <p:cNvCxnSpPr/>
          <p:nvPr/>
        </p:nvCxnSpPr>
        <p:spPr bwMode="auto"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7810320" name="Прямая соединительная линия 41"/>
          <p:cNvCxnSpPr/>
          <p:nvPr/>
        </p:nvCxnSpPr>
        <p:spPr bwMode="auto"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751272" name="Скругленный прямоугольник 42"/>
          <p:cNvSpPr/>
          <p:nvPr/>
        </p:nvSpPr>
        <p:spPr bwMode="auto">
          <a:xfrm>
            <a:off x="1191126" y="3508049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1</a:t>
            </a:r>
            <a:endParaRPr/>
          </a:p>
        </p:txBody>
      </p:sp>
      <p:sp>
        <p:nvSpPr>
          <p:cNvPr id="812859897" name="Скругленный прямоугольник 43"/>
          <p:cNvSpPr/>
          <p:nvPr/>
        </p:nvSpPr>
        <p:spPr bwMode="auto">
          <a:xfrm>
            <a:off x="3412397" y="3506136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2</a:t>
            </a:r>
            <a:endParaRPr/>
          </a:p>
        </p:txBody>
      </p:sp>
      <p:sp>
        <p:nvSpPr>
          <p:cNvPr id="108934526" name="Скругленный прямоугольник 44"/>
          <p:cNvSpPr/>
          <p:nvPr/>
        </p:nvSpPr>
        <p:spPr bwMode="auto">
          <a:xfrm>
            <a:off x="5658594" y="3516255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3</a:t>
            </a:r>
            <a:endParaRPr/>
          </a:p>
        </p:txBody>
      </p:sp>
      <p:sp>
        <p:nvSpPr>
          <p:cNvPr id="1741896490" name="Скругленный прямоугольник 52"/>
          <p:cNvSpPr/>
          <p:nvPr/>
        </p:nvSpPr>
        <p:spPr bwMode="auto">
          <a:xfrm>
            <a:off x="7889752" y="3506134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4</a:t>
            </a:r>
            <a:endParaRPr/>
          </a:p>
        </p:txBody>
      </p:sp>
      <p:sp>
        <p:nvSpPr>
          <p:cNvPr id="1007682587" name="Скругленный прямоугольник 53"/>
          <p:cNvSpPr/>
          <p:nvPr/>
        </p:nvSpPr>
        <p:spPr bwMode="auto">
          <a:xfrm>
            <a:off x="10113011" y="3538625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5</a:t>
            </a:r>
            <a:endParaRPr/>
          </a:p>
        </p:txBody>
      </p:sp>
      <p:sp>
        <p:nvSpPr>
          <p:cNvPr id="147549282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6074" y="421226"/>
            <a:ext cx="5760000" cy="376138"/>
          </a:xfrm>
        </p:spPr>
        <p:txBody>
          <a:bodyPr/>
          <a:lstStyle/>
          <a:p>
            <a:pPr>
              <a:defRPr/>
            </a:pPr>
            <a:r>
              <a:rPr lang="ru-RU" dirty="0"/>
              <a:t>СНИМКИ → ЭТАПЫ ГРАФИКА</a:t>
            </a:r>
          </a:p>
        </p:txBody>
      </p:sp>
      <p:sp>
        <p:nvSpPr>
          <p:cNvPr id="1473606708" name="Скругленный прямоугольник 13"/>
          <p:cNvSpPr/>
          <p:nvPr/>
        </p:nvSpPr>
        <p:spPr bwMode="auto"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586179979" name="Скругленный прямоугольник 15"/>
          <p:cNvSpPr/>
          <p:nvPr/>
        </p:nvSpPr>
        <p:spPr bwMode="auto"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2105368717" name="Скругленный прямоугольник 16"/>
          <p:cNvSpPr/>
          <p:nvPr/>
        </p:nvSpPr>
        <p:spPr bwMode="auto"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293685711" name="Скругленный прямоугольник 17"/>
          <p:cNvSpPr/>
          <p:nvPr/>
        </p:nvSpPr>
        <p:spPr bwMode="auto"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624313899" name="Скругленный прямоугольник 18"/>
          <p:cNvSpPr/>
          <p:nvPr/>
        </p:nvSpPr>
        <p:spPr bwMode="auto"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2944520" name="Скругленный прямоугольник 2"/>
          <p:cNvSpPr/>
          <p:nvPr/>
        </p:nvSpPr>
        <p:spPr bwMode="auto">
          <a:xfrm>
            <a:off x="346075" y="324562"/>
            <a:ext cx="52950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7D902B22-114B-E4E6-B83F-E4F34518D58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l="1" t="3496" r="-10" b="5763"/>
          <a:stretch>
            <a:fillRect/>
          </a:stretch>
        </p:blipFill>
        <p:spPr bwMode="auto">
          <a:xfrm>
            <a:off x="5034405" y="1358954"/>
            <a:ext cx="2172255" cy="4270120"/>
          </a:xfrm>
          <a:prstGeom prst="roundRect">
            <a:avLst>
              <a:gd name="adj" fmla="val 12294"/>
            </a:avLst>
          </a:prstGeom>
          <a:noFill/>
        </p:spPr>
      </p:pic>
      <p:sp>
        <p:nvSpPr>
          <p:cNvPr id="680146116" name="Текст 3"/>
          <p:cNvSpPr>
            <a:spLocks noGrp="1"/>
          </p:cNvSpPr>
          <p:nvPr>
            <p:ph type="body" sz="quarter" idx="21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ru-RU" b="0" dirty="0">
                <a:solidFill>
                  <a:schemeClr val="accent5"/>
                </a:solidFill>
              </a:rPr>
              <a:t>Наблюдение</a:t>
            </a:r>
          </a:p>
        </p:txBody>
      </p:sp>
      <p:sp>
        <p:nvSpPr>
          <p:cNvPr id="867742702" name="Текст 4"/>
          <p:cNvSpPr>
            <a:spLocks noGrp="1"/>
          </p:cNvSpPr>
          <p:nvPr>
            <p:ph type="body" sz="quarter" idx="18"/>
          </p:nvPr>
        </p:nvSpPr>
        <p:spPr bwMode="auto"/>
        <p:txBody>
          <a:bodyPr/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Обзор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лента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предупреждений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график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план-факт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камеры</a:t>
            </a:r>
            <a:r>
              <a:rPr lang="en-US" dirty="0">
                <a:solidFill>
                  <a:schemeClr val="tx1"/>
                </a:solidFill>
              </a:rPr>
              <a:t> и </a:t>
            </a:r>
            <a:r>
              <a:rPr lang="en-US" dirty="0" err="1">
                <a:solidFill>
                  <a:schemeClr val="tx1"/>
                </a:solidFill>
              </a:rPr>
              <a:t>отчёты</a:t>
            </a:r>
            <a:r>
              <a:rPr lang="en-US" dirty="0">
                <a:solidFill>
                  <a:schemeClr val="tx1"/>
                </a:solidFill>
              </a:rPr>
              <a:t> — </a:t>
            </a:r>
            <a:r>
              <a:rPr lang="en-US" dirty="0" err="1">
                <a:solidFill>
                  <a:schemeClr val="tx1"/>
                </a:solidFill>
              </a:rPr>
              <a:t>всё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что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читает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прораб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ежедневно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218894724" name="Текст 5"/>
          <p:cNvSpPr>
            <a:spLocks noGrp="1"/>
          </p:cNvSpPr>
          <p:nvPr>
            <p:ph type="body" sz="quarter" idx="22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ru-RU" b="0" dirty="0">
                <a:solidFill>
                  <a:schemeClr val="accent5"/>
                </a:solidFill>
              </a:rPr>
              <a:t>Настройка объекта</a:t>
            </a:r>
          </a:p>
        </p:txBody>
      </p:sp>
      <p:sp>
        <p:nvSpPr>
          <p:cNvPr id="1233166073" name="Текст 6"/>
          <p:cNvSpPr>
            <a:spLocks noGrp="1"/>
          </p:cNvSpPr>
          <p:nvPr>
            <p:ph type="body" sz="quarter" idx="23"/>
          </p:nvPr>
        </p:nvSpPr>
        <p:spPr bwMode="auto"/>
        <p:txBody>
          <a:bodyPr/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Реквизиты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календарный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график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правила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привязки</a:t>
            </a:r>
            <a:r>
              <a:rPr lang="en-US" dirty="0">
                <a:solidFill>
                  <a:schemeClr val="tx1"/>
                </a:solidFill>
              </a:rPr>
              <a:t> «</a:t>
            </a:r>
            <a:r>
              <a:rPr lang="en-US" dirty="0" err="1">
                <a:solidFill>
                  <a:schemeClr val="tx1"/>
                </a:solidFill>
              </a:rPr>
              <a:t>этап</a:t>
            </a:r>
            <a:r>
              <a:rPr lang="en-US" dirty="0">
                <a:solidFill>
                  <a:schemeClr val="tx1"/>
                </a:solidFill>
              </a:rPr>
              <a:t> → </a:t>
            </a:r>
            <a:r>
              <a:rPr lang="en-US" dirty="0" err="1">
                <a:solidFill>
                  <a:schemeClr val="tx1"/>
                </a:solidFill>
              </a:rPr>
              <a:t>техника</a:t>
            </a:r>
            <a:r>
              <a:rPr lang="en-US" dirty="0">
                <a:solidFill>
                  <a:schemeClr val="tx1"/>
                </a:solidFill>
              </a:rPr>
              <a:t>», </a:t>
            </a:r>
            <a:r>
              <a:rPr lang="en-US" dirty="0" err="1">
                <a:solidFill>
                  <a:schemeClr val="tx1"/>
                </a:solidFill>
              </a:rPr>
              <a:t>зоны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на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камерах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627124232" name="Текст 7"/>
          <p:cNvSpPr>
            <a:spLocks noGrp="1"/>
          </p:cNvSpPr>
          <p:nvPr>
            <p:ph type="body" sz="quarter" idx="24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ru-RU" b="0" dirty="0">
                <a:solidFill>
                  <a:schemeClr val="accent5"/>
                </a:solidFill>
              </a:rPr>
              <a:t>Данные</a:t>
            </a:r>
          </a:p>
        </p:txBody>
      </p:sp>
      <p:sp>
        <p:nvSpPr>
          <p:cNvPr id="594633161" name="Текст 8"/>
          <p:cNvSpPr>
            <a:spLocks noGrp="1"/>
          </p:cNvSpPr>
          <p:nvPr>
            <p:ph type="body" sz="quarter" idx="25"/>
          </p:nvPr>
        </p:nvSpPr>
        <p:spPr bwMode="auto"/>
        <p:txBody>
          <a:bodyPr/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Загрузка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снимков</a:t>
            </a:r>
            <a:r>
              <a:rPr lang="en-US" dirty="0">
                <a:solidFill>
                  <a:schemeClr val="tx1"/>
                </a:solidFill>
              </a:rPr>
              <a:t> с </a:t>
            </a:r>
            <a:r>
              <a:rPr lang="en-US" dirty="0" err="1">
                <a:solidFill>
                  <a:schemeClr val="tx1"/>
                </a:solidFill>
              </a:rPr>
              <a:t>контролем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качества</a:t>
            </a:r>
            <a:r>
              <a:rPr lang="en-US" dirty="0">
                <a:solidFill>
                  <a:schemeClr val="tx1"/>
                </a:solidFill>
              </a:rPr>
              <a:t>: </a:t>
            </a:r>
            <a:r>
              <a:rPr lang="en-US" dirty="0" err="1">
                <a:solidFill>
                  <a:schemeClr val="tx1"/>
                </a:solidFill>
              </a:rPr>
              <a:t>время</a:t>
            </a:r>
            <a:r>
              <a:rPr lang="en-US" dirty="0">
                <a:solidFill>
                  <a:schemeClr val="tx1"/>
                </a:solidFill>
              </a:rPr>
              <a:t> в </a:t>
            </a:r>
            <a:r>
              <a:rPr lang="en-US" dirty="0" err="1">
                <a:solidFill>
                  <a:schemeClr val="tx1"/>
                </a:solidFill>
              </a:rPr>
              <a:t>метаданных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отсутствие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дублей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распознавание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64702574" name="Текст 9"/>
          <p:cNvSpPr>
            <a:spLocks noGrp="1"/>
          </p:cNvSpPr>
          <p:nvPr>
            <p:ph type="body" sz="quarter" idx="26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ru-RU" b="0" dirty="0">
                <a:solidFill>
                  <a:schemeClr val="accent5"/>
                </a:solidFill>
              </a:rPr>
              <a:t>Справочники</a:t>
            </a:r>
          </a:p>
        </p:txBody>
      </p:sp>
      <p:sp>
        <p:nvSpPr>
          <p:cNvPr id="884516365" name="Текст 10"/>
          <p:cNvSpPr>
            <a:spLocks noGrp="1"/>
          </p:cNvSpPr>
          <p:nvPr>
            <p:ph type="body" sz="quarter" idx="27"/>
          </p:nvPr>
        </p:nvSpPr>
        <p:spPr bwMode="auto"/>
        <p:txBody>
          <a:bodyPr/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Пороги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отклонений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классы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техники</a:t>
            </a:r>
            <a:r>
              <a:rPr lang="en-US" dirty="0">
                <a:solidFill>
                  <a:schemeClr val="tx1"/>
                </a:solidFill>
              </a:rPr>
              <a:t> — </a:t>
            </a:r>
            <a:r>
              <a:rPr lang="en-US" dirty="0" err="1">
                <a:solidFill>
                  <a:schemeClr val="tx1"/>
                </a:solidFill>
              </a:rPr>
              <a:t>логика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системы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как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данные</a:t>
            </a:r>
            <a:r>
              <a:rPr lang="en-US" dirty="0">
                <a:solidFill>
                  <a:schemeClr val="tx1"/>
                </a:solidFill>
              </a:rPr>
              <a:t>, а </a:t>
            </a:r>
            <a:r>
              <a:rPr lang="en-US" dirty="0" err="1">
                <a:solidFill>
                  <a:schemeClr val="tx1"/>
                </a:solidFill>
              </a:rPr>
              <a:t>не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код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99655860" name="Номер слайда 11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9</a:t>
            </a:fld>
            <a:endParaRPr lang="ru-RU">
              <a:solidFill>
                <a:schemeClr val="accent5"/>
              </a:solidFill>
            </a:endParaRPr>
          </a:p>
        </p:txBody>
      </p:sp>
      <p:grpSp>
        <p:nvGrpSpPr>
          <p:cNvPr id="1034340990" name="Группа 12"/>
          <p:cNvGrpSpPr/>
          <p:nvPr/>
        </p:nvGrpSpPr>
        <p:grpSpPr bwMode="auto">
          <a:xfrm>
            <a:off x="4951937" y="1228926"/>
            <a:ext cx="2268386" cy="4490387"/>
            <a:chOff x="5193506" y="1574276"/>
            <a:chExt cx="1802607" cy="3705431"/>
          </a:xfrm>
        </p:grpSpPr>
        <p:sp>
          <p:nvSpPr>
            <p:cNvPr id="14" name="Полилиния: фигура 13"/>
            <p:cNvSpPr/>
            <p:nvPr/>
          </p:nvSpPr>
          <p:spPr bwMode="auto">
            <a:xfrm>
              <a:off x="5210727" y="157427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accent5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2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3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4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5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6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7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8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9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0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1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2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33" name="Рисунок 32"/>
            <p:cNvPicPr>
              <a:picLocks noChangeAspect="1"/>
            </p:cNvPicPr>
            <p:nvPr/>
          </p:nvPicPr>
          <p:blipFill rotWithShape="1">
            <a:blip r:embed="rId5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34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5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6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7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sp>
        <p:nvSpPr>
          <p:cNvPr id="1173249712" name="Заголовок 13"/>
          <p:cNvSpPr>
            <a:spLocks noGrp="1"/>
          </p:cNvSpPr>
          <p:nvPr>
            <p:ph type="title"/>
          </p:nvPr>
        </p:nvSpPr>
        <p:spPr bwMode="auto">
          <a:xfrm>
            <a:off x="526075" y="421226"/>
            <a:ext cx="4995000" cy="376138"/>
          </a:xfrm>
        </p:spPr>
        <p:txBody>
          <a:bodyPr/>
          <a:lstStyle/>
          <a:p>
            <a:pPr>
              <a:defRPr/>
            </a:pPr>
            <a:r>
              <a:rPr lang="ru-RU" dirty="0"/>
              <a:t>СТРУКТУРА ПРОТОТИПА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365920140" name="Скругленный прямоугольник 1">
            <a:extLst>
              <a:ext uri="{FF2B5EF4-FFF2-40B4-BE49-F238E27FC236}">
                <a16:creationId xmlns:a16="http://schemas.microsoft.com/office/drawing/2014/main" id="{A2896616-099A-7A75-2BB1-F1C452A3518A}"/>
              </a:ext>
            </a:extLst>
          </p:cNvPr>
          <p:cNvSpPr/>
          <p:nvPr/>
        </p:nvSpPr>
        <p:spPr bwMode="auto">
          <a:xfrm>
            <a:off x="346075" y="324562"/>
            <a:ext cx="3485247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8502126" name="Номер слайда 6">
            <a:extLst>
              <a:ext uri="{FF2B5EF4-FFF2-40B4-BE49-F238E27FC236}">
                <a16:creationId xmlns:a16="http://schemas.microsoft.com/office/drawing/2014/main" id="{F36DE4B1-1538-40F6-1960-D016DA3715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548536300" name="Заголовок 13">
            <a:extLst>
              <a:ext uri="{FF2B5EF4-FFF2-40B4-BE49-F238E27FC236}">
                <a16:creationId xmlns:a16="http://schemas.microsoft.com/office/drawing/2014/main" id="{06182070-1D05-43F0-45F4-8FA12018693B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3335247" cy="376138"/>
          </a:xfrm>
        </p:spPr>
        <p:txBody>
          <a:bodyPr/>
          <a:lstStyle/>
          <a:p>
            <a:pPr>
              <a:defRPr/>
            </a:pPr>
            <a:r>
              <a:rPr lang="ru-RU" dirty="0"/>
              <a:t>ШАГ 1 · КАМЕРА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9ACF152-CEEF-4662-9614-8AFC5625DBAE}"/>
              </a:ext>
            </a:extLst>
          </p:cNvPr>
          <p:cNvGrpSpPr/>
          <p:nvPr/>
        </p:nvGrpSpPr>
        <p:grpSpPr>
          <a:xfrm>
            <a:off x="2057437" y="1042144"/>
            <a:ext cx="7757132" cy="4806563"/>
            <a:chOff x="2057437" y="1042144"/>
            <a:chExt cx="7757132" cy="4806563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94E30DC1-8178-5947-5DB3-C19372CFEFFE}"/>
                </a:ext>
              </a:extLst>
            </p:cNvPr>
            <p:cNvGrpSpPr/>
            <p:nvPr/>
          </p:nvGrpSpPr>
          <p:grpSpPr bwMode="auto">
            <a:xfrm>
              <a:off x="2057437" y="1042144"/>
              <a:ext cx="7757132" cy="4806563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08D97072-A55B-EE0C-10E2-8CE3BF80E9B5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4A46D859-2D11-296D-E53F-D6679853D729}"/>
                  </a:ext>
                </a:extLst>
              </p:cNvPr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76BE853F-1323-5A8F-56A3-F7F7B1B51E17}"/>
                  </a:ext>
                </a:extLst>
              </p:cNvPr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C51E5813-E2B3-C6BD-243F-DDB172626BB8}"/>
                  </a:ext>
                </a:extLst>
              </p:cNvPr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BD82CFD7-8DDC-7B50-DDC1-20BA4372A3A9}"/>
                  </a:ext>
                </a:extLst>
              </p:cNvPr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DB656046-28F1-D81C-B0F2-015726AC32B3}"/>
                  </a:ext>
                </a:extLst>
              </p:cNvPr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7C79FEA1-7C2E-16A6-791A-436CC93E8A8A}"/>
                  </a:ext>
                </a:extLst>
              </p:cNvPr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6765572F-A40A-4204-D9D6-DD466B243FA3}"/>
                    </a:ext>
                  </a:extLst>
                </p:cNvPr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AB0CA85B-8E22-E677-2DF5-567F748E32EB}"/>
                    </a:ext>
                  </a:extLst>
                </p:cNvPr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9C65AC97-91A8-5C57-E0D6-2DBA758C866F}"/>
                    </a:ext>
                  </a:extLst>
                </p:cNvPr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9CE1E1B1-7C8F-D112-5D1C-07012CFC0525}"/>
                    </a:ext>
                  </a:extLst>
                </p:cNvPr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A9BEA9BC-489B-C1D0-06E6-2DFBF8A812BE}"/>
                    </a:ext>
                  </a:extLst>
                </p:cNvPr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3DEEC0A-45E8-2C67-D412-B92BD2EB405E}"/>
                    </a:ext>
                  </a:extLst>
                </p:cNvPr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727D2A13-DDB6-9714-C7D8-02320B473F2E}"/>
                    </a:ext>
                  </a:extLst>
                </p:cNvPr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DD832FED-F025-19AE-FAD0-FD7565743118}"/>
                    </a:ext>
                  </a:extLst>
                </p:cNvPr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55874C37-8FB5-35F3-6F3F-2CBD1A583FF1}"/>
                    </a:ext>
                  </a:extLst>
                </p:cNvPr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5B9F8BFD-0794-EE48-7FAB-DCE8E5AFCDE9}"/>
                  </a:ext>
                </a:extLst>
              </p:cNvPr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CE8E2707-012E-7613-185D-D655CB1D2427}"/>
                  </a:ext>
                </a:extLst>
              </p:cNvPr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</p:grp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FB9C079-F46C-9812-5271-C2FC1E585D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>
            <a:xfrm>
              <a:off x="2057437" y="1816300"/>
              <a:ext cx="7754636" cy="3876525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1A2BF9A-CA73-9D96-CF91-C6D359C075B9}"/>
              </a:ext>
            </a:extLst>
          </p:cNvPr>
          <p:cNvGrpSpPr/>
          <p:nvPr/>
        </p:nvGrpSpPr>
        <p:grpSpPr>
          <a:xfrm>
            <a:off x="1335024" y="2450592"/>
            <a:ext cx="722413" cy="356616"/>
            <a:chOff x="1335024" y="2450592"/>
            <a:chExt cx="722413" cy="356616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DF806875-A311-95A9-EF7C-E5D110E3F26B}"/>
                </a:ext>
              </a:extLst>
            </p:cNvPr>
            <p:cNvCxnSpPr/>
            <p:nvPr/>
          </p:nvCxnSpPr>
          <p:spPr>
            <a:xfrm flipH="1">
              <a:off x="1636776" y="2807208"/>
              <a:ext cx="420661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7719EB71-BBB8-C4B7-E020-A8C181C2249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35024" y="2450592"/>
              <a:ext cx="301752" cy="356616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Заголовок 27">
            <a:extLst>
              <a:ext uri="{FF2B5EF4-FFF2-40B4-BE49-F238E27FC236}">
                <a16:creationId xmlns:a16="http://schemas.microsoft.com/office/drawing/2014/main" id="{BED98625-5EA9-3D52-2504-1995F65B39A6}"/>
              </a:ext>
            </a:extLst>
          </p:cNvPr>
          <p:cNvSpPr txBox="1">
            <a:spLocks/>
          </p:cNvSpPr>
          <p:nvPr/>
        </p:nvSpPr>
        <p:spPr bwMode="auto">
          <a:xfrm>
            <a:off x="406693" y="2058755"/>
            <a:ext cx="1649496" cy="42572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/>
              </a:defRPr>
            </a:lvl1pPr>
          </a:lstStyle>
          <a:p>
            <a:pPr algn="ctr">
              <a:defRPr/>
            </a:pPr>
            <a:r>
              <a:rPr lang="ru-RU" b="0" dirty="0">
                <a:solidFill>
                  <a:schemeClr val="accent5"/>
                </a:solidFill>
              </a:rPr>
              <a:t>техника</a:t>
            </a:r>
            <a:br>
              <a:rPr lang="ru-RU" b="0" dirty="0">
                <a:solidFill>
                  <a:schemeClr val="accent5"/>
                </a:solidFill>
              </a:rPr>
            </a:br>
            <a:r>
              <a:rPr lang="ru-RU" b="0" dirty="0">
                <a:solidFill>
                  <a:schemeClr val="accent5"/>
                </a:solidFill>
              </a:rPr>
              <a:t>на кадре</a:t>
            </a:r>
          </a:p>
        </p:txBody>
      </p:sp>
      <p:sp>
        <p:nvSpPr>
          <p:cNvPr id="18" name="Заголовок 27">
            <a:extLst>
              <a:ext uri="{FF2B5EF4-FFF2-40B4-BE49-F238E27FC236}">
                <a16:creationId xmlns:a16="http://schemas.microsoft.com/office/drawing/2014/main" id="{BED98625-5EA9-3D52-2504-1995F65B39A6}"/>
              </a:ext>
            </a:extLst>
          </p:cNvPr>
          <p:cNvSpPr txBox="1">
            <a:spLocks/>
          </p:cNvSpPr>
          <p:nvPr/>
        </p:nvSpPr>
        <p:spPr bwMode="auto">
          <a:xfrm>
            <a:off x="2057437" y="5930000"/>
            <a:ext cx="7754636" cy="520000"/>
          </a:xfrm>
          <a:prstGeom prst="rect">
            <a:avLst/>
          </a:prstGeom>
        </p:spPr>
        <p:txBody>
          <a:bodyPr vert="horz" lIns="91440" tIns="45720" rIns="91440" bIns="45720" rtlCol="0" anchor="b" anchorCtr="0" wrap="square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/>
              </a:defRPr>
            </a:lvl1pPr>
          </a:lstStyle>
          <a:p>
            <a:pPr algn="ctr">
              <a:defRPr/>
            </a:pPr>
            <a:r>
              <a:rPr lang="ru-RU" b="0" dirty="0" sz="1200">
                <a:solidFill>
                  <a:schemeClr val="accent5"/>
                </a:solidFill>
              </a:rPr>
              <a:t>Детектор находит технику и людей. У каждой машины — участок и состояние: стоит на месте или сдвинулась с прошлого окна.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365920140" name="Скругленный прямоугольник 1">
            <a:extLst>
              <a:ext uri="{FF2B5EF4-FFF2-40B4-BE49-F238E27FC236}">
                <a16:creationId xmlns:a16="http://schemas.microsoft.com/office/drawing/2014/main" id="{A2896616-099A-7A75-2BB1-F1C452A3518A}"/>
              </a:ext>
            </a:extLst>
          </p:cNvPr>
          <p:cNvSpPr/>
          <p:nvPr/>
        </p:nvSpPr>
        <p:spPr bwMode="auto">
          <a:xfrm>
            <a:off x="346075" y="324562"/>
            <a:ext cx="5476817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8502126" name="Номер слайда 6">
            <a:extLst>
              <a:ext uri="{FF2B5EF4-FFF2-40B4-BE49-F238E27FC236}">
                <a16:creationId xmlns:a16="http://schemas.microsoft.com/office/drawing/2014/main" id="{F36DE4B1-1538-40F6-1960-D016DA3715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548536300" name="Заголовок 13">
            <a:extLst>
              <a:ext uri="{FF2B5EF4-FFF2-40B4-BE49-F238E27FC236}">
                <a16:creationId xmlns:a16="http://schemas.microsoft.com/office/drawing/2014/main" id="{06182070-1D05-43F0-45F4-8FA12018693B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5326817" cy="376138"/>
          </a:xfrm>
        </p:spPr>
        <p:txBody>
          <a:bodyPr/>
          <a:lstStyle/>
          <a:p>
            <a:pPr>
              <a:defRPr/>
            </a:pPr>
            <a:r>
              <a:rPr lang="ru-RU" dirty="0"/>
              <a:t>ШАГ 2 · ПРЕДУПРЕЖДЕНИЕ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9ACF152-CEEF-4662-9614-8AFC5625DBAE}"/>
              </a:ext>
            </a:extLst>
          </p:cNvPr>
          <p:cNvGrpSpPr/>
          <p:nvPr/>
        </p:nvGrpSpPr>
        <p:grpSpPr>
          <a:xfrm>
            <a:off x="2057437" y="1042144"/>
            <a:ext cx="7757132" cy="4806563"/>
            <a:chOff x="2057437" y="1042144"/>
            <a:chExt cx="7757132" cy="4806563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94E30DC1-8178-5947-5DB3-C19372CFEFFE}"/>
                </a:ext>
              </a:extLst>
            </p:cNvPr>
            <p:cNvGrpSpPr/>
            <p:nvPr/>
          </p:nvGrpSpPr>
          <p:grpSpPr bwMode="auto">
            <a:xfrm>
              <a:off x="2057437" y="1042144"/>
              <a:ext cx="7757132" cy="4806563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08D97072-A55B-EE0C-10E2-8CE3BF80E9B5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4A46D859-2D11-296D-E53F-D6679853D729}"/>
                  </a:ext>
                </a:extLst>
              </p:cNvPr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76BE853F-1323-5A8F-56A3-F7F7B1B51E17}"/>
                  </a:ext>
                </a:extLst>
              </p:cNvPr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C51E5813-E2B3-C6BD-243F-DDB172626BB8}"/>
                  </a:ext>
                </a:extLst>
              </p:cNvPr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BD82CFD7-8DDC-7B50-DDC1-20BA4372A3A9}"/>
                  </a:ext>
                </a:extLst>
              </p:cNvPr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DB656046-28F1-D81C-B0F2-015726AC32B3}"/>
                  </a:ext>
                </a:extLst>
              </p:cNvPr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7C79FEA1-7C2E-16A6-791A-436CC93E8A8A}"/>
                  </a:ext>
                </a:extLst>
              </p:cNvPr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6765572F-A40A-4204-D9D6-DD466B243FA3}"/>
                    </a:ext>
                  </a:extLst>
                </p:cNvPr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AB0CA85B-8E22-E677-2DF5-567F748E32EB}"/>
                    </a:ext>
                  </a:extLst>
                </p:cNvPr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9C65AC97-91A8-5C57-E0D6-2DBA758C866F}"/>
                    </a:ext>
                  </a:extLst>
                </p:cNvPr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9CE1E1B1-7C8F-D112-5D1C-07012CFC0525}"/>
                    </a:ext>
                  </a:extLst>
                </p:cNvPr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A9BEA9BC-489B-C1D0-06E6-2DFBF8A812BE}"/>
                    </a:ext>
                  </a:extLst>
                </p:cNvPr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3DEEC0A-45E8-2C67-D412-B92BD2EB405E}"/>
                    </a:ext>
                  </a:extLst>
                </p:cNvPr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727D2A13-DDB6-9714-C7D8-02320B473F2E}"/>
                    </a:ext>
                  </a:extLst>
                </p:cNvPr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DD832FED-F025-19AE-FAD0-FD7565743118}"/>
                    </a:ext>
                  </a:extLst>
                </p:cNvPr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55874C37-8FB5-35F3-6F3F-2CBD1A583FF1}"/>
                    </a:ext>
                  </a:extLst>
                </p:cNvPr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5B9F8BFD-0794-EE48-7FAB-DCE8E5AFCDE9}"/>
                  </a:ext>
                </a:extLst>
              </p:cNvPr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CE8E2707-012E-7613-185D-D655CB1D2427}"/>
                  </a:ext>
                </a:extLst>
              </p:cNvPr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</p:grp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FB9C079-F46C-9812-5271-C2FC1E585D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>
            <a:xfrm>
              <a:off x="2057437" y="1816300"/>
              <a:ext cx="7754636" cy="3876525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1A2BF9A-CA73-9D96-CF91-C6D359C075B9}"/>
              </a:ext>
            </a:extLst>
          </p:cNvPr>
          <p:cNvGrpSpPr/>
          <p:nvPr/>
        </p:nvGrpSpPr>
        <p:grpSpPr>
          <a:xfrm>
            <a:off x="1335024" y="2450592"/>
            <a:ext cx="722413" cy="356616"/>
            <a:chOff x="1335024" y="2450592"/>
            <a:chExt cx="722413" cy="356616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DF806875-A311-95A9-EF7C-E5D110E3F26B}"/>
                </a:ext>
              </a:extLst>
            </p:cNvPr>
            <p:cNvCxnSpPr/>
            <p:nvPr/>
          </p:nvCxnSpPr>
          <p:spPr>
            <a:xfrm flipH="1">
              <a:off x="1636776" y="2807208"/>
              <a:ext cx="420661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7719EB71-BBB8-C4B7-E020-A8C181C2249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35024" y="2450592"/>
              <a:ext cx="301752" cy="356616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Заголовок 27">
            <a:extLst>
              <a:ext uri="{FF2B5EF4-FFF2-40B4-BE49-F238E27FC236}">
                <a16:creationId xmlns:a16="http://schemas.microsoft.com/office/drawing/2014/main" id="{BED98625-5EA9-3D52-2504-1995F65B39A6}"/>
              </a:ext>
            </a:extLst>
          </p:cNvPr>
          <p:cNvSpPr txBox="1">
            <a:spLocks/>
          </p:cNvSpPr>
          <p:nvPr/>
        </p:nvSpPr>
        <p:spPr bwMode="auto">
          <a:xfrm>
            <a:off x="406693" y="2058755"/>
            <a:ext cx="1649496" cy="42572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/>
              </a:defRPr>
            </a:lvl1pPr>
          </a:lstStyle>
          <a:p>
            <a:pPr algn="ctr">
              <a:defRPr/>
            </a:pPr>
            <a:r>
              <a:rPr lang="ru-RU" b="0" dirty="0">
                <a:solidFill>
                  <a:schemeClr val="accent5"/>
                </a:solidFill>
              </a:rPr>
              <a:t>числа</a:t>
            </a:r>
            <a:br>
              <a:rPr lang="ru-RU" b="0" dirty="0">
                <a:solidFill>
                  <a:schemeClr val="accent5"/>
                </a:solidFill>
              </a:rPr>
            </a:br>
            <a:r>
              <a:rPr lang="ru-RU" b="0" dirty="0">
                <a:solidFill>
                  <a:schemeClr val="accent5"/>
                </a:solidFill>
              </a:rPr>
              <a:t>и снимок</a:t>
            </a:r>
          </a:p>
        </p:txBody>
      </p:sp>
      <p:sp>
        <p:nvSpPr>
          <p:cNvPr id="18" name="Заголовок 27">
            <a:extLst>
              <a:ext uri="{FF2B5EF4-FFF2-40B4-BE49-F238E27FC236}">
                <a16:creationId xmlns:a16="http://schemas.microsoft.com/office/drawing/2014/main" id="{BED98625-5EA9-3D52-2504-1995F65B39A6}"/>
              </a:ext>
            </a:extLst>
          </p:cNvPr>
          <p:cNvSpPr txBox="1">
            <a:spLocks/>
          </p:cNvSpPr>
          <p:nvPr/>
        </p:nvSpPr>
        <p:spPr bwMode="auto">
          <a:xfrm>
            <a:off x="2057437" y="5930000"/>
            <a:ext cx="7754636" cy="520000"/>
          </a:xfrm>
          <a:prstGeom prst="rect">
            <a:avLst/>
          </a:prstGeom>
        </p:spPr>
        <p:txBody>
          <a:bodyPr vert="horz" lIns="91440" tIns="45720" rIns="91440" bIns="45720" rtlCol="0" anchor="b" anchorCtr="0" wrap="square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/>
              </a:defRPr>
            </a:lvl1pPr>
          </a:lstStyle>
          <a:p>
            <a:pPr algn="ctr">
              <a:defRPr/>
            </a:pPr>
            <a:r>
              <a:rPr lang="ru-RU" b="0" dirty="0" sz="1200">
                <a:solidFill>
                  <a:schemeClr val="accent5"/>
                </a:solidFill>
              </a:rPr>
              <a:t>D10: склад 8 сессий подряд не виден ни одной камерой. Вывод — «проверить вручную», а не «пусто». Оператор ставит вердикт.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365920140" name="Скругленный прямоугольник 1">
            <a:extLst>
              <a:ext uri="{FF2B5EF4-FFF2-40B4-BE49-F238E27FC236}">
                <a16:creationId xmlns:a16="http://schemas.microsoft.com/office/drawing/2014/main" id="{A2896616-099A-7A75-2BB1-F1C452A3518A}"/>
              </a:ext>
            </a:extLst>
          </p:cNvPr>
          <p:cNvSpPr/>
          <p:nvPr/>
        </p:nvSpPr>
        <p:spPr bwMode="auto">
          <a:xfrm>
            <a:off x="346075" y="324562"/>
            <a:ext cx="3485247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8502126" name="Номер слайда 6">
            <a:extLst>
              <a:ext uri="{FF2B5EF4-FFF2-40B4-BE49-F238E27FC236}">
                <a16:creationId xmlns:a16="http://schemas.microsoft.com/office/drawing/2014/main" id="{F36DE4B1-1538-40F6-1960-D016DA3715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548536300" name="Заголовок 13">
            <a:extLst>
              <a:ext uri="{FF2B5EF4-FFF2-40B4-BE49-F238E27FC236}">
                <a16:creationId xmlns:a16="http://schemas.microsoft.com/office/drawing/2014/main" id="{06182070-1D05-43F0-45F4-8FA12018693B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3335247" cy="376138"/>
          </a:xfrm>
        </p:spPr>
        <p:txBody>
          <a:bodyPr/>
          <a:lstStyle/>
          <a:p>
            <a:pPr>
              <a:defRPr/>
            </a:pPr>
            <a:r>
              <a:rPr lang="ru-RU" dirty="0"/>
              <a:t>ШАГ 3 · СВОДКА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9ACF152-CEEF-4662-9614-8AFC5625DBAE}"/>
              </a:ext>
            </a:extLst>
          </p:cNvPr>
          <p:cNvGrpSpPr/>
          <p:nvPr/>
        </p:nvGrpSpPr>
        <p:grpSpPr>
          <a:xfrm>
            <a:off x="2057437" y="1042144"/>
            <a:ext cx="7757132" cy="4806563"/>
            <a:chOff x="2057437" y="1042144"/>
            <a:chExt cx="7757132" cy="4806563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94E30DC1-8178-5947-5DB3-C19372CFEFFE}"/>
                </a:ext>
              </a:extLst>
            </p:cNvPr>
            <p:cNvGrpSpPr/>
            <p:nvPr/>
          </p:nvGrpSpPr>
          <p:grpSpPr bwMode="auto">
            <a:xfrm>
              <a:off x="2057437" y="1042144"/>
              <a:ext cx="7757132" cy="4806563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08D97072-A55B-EE0C-10E2-8CE3BF80E9B5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4A46D859-2D11-296D-E53F-D6679853D729}"/>
                  </a:ext>
                </a:extLst>
              </p:cNvPr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76BE853F-1323-5A8F-56A3-F7F7B1B51E17}"/>
                  </a:ext>
                </a:extLst>
              </p:cNvPr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C51E5813-E2B3-C6BD-243F-DDB172626BB8}"/>
                  </a:ext>
                </a:extLst>
              </p:cNvPr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BD82CFD7-8DDC-7B50-DDC1-20BA4372A3A9}"/>
                  </a:ext>
                </a:extLst>
              </p:cNvPr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DB656046-28F1-D81C-B0F2-015726AC32B3}"/>
                  </a:ext>
                </a:extLst>
              </p:cNvPr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7C79FEA1-7C2E-16A6-791A-436CC93E8A8A}"/>
                  </a:ext>
                </a:extLst>
              </p:cNvPr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6765572F-A40A-4204-D9D6-DD466B243FA3}"/>
                    </a:ext>
                  </a:extLst>
                </p:cNvPr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AB0CA85B-8E22-E677-2DF5-567F748E32EB}"/>
                    </a:ext>
                  </a:extLst>
                </p:cNvPr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9C65AC97-91A8-5C57-E0D6-2DBA758C866F}"/>
                    </a:ext>
                  </a:extLst>
                </p:cNvPr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9CE1E1B1-7C8F-D112-5D1C-07012CFC0525}"/>
                    </a:ext>
                  </a:extLst>
                </p:cNvPr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A9BEA9BC-489B-C1D0-06E6-2DFBF8A812BE}"/>
                    </a:ext>
                  </a:extLst>
                </p:cNvPr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3DEEC0A-45E8-2C67-D412-B92BD2EB405E}"/>
                    </a:ext>
                  </a:extLst>
                </p:cNvPr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727D2A13-DDB6-9714-C7D8-02320B473F2E}"/>
                    </a:ext>
                  </a:extLst>
                </p:cNvPr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DD832FED-F025-19AE-FAD0-FD7565743118}"/>
                    </a:ext>
                  </a:extLst>
                </p:cNvPr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55874C37-8FB5-35F3-6F3F-2CBD1A583FF1}"/>
                    </a:ext>
                  </a:extLst>
                </p:cNvPr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5B9F8BFD-0794-EE48-7FAB-DCE8E5AFCDE9}"/>
                  </a:ext>
                </a:extLst>
              </p:cNvPr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CE8E2707-012E-7613-185D-D655CB1D2427}"/>
                  </a:ext>
                </a:extLst>
              </p:cNvPr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</p:grp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FB9C079-F46C-9812-5271-C2FC1E585D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>
            <a:xfrm>
              <a:off x="2057437" y="1816300"/>
              <a:ext cx="7754636" cy="3876525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1A2BF9A-CA73-9D96-CF91-C6D359C075B9}"/>
              </a:ext>
            </a:extLst>
          </p:cNvPr>
          <p:cNvGrpSpPr/>
          <p:nvPr/>
        </p:nvGrpSpPr>
        <p:grpSpPr>
          <a:xfrm>
            <a:off x="1335024" y="2450592"/>
            <a:ext cx="722413" cy="356616"/>
            <a:chOff x="1335024" y="2450592"/>
            <a:chExt cx="722413" cy="356616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DF806875-A311-95A9-EF7C-E5D110E3F26B}"/>
                </a:ext>
              </a:extLst>
            </p:cNvPr>
            <p:cNvCxnSpPr/>
            <p:nvPr/>
          </p:nvCxnSpPr>
          <p:spPr>
            <a:xfrm flipH="1">
              <a:off x="1636776" y="2807208"/>
              <a:ext cx="420661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7719EB71-BBB8-C4B7-E020-A8C181C2249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35024" y="2450592"/>
              <a:ext cx="301752" cy="356616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Заголовок 27">
            <a:extLst>
              <a:ext uri="{FF2B5EF4-FFF2-40B4-BE49-F238E27FC236}">
                <a16:creationId xmlns:a16="http://schemas.microsoft.com/office/drawing/2014/main" id="{BED98625-5EA9-3D52-2504-1995F65B39A6}"/>
              </a:ext>
            </a:extLst>
          </p:cNvPr>
          <p:cNvSpPr txBox="1">
            <a:spLocks/>
          </p:cNvSpPr>
          <p:nvPr/>
        </p:nvSpPr>
        <p:spPr bwMode="auto">
          <a:xfrm>
            <a:off x="406693" y="2058755"/>
            <a:ext cx="1649496" cy="42572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/>
              </a:defRPr>
            </a:lvl1pPr>
          </a:lstStyle>
          <a:p>
            <a:pPr algn="ctr">
              <a:defRPr/>
            </a:pPr>
            <a:r>
              <a:rPr lang="ru-RU" b="0" dirty="0">
                <a:solidFill>
                  <a:schemeClr val="accent5"/>
                </a:solidFill>
              </a:rPr>
              <a:t>статус</a:t>
            </a:r>
            <a:br>
              <a:rPr lang="ru-RU" b="0" dirty="0">
                <a:solidFill>
                  <a:schemeClr val="accent5"/>
                </a:solidFill>
              </a:rPr>
            </a:br>
            <a:r>
              <a:rPr lang="ru-RU" b="0" dirty="0">
                <a:solidFill>
                  <a:schemeClr val="accent5"/>
                </a:solidFill>
              </a:rPr>
              <a:t>объекта</a:t>
            </a:r>
          </a:p>
        </p:txBody>
      </p:sp>
      <p:sp>
        <p:nvSpPr>
          <p:cNvPr id="18" name="Заголовок 27">
            <a:extLst>
              <a:ext uri="{FF2B5EF4-FFF2-40B4-BE49-F238E27FC236}">
                <a16:creationId xmlns:a16="http://schemas.microsoft.com/office/drawing/2014/main" id="{BED98625-5EA9-3D52-2504-1995F65B39A6}"/>
              </a:ext>
            </a:extLst>
          </p:cNvPr>
          <p:cNvSpPr txBox="1">
            <a:spLocks/>
          </p:cNvSpPr>
          <p:nvPr/>
        </p:nvSpPr>
        <p:spPr bwMode="auto">
          <a:xfrm>
            <a:off x="2057437" y="5930000"/>
            <a:ext cx="7754636" cy="520000"/>
          </a:xfrm>
          <a:prstGeom prst="rect">
            <a:avLst/>
          </a:prstGeom>
        </p:spPr>
        <p:txBody>
          <a:bodyPr vert="horz" lIns="91440" tIns="45720" rIns="91440" bIns="45720" rtlCol="0" anchor="b" anchorCtr="0" wrap="square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/>
              </a:defRPr>
            </a:lvl1pPr>
          </a:lstStyle>
          <a:p>
            <a:pPr algn="ctr">
              <a:defRPr/>
            </a:pPr>
            <a:r>
              <a:rPr lang="ru-RU" b="0" dirty="0" sz="1200">
                <a:solidFill>
                  <a:schemeClr val="accent5"/>
                </a:solidFill>
              </a:rPr>
              <a:t>SPI 0,98, видимость участков 92 %, 4 дня наблюдений: объект в графике, открытых предупреждений нет.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365920140" name="Скругленный прямоугольник 1">
            <a:extLst>
              <a:ext uri="{FF2B5EF4-FFF2-40B4-BE49-F238E27FC236}">
                <a16:creationId xmlns:a16="http://schemas.microsoft.com/office/drawing/2014/main" id="{A2896616-099A-7A75-2BB1-F1C452A3518A}"/>
              </a:ext>
            </a:extLst>
          </p:cNvPr>
          <p:cNvSpPr/>
          <p:nvPr/>
        </p:nvSpPr>
        <p:spPr bwMode="auto">
          <a:xfrm>
            <a:off x="346075" y="324562"/>
            <a:ext cx="3734193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8502126" name="Номер слайда 6">
            <a:extLst>
              <a:ext uri="{FF2B5EF4-FFF2-40B4-BE49-F238E27FC236}">
                <a16:creationId xmlns:a16="http://schemas.microsoft.com/office/drawing/2014/main" id="{F36DE4B1-1538-40F6-1960-D016DA3715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548536300" name="Заголовок 13">
            <a:extLst>
              <a:ext uri="{FF2B5EF4-FFF2-40B4-BE49-F238E27FC236}">
                <a16:creationId xmlns:a16="http://schemas.microsoft.com/office/drawing/2014/main" id="{06182070-1D05-43F0-45F4-8FA12018693B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3584193" cy="376138"/>
          </a:xfrm>
        </p:spPr>
        <p:txBody>
          <a:bodyPr/>
          <a:lstStyle/>
          <a:p>
            <a:pPr>
              <a:defRPr/>
            </a:pPr>
            <a:r>
              <a:rPr lang="ru-RU" dirty="0"/>
              <a:t>ШАГ 4 · ПРОГНОЗ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9ACF152-CEEF-4662-9614-8AFC5625DBAE}"/>
              </a:ext>
            </a:extLst>
          </p:cNvPr>
          <p:cNvGrpSpPr/>
          <p:nvPr/>
        </p:nvGrpSpPr>
        <p:grpSpPr>
          <a:xfrm>
            <a:off x="2057437" y="1042144"/>
            <a:ext cx="7757132" cy="4806563"/>
            <a:chOff x="2057437" y="1042144"/>
            <a:chExt cx="7757132" cy="4806563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94E30DC1-8178-5947-5DB3-C19372CFEFFE}"/>
                </a:ext>
              </a:extLst>
            </p:cNvPr>
            <p:cNvGrpSpPr/>
            <p:nvPr/>
          </p:nvGrpSpPr>
          <p:grpSpPr bwMode="auto">
            <a:xfrm>
              <a:off x="2057437" y="1042144"/>
              <a:ext cx="7757132" cy="4806563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08D97072-A55B-EE0C-10E2-8CE3BF80E9B5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4A46D859-2D11-296D-E53F-D6679853D729}"/>
                  </a:ext>
                </a:extLst>
              </p:cNvPr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76BE853F-1323-5A8F-56A3-F7F7B1B51E17}"/>
                  </a:ext>
                </a:extLst>
              </p:cNvPr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C51E5813-E2B3-C6BD-243F-DDB172626BB8}"/>
                  </a:ext>
                </a:extLst>
              </p:cNvPr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BD82CFD7-8DDC-7B50-DDC1-20BA4372A3A9}"/>
                  </a:ext>
                </a:extLst>
              </p:cNvPr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DB656046-28F1-D81C-B0F2-015726AC32B3}"/>
                  </a:ext>
                </a:extLst>
              </p:cNvPr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7C79FEA1-7C2E-16A6-791A-436CC93E8A8A}"/>
                  </a:ext>
                </a:extLst>
              </p:cNvPr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6765572F-A40A-4204-D9D6-DD466B243FA3}"/>
                    </a:ext>
                  </a:extLst>
                </p:cNvPr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AB0CA85B-8E22-E677-2DF5-567F748E32EB}"/>
                    </a:ext>
                  </a:extLst>
                </p:cNvPr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9C65AC97-91A8-5C57-E0D6-2DBA758C866F}"/>
                    </a:ext>
                  </a:extLst>
                </p:cNvPr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9CE1E1B1-7C8F-D112-5D1C-07012CFC0525}"/>
                    </a:ext>
                  </a:extLst>
                </p:cNvPr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A9BEA9BC-489B-C1D0-06E6-2DFBF8A812BE}"/>
                    </a:ext>
                  </a:extLst>
                </p:cNvPr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3DEEC0A-45E8-2C67-D412-B92BD2EB405E}"/>
                    </a:ext>
                  </a:extLst>
                </p:cNvPr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727D2A13-DDB6-9714-C7D8-02320B473F2E}"/>
                    </a:ext>
                  </a:extLst>
                </p:cNvPr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DD832FED-F025-19AE-FAD0-FD7565743118}"/>
                    </a:ext>
                  </a:extLst>
                </p:cNvPr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55874C37-8FB5-35F3-6F3F-2CBD1A583FF1}"/>
                    </a:ext>
                  </a:extLst>
                </p:cNvPr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5B9F8BFD-0794-EE48-7FAB-DCE8E5AFCDE9}"/>
                  </a:ext>
                </a:extLst>
              </p:cNvPr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CE8E2707-012E-7613-185D-D655CB1D2427}"/>
                  </a:ext>
                </a:extLst>
              </p:cNvPr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</p:grp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FB9C079-F46C-9812-5271-C2FC1E585D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>
            <a:xfrm>
              <a:off x="2057437" y="1816300"/>
              <a:ext cx="7754636" cy="3876525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1A2BF9A-CA73-9D96-CF91-C6D359C075B9}"/>
              </a:ext>
            </a:extLst>
          </p:cNvPr>
          <p:cNvGrpSpPr/>
          <p:nvPr/>
        </p:nvGrpSpPr>
        <p:grpSpPr>
          <a:xfrm>
            <a:off x="1335024" y="2450592"/>
            <a:ext cx="722413" cy="356616"/>
            <a:chOff x="1335024" y="2450592"/>
            <a:chExt cx="722413" cy="356616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DF806875-A311-95A9-EF7C-E5D110E3F26B}"/>
                </a:ext>
              </a:extLst>
            </p:cNvPr>
            <p:cNvCxnSpPr/>
            <p:nvPr/>
          </p:nvCxnSpPr>
          <p:spPr>
            <a:xfrm flipH="1">
              <a:off x="1636776" y="2807208"/>
              <a:ext cx="420661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7719EB71-BBB8-C4B7-E020-A8C181C2249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35024" y="2450592"/>
              <a:ext cx="301752" cy="356616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Заголовок 27">
            <a:extLst>
              <a:ext uri="{FF2B5EF4-FFF2-40B4-BE49-F238E27FC236}">
                <a16:creationId xmlns:a16="http://schemas.microsoft.com/office/drawing/2014/main" id="{BED98625-5EA9-3D52-2504-1995F65B39A6}"/>
              </a:ext>
            </a:extLst>
          </p:cNvPr>
          <p:cNvSpPr txBox="1">
            <a:spLocks/>
          </p:cNvSpPr>
          <p:nvPr/>
        </p:nvSpPr>
        <p:spPr bwMode="auto">
          <a:xfrm>
            <a:off x="406693" y="2058755"/>
            <a:ext cx="1649496" cy="42572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/>
              </a:defRPr>
            </a:lvl1pPr>
          </a:lstStyle>
          <a:p>
            <a:pPr algn="ctr">
              <a:defRPr/>
            </a:pPr>
            <a:r>
              <a:rPr lang="ru-RU" b="0" dirty="0">
                <a:solidFill>
                  <a:schemeClr val="accent5"/>
                </a:solidFill>
              </a:rPr>
              <a:t>риск</a:t>
            </a:r>
            <a:br>
              <a:rPr lang="ru-RU" b="0" dirty="0">
                <a:solidFill>
                  <a:schemeClr val="accent5"/>
                </a:solidFill>
              </a:rPr>
            </a:br>
            <a:r>
              <a:rPr lang="ru-RU" b="0" dirty="0">
                <a:solidFill>
                  <a:schemeClr val="accent5"/>
                </a:solidFill>
              </a:rPr>
              <a:t>по срокам</a:t>
            </a:r>
          </a:p>
        </p:txBody>
      </p:sp>
      <p:sp>
        <p:nvSpPr>
          <p:cNvPr id="18" name="Заголовок 27">
            <a:extLst>
              <a:ext uri="{FF2B5EF4-FFF2-40B4-BE49-F238E27FC236}">
                <a16:creationId xmlns:a16="http://schemas.microsoft.com/office/drawing/2014/main" id="{BED98625-5EA9-3D52-2504-1995F65B39A6}"/>
              </a:ext>
            </a:extLst>
          </p:cNvPr>
          <p:cNvSpPr txBox="1">
            <a:spLocks/>
          </p:cNvSpPr>
          <p:nvPr/>
        </p:nvSpPr>
        <p:spPr bwMode="auto">
          <a:xfrm>
            <a:off x="2057437" y="5930000"/>
            <a:ext cx="7754636" cy="520000"/>
          </a:xfrm>
          <a:prstGeom prst="rect">
            <a:avLst/>
          </a:prstGeom>
        </p:spPr>
        <p:txBody>
          <a:bodyPr vert="horz" lIns="91440" tIns="45720" rIns="91440" bIns="45720" rtlCol="0" anchor="b" anchorCtr="0" wrap="square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/>
              </a:defRPr>
            </a:lvl1pPr>
          </a:lstStyle>
          <a:p>
            <a:pPr algn="ctr">
              <a:defRPr/>
            </a:pPr>
            <a:r>
              <a:rPr lang="ru-RU" b="0" dirty="0" sz="1200">
                <a:solidFill>
                  <a:schemeClr val="accent5"/>
                </a:solidFill>
              </a:rPr>
              <a:t>Объект с отставанием: +24 раб. дн. по критическому пути, SPI 0,71. Этапы в риске — с плановой и прогнозной датой.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CB96DE-42B5-C482-522D-5399513453F5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12294" name="Скругленный прямоугольник 2">
            <a:extLst>
              <a:ext uri="{FF2B5EF4-FFF2-40B4-BE49-F238E27FC236}">
                <a16:creationId xmlns:a16="http://schemas.microsoft.com/office/drawing/2014/main" id="{0935B526-6572-9F62-FAD7-170CE8FD11D0}"/>
              </a:ext>
            </a:extLst>
          </p:cNvPr>
          <p:cNvSpPr/>
          <p:nvPr/>
        </p:nvSpPr>
        <p:spPr bwMode="auto"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00372309" name="Номер слайда 6">
            <a:extLst>
              <a:ext uri="{FF2B5EF4-FFF2-40B4-BE49-F238E27FC236}">
                <a16:creationId xmlns:a16="http://schemas.microsoft.com/office/drawing/2014/main" id="{254E12BA-0303-871B-0BA4-5E614F67FC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11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920462955" name="Текст 3">
            <a:extLst>
              <a:ext uri="{FF2B5EF4-FFF2-40B4-BE49-F238E27FC236}">
                <a16:creationId xmlns:a16="http://schemas.microsoft.com/office/drawing/2014/main" id="{CDA7A03A-1920-4EEB-0A1C-614FA18F1D6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auto">
          <a:xfrm>
            <a:off x="8292891" y="1105718"/>
            <a:ext cx="3626835" cy="5008871"/>
          </a:xfrm>
        </p:spPr>
        <p:txBody>
          <a:bodyPr>
            <a:noAutofit/>
          </a:bodyPr>
          <a:lstStyle/>
          <a:p>
            <a:pPr>
              <a:defRPr/>
            </a:pPr>
            <a:r>
              <a:rPr lang="ru-RU" b="1" dirty="0">
                <a:solidFill>
                  <a:schemeClr val="accent1"/>
                </a:solidFill>
              </a:rPr>
              <a:t>Обязательная техника</a:t>
            </a:r>
          </a:p>
          <a:p>
            <a:pPr lvl="1">
              <a:defRPr/>
            </a:pPr>
            <a:r>
              <a:rPr lang="en-US" sz="1450" dirty="0" err="1">
                <a:solidFill>
                  <a:schemeClr val="tx1"/>
                </a:solidFill>
              </a:rPr>
              <a:t>Группы классов с минимальным числом машин. Нет ни одной группы — D1, собрана только часть — D2</a:t>
            </a:r>
            <a:endParaRPr lang="ru-RU" sz="145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b="1" dirty="0">
                <a:solidFill>
                  <a:schemeClr val="accent1"/>
                </a:solidFill>
              </a:rPr>
              <a:t>Допустимая техника</a:t>
            </a:r>
          </a:p>
          <a:p>
            <a:pPr lvl="1">
              <a:defRPr/>
            </a:pPr>
            <a:r>
              <a:rPr lang="en-US" sz="1450" dirty="0" err="1">
                <a:solidFill>
                  <a:schemeClr val="tx1"/>
                </a:solidFill>
              </a:rPr>
              <a:t>Классы, которые могут работать на этапе, но не требуются. Всё остальное — D3 «техника не по этапу»</a:t>
            </a:r>
          </a:p>
          <a:p>
            <a:pPr>
              <a:defRPr/>
            </a:pPr>
            <a:r>
              <a:rPr lang="ru-RU" b="1" dirty="0">
                <a:solidFill>
                  <a:schemeClr val="accent1"/>
                </a:solidFill>
              </a:rPr>
              <a:t>Признак старта</a:t>
            </a:r>
          </a:p>
          <a:p>
            <a:pPr lvl="1">
              <a:defRPr/>
            </a:pPr>
            <a:r>
              <a:rPr lang="en-US" sz="1450" dirty="0" err="1">
                <a:solidFill>
                  <a:schemeClr val="tx1"/>
                </a:solidFill>
              </a:rPr>
              <a:t>Какие классы вместе означают начало этапа: по нему система находит фактический старт</a:t>
            </a:r>
            <a:endParaRPr lang="ru-RU" sz="145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b="1" dirty="0">
                <a:solidFill>
                  <a:schemeClr val="accent1"/>
                </a:solidFill>
              </a:rPr>
              <a:t>Устойчивость</a:t>
            </a:r>
          </a:p>
          <a:p>
            <a:pPr lvl="1">
              <a:defRPr/>
            </a:pPr>
            <a:r>
              <a:rPr lang="ru-RU" sz="1450" dirty="0">
                <a:solidFill>
                  <a:schemeClr val="tx1"/>
                </a:solidFill>
              </a:rPr>
              <a:t>Условие должно держаться несколько сессий подряд — одна случайная машина не даёт тревоги</a:t>
            </a:r>
            <a:endParaRPr lang="ru-RU" sz="1450" dirty="0">
              <a:solidFill>
                <a:schemeClr val="tx1"/>
              </a:solidFill>
            </a:endParaRPr>
          </a:p>
        </p:txBody>
      </p:sp>
      <p:sp>
        <p:nvSpPr>
          <p:cNvPr id="320200776" name="Заголовок 13">
            <a:extLst>
              <a:ext uri="{FF2B5EF4-FFF2-40B4-BE49-F238E27FC236}">
                <a16:creationId xmlns:a16="http://schemas.microsoft.com/office/drawing/2014/main" id="{2A26B42A-75D5-4CD7-B5A0-D3EF03F71C09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 dirty="0"/>
              <a:t>ЭТАП </a:t>
            </a:r>
            <a:r>
              <a:rPr lang="en-US" dirty="0"/>
              <a:t>→ </a:t>
            </a:r>
            <a:r>
              <a:rPr lang="ru-RU" dirty="0"/>
              <a:t>ТЕХНИКА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71AF724-D960-0C69-650F-400A12D68D4A}"/>
              </a:ext>
            </a:extLst>
          </p:cNvPr>
          <p:cNvGrpSpPr/>
          <p:nvPr/>
        </p:nvGrpSpPr>
        <p:grpSpPr>
          <a:xfrm>
            <a:off x="267284" y="1206873"/>
            <a:ext cx="7759626" cy="4806563"/>
            <a:chOff x="267284" y="1206873"/>
            <a:chExt cx="7759626" cy="4806563"/>
          </a:xfrm>
        </p:grpSpPr>
        <p:grpSp>
          <p:nvGrpSpPr>
            <p:cNvPr id="11" name="Group 83">
              <a:extLst>
                <a:ext uri="{FF2B5EF4-FFF2-40B4-BE49-F238E27FC236}">
                  <a16:creationId xmlns:a16="http://schemas.microsoft.com/office/drawing/2014/main" id="{24629891-711E-A87D-F209-A3318EC9252F}"/>
                </a:ext>
              </a:extLst>
            </p:cNvPr>
            <p:cNvGrpSpPr/>
            <p:nvPr/>
          </p:nvGrpSpPr>
          <p:grpSpPr bwMode="auto">
            <a:xfrm>
              <a:off x="269778" y="1206873"/>
              <a:ext cx="7757132" cy="4806563"/>
              <a:chOff x="1027152" y="2693983"/>
              <a:chExt cx="6796849" cy="4462905"/>
            </a:xfrm>
          </p:grpSpPr>
          <p:sp>
            <p:nvSpPr>
              <p:cNvPr id="13" name="AutoShape 1">
                <a:extLst>
                  <a:ext uri="{FF2B5EF4-FFF2-40B4-BE49-F238E27FC236}">
                    <a16:creationId xmlns:a16="http://schemas.microsoft.com/office/drawing/2014/main" id="{C7B85541-967C-329B-37B2-E0F36FA5F6F7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4" name="Rectangle 2">
                <a:extLst>
                  <a:ext uri="{FF2B5EF4-FFF2-40B4-BE49-F238E27FC236}">
                    <a16:creationId xmlns:a16="http://schemas.microsoft.com/office/drawing/2014/main" id="{56A350E0-2215-B3D7-835F-2AD5E4A17BFE}"/>
                  </a:ext>
                </a:extLst>
              </p:cNvPr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5" name="AutoShape 3">
                <a:extLst>
                  <a:ext uri="{FF2B5EF4-FFF2-40B4-BE49-F238E27FC236}">
                    <a16:creationId xmlns:a16="http://schemas.microsoft.com/office/drawing/2014/main" id="{88A3707E-5D2C-1E8A-9C6F-5BA49253539A}"/>
                  </a:ext>
                </a:extLst>
              </p:cNvPr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6" name="Oval 4">
                <a:extLst>
                  <a:ext uri="{FF2B5EF4-FFF2-40B4-BE49-F238E27FC236}">
                    <a16:creationId xmlns:a16="http://schemas.microsoft.com/office/drawing/2014/main" id="{746FC7D9-15FF-AAA2-5C0B-A0E13057E574}"/>
                  </a:ext>
                </a:extLst>
              </p:cNvPr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7" name="Oval 5">
                <a:extLst>
                  <a:ext uri="{FF2B5EF4-FFF2-40B4-BE49-F238E27FC236}">
                    <a16:creationId xmlns:a16="http://schemas.microsoft.com/office/drawing/2014/main" id="{A06E5E10-1469-22D7-58F5-AE2AC244CED1}"/>
                  </a:ext>
                </a:extLst>
              </p:cNvPr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8" name="Oval 6">
                <a:extLst>
                  <a:ext uri="{FF2B5EF4-FFF2-40B4-BE49-F238E27FC236}">
                    <a16:creationId xmlns:a16="http://schemas.microsoft.com/office/drawing/2014/main" id="{FF0AE1BF-89C4-0762-0DC8-46B2DDD6FDD3}"/>
                  </a:ext>
                </a:extLst>
              </p:cNvPr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7AD0B4E-28FA-A190-1993-3648D7BEC2A0}"/>
                  </a:ext>
                </a:extLst>
              </p:cNvPr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ACA41B05-9F49-38DF-A1D8-ADD78F567C2A}"/>
                    </a:ext>
                  </a:extLst>
                </p:cNvPr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B414A41D-2999-A268-0F40-819FA8F982EF}"/>
                    </a:ext>
                  </a:extLst>
                </p:cNvPr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9DB6C1B4-6C35-8FDB-0CD1-7C6BFFE3094E}"/>
                    </a:ext>
                  </a:extLst>
                </p:cNvPr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C7D8B99D-63D5-A8DD-32AA-CE4C41366A33}"/>
                    </a:ext>
                  </a:extLst>
                </p:cNvPr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62F2555B-B73A-4B2C-7286-D04C9CDAA5DE}"/>
                    </a:ext>
                  </a:extLst>
                </p:cNvPr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2DA11E19-AE12-5E31-DB0F-7C32CFE3C133}"/>
                    </a:ext>
                  </a:extLst>
                </p:cNvPr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B075CC1B-8D52-735B-80FA-01CBDA58D8D7}"/>
                    </a:ext>
                  </a:extLst>
                </p:cNvPr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C917E5CC-CBB6-E91D-5EC3-A28824F688C9}"/>
                    </a:ext>
                  </a:extLst>
                </p:cNvPr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0F344A6-987A-55AE-B96B-FFFE56EDD500}"/>
                    </a:ext>
                  </a:extLst>
                </p:cNvPr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9CB43ACC-5212-F9D5-4D58-96C907D3B532}"/>
                  </a:ext>
                </a:extLst>
              </p:cNvPr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94066B1A-278F-6DFD-1F0B-22002ABE14FB}"/>
                  </a:ext>
                </a:extLst>
              </p:cNvPr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</p:grp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14088A7-BF04-B718-6981-9DD9498AB35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67284" y="1903556"/>
              <a:ext cx="7754636" cy="38834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178335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767918" name="Скругленный прямоугольник 8"/>
          <p:cNvSpPr/>
          <p:nvPr/>
        </p:nvSpPr>
        <p:spPr bwMode="auto">
          <a:xfrm>
            <a:off x="281611" y="887375"/>
            <a:ext cx="4375367" cy="5295060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17194336" name="Номер слайда 1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12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58568974" name="Заголовок 2"/>
          <p:cNvSpPr>
            <a:spLocks noGrp="1"/>
          </p:cNvSpPr>
          <p:nvPr>
            <p:ph type="title"/>
          </p:nvPr>
        </p:nvSpPr>
        <p:spPr bwMode="auto">
          <a:xfrm>
            <a:off x="505009" y="1029610"/>
            <a:ext cx="3906828" cy="395228"/>
          </a:xfrm>
        </p:spPr>
        <p:txBody>
          <a:bodyPr/>
          <a:lstStyle/>
          <a:p>
            <a:pPr>
              <a:defRPr/>
            </a:pPr>
            <a:r>
              <a:rPr lang="ru-RU" sz="2000" dirty="0">
                <a:solidFill>
                  <a:schemeClr val="accent5"/>
                </a:solidFill>
              </a:rPr>
              <a:t>ПРЕДУПРЕЖДЕНИЯ</a:t>
            </a:r>
          </a:p>
        </p:txBody>
      </p:sp>
      <p:sp>
        <p:nvSpPr>
          <p:cNvPr id="1933660009" name="Текст 6"/>
          <p:cNvSpPr>
            <a:spLocks noGrp="1"/>
          </p:cNvSpPr>
          <p:nvPr>
            <p:ph type="body" sz="quarter" idx="14"/>
          </p:nvPr>
        </p:nvSpPr>
        <p:spPr bwMode="auto">
          <a:xfrm>
            <a:off x="505009" y="1567072"/>
            <a:ext cx="3928569" cy="4482614"/>
          </a:xfrm>
        </p:spPr>
        <p:txBody>
          <a:bodyPr/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Каждый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элемент</a:t>
            </a:r>
            <a:r>
              <a:rPr lang="en-US" dirty="0">
                <a:solidFill>
                  <a:schemeClr val="tx1"/>
                </a:solidFill>
              </a:rPr>
              <a:t> — </a:t>
            </a:r>
            <a:r>
              <a:rPr lang="en-US" b="1" dirty="0" err="1">
                <a:solidFill>
                  <a:schemeClr val="accent1"/>
                </a:solidFill>
              </a:rPr>
              <a:t>код</a:t>
            </a:r>
            <a:r>
              <a:rPr lang="en-US" b="1" dirty="0">
                <a:solidFill>
                  <a:schemeClr val="accent1"/>
                </a:solidFill>
              </a:rPr>
              <a:t> </a:t>
            </a:r>
            <a:r>
              <a:rPr lang="en-US" b="1" dirty="0" err="1">
                <a:solidFill>
                  <a:schemeClr val="accent1"/>
                </a:solidFill>
              </a:rPr>
              <a:t>отклонения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серьёзность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временное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окно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статус</a:t>
            </a:r>
            <a:r>
              <a:rPr lang="en-US" dirty="0">
                <a:solidFill>
                  <a:schemeClr val="tx1"/>
                </a:solidFill>
              </a:rPr>
              <a:t>. </a:t>
            </a:r>
            <a:r>
              <a:rPr lang="en-US" dirty="0" err="1">
                <a:solidFill>
                  <a:schemeClr val="tx1"/>
                </a:solidFill>
              </a:rPr>
              <a:t>День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за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днём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видно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где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объект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шёл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чисто</a:t>
            </a:r>
            <a:r>
              <a:rPr lang="en-US" dirty="0">
                <a:solidFill>
                  <a:schemeClr val="tx1"/>
                </a:solidFill>
              </a:rPr>
              <a:t>, а </a:t>
            </a:r>
            <a:r>
              <a:rPr lang="en-US" dirty="0" err="1">
                <a:solidFill>
                  <a:schemeClr val="tx1"/>
                </a:solidFill>
              </a:rPr>
              <a:t>где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правила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не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сошлись</a:t>
            </a:r>
            <a:r>
              <a:rPr lang="en-US" dirty="0">
                <a:solidFill>
                  <a:schemeClr val="tx1"/>
                </a:solidFill>
              </a:rPr>
              <a:t> с </a:t>
            </a:r>
            <a:r>
              <a:rPr lang="en-US" dirty="0" err="1">
                <a:solidFill>
                  <a:schemeClr val="tx1"/>
                </a:solidFill>
              </a:rPr>
              <a:t>фактом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b="1" dirty="0" err="1">
                <a:solidFill>
                  <a:schemeClr val="accent1"/>
                </a:solidFill>
              </a:rPr>
              <a:t>Фильтры</a:t>
            </a:r>
            <a:r>
              <a:rPr lang="en-US" b="1" dirty="0">
                <a:solidFill>
                  <a:schemeClr val="accent1"/>
                </a:solidFill>
              </a:rPr>
              <a:t>: </a:t>
            </a:r>
            <a:r>
              <a:rPr lang="en-US" dirty="0" err="1">
                <a:solidFill>
                  <a:schemeClr val="tx1"/>
                </a:solidFill>
              </a:rPr>
              <a:t>открытые</a:t>
            </a:r>
            <a:r>
              <a:rPr lang="en-US" dirty="0">
                <a:solidFill>
                  <a:schemeClr val="tx1"/>
                </a:solidFill>
              </a:rPr>
              <a:t> / </a:t>
            </a:r>
            <a:r>
              <a:rPr lang="en-US" dirty="0" err="1">
                <a:solidFill>
                  <a:schemeClr val="tx1"/>
                </a:solidFill>
              </a:rPr>
              <a:t>закрытые</a:t>
            </a:r>
            <a:r>
              <a:rPr lang="en-US" dirty="0">
                <a:solidFill>
                  <a:schemeClr val="tx1"/>
                </a:solidFill>
              </a:rPr>
              <a:t> / </a:t>
            </a:r>
            <a:r>
              <a:rPr lang="en-US" dirty="0" err="1">
                <a:solidFill>
                  <a:schemeClr val="tx1"/>
                </a:solidFill>
              </a:rPr>
              <a:t>ложные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серьёзность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коды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период</a:t>
            </a:r>
            <a:r>
              <a:rPr lang="en-US" dirty="0">
                <a:solidFill>
                  <a:schemeClr val="tx1"/>
                </a:solidFill>
              </a:rPr>
              <a:t> — </a:t>
            </a:r>
            <a:r>
              <a:rPr lang="en-US" dirty="0" err="1">
                <a:solidFill>
                  <a:schemeClr val="tx1"/>
                </a:solidFill>
              </a:rPr>
              <a:t>оператор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смотрит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только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то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что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нужно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сейчас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accent1"/>
                </a:solidFill>
              </a:rPr>
              <a:t>Решение оператора (подтвердить / ложное) сохраняется и видно в отчёте; отклонение закрывается само, когда условие больше не выполняется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4" name="Picture Placeholder 2">
            <a:extLst>
              <a:ext uri="{FF2B5EF4-FFF2-40B4-BE49-F238E27FC236}">
                <a16:creationId xmlns:a16="http://schemas.microsoft.com/office/drawing/2014/main" id="{C9C2BACB-4AEE-17E3-6F43-BE305D6E603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032" r="14032"/>
          <a:stretch/>
        </p:blipFill>
        <p:spPr bwMode="auto">
          <a:xfrm>
            <a:off x="4832581" y="1029610"/>
            <a:ext cx="7077808" cy="4945526"/>
          </a:xfrm>
          <a:prstGeom prst="roundRect">
            <a:avLst>
              <a:gd name="adj" fmla="val 6127"/>
            </a:avLst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12294" name="Скругленный прямоугольник 2"/>
          <p:cNvSpPr/>
          <p:nvPr/>
        </p:nvSpPr>
        <p:spPr bwMode="auto"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00372309" name="Номер слайда 6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13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920462955" name="Текст 3"/>
          <p:cNvSpPr>
            <a:spLocks noGrp="1"/>
          </p:cNvSpPr>
          <p:nvPr>
            <p:ph type="body" sz="quarter" idx="15"/>
          </p:nvPr>
        </p:nvSpPr>
        <p:spPr bwMode="auto">
          <a:xfrm>
            <a:off x="308684" y="1470269"/>
            <a:ext cx="3626835" cy="416040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b="1" dirty="0">
                <a:solidFill>
                  <a:schemeClr val="accent1"/>
                </a:solidFill>
              </a:rPr>
              <a:t>Факт-старт</a:t>
            </a:r>
          </a:p>
          <a:p>
            <a:pPr lvl="1">
              <a:defRPr/>
            </a:pPr>
            <a:r>
              <a:rPr lang="en-US" sz="1450" dirty="0" err="1">
                <a:solidFill>
                  <a:schemeClr val="tx1"/>
                </a:solidFill>
              </a:rPr>
              <a:t>Система находит его сама: первая сессия, где на участке собран признак старта этапа</a:t>
            </a:r>
            <a:endParaRPr lang="ru-RU" sz="145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b="1" dirty="0">
                <a:solidFill>
                  <a:schemeClr val="accent1"/>
                </a:solidFill>
              </a:rPr>
              <a:t>Прогноз и перенос</a:t>
            </a:r>
          </a:p>
          <a:p>
            <a:pPr lvl="1">
              <a:defRPr/>
            </a:pPr>
            <a:r>
              <a:rPr lang="en-US" sz="1450" dirty="0" err="1">
                <a:solidFill>
                  <a:schemeClr val="tx1"/>
                </a:solidFill>
              </a:rPr>
              <a:t>Прогноз — по темпу работы техники за последние дни; зависимые этапы сдвигаются по связям графика</a:t>
            </a:r>
            <a:endParaRPr lang="ru-RU" sz="145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b="1" dirty="0">
                <a:solidFill>
                  <a:schemeClr val="accent1"/>
                </a:solidFill>
              </a:rPr>
              <a:t>«Этап выполнен»</a:t>
            </a:r>
          </a:p>
          <a:p>
            <a:pPr lvl="1">
              <a:defRPr/>
            </a:pPr>
            <a:r>
              <a:rPr lang="en-US" sz="1450" dirty="0" err="1">
                <a:solidFill>
                  <a:schemeClr val="tx1"/>
                </a:solidFill>
              </a:rPr>
              <a:t>Отметка</a:t>
            </a:r>
            <a:r>
              <a:rPr lang="en-US" sz="1450" dirty="0">
                <a:solidFill>
                  <a:schemeClr val="tx1"/>
                </a:solidFill>
              </a:rPr>
              <a:t> </a:t>
            </a:r>
            <a:r>
              <a:rPr lang="en-US" sz="1450" dirty="0" err="1">
                <a:solidFill>
                  <a:schemeClr val="tx1"/>
                </a:solidFill>
              </a:rPr>
              <a:t>оператора</a:t>
            </a:r>
            <a:r>
              <a:rPr lang="en-US" sz="1450" dirty="0">
                <a:solidFill>
                  <a:schemeClr val="tx1"/>
                </a:solidFill>
              </a:rPr>
              <a:t>: </a:t>
            </a:r>
            <a:r>
              <a:rPr lang="en-US" sz="1450" dirty="0" err="1">
                <a:solidFill>
                  <a:schemeClr val="tx1"/>
                </a:solidFill>
              </a:rPr>
              <a:t>пересчёт</a:t>
            </a:r>
            <a:r>
              <a:rPr lang="en-US" sz="1450" dirty="0">
                <a:solidFill>
                  <a:schemeClr val="tx1"/>
                </a:solidFill>
              </a:rPr>
              <a:t> «</a:t>
            </a:r>
            <a:r>
              <a:rPr lang="en-US" sz="1450" dirty="0" err="1">
                <a:solidFill>
                  <a:schemeClr val="tx1"/>
                </a:solidFill>
              </a:rPr>
              <a:t>было</a:t>
            </a:r>
            <a:r>
              <a:rPr lang="en-US" sz="1450" dirty="0">
                <a:solidFill>
                  <a:schemeClr val="tx1"/>
                </a:solidFill>
              </a:rPr>
              <a:t> → </a:t>
            </a:r>
            <a:r>
              <a:rPr lang="en-US" sz="1450" dirty="0" err="1">
                <a:solidFill>
                  <a:schemeClr val="tx1"/>
                </a:solidFill>
              </a:rPr>
              <a:t>стало</a:t>
            </a:r>
            <a:r>
              <a:rPr lang="en-US" sz="1450" dirty="0">
                <a:solidFill>
                  <a:schemeClr val="tx1"/>
                </a:solidFill>
              </a:rPr>
              <a:t>»; </a:t>
            </a:r>
            <a:r>
              <a:rPr lang="en-US" sz="1450" dirty="0" err="1">
                <a:solidFill>
                  <a:schemeClr val="tx1"/>
                </a:solidFill>
              </a:rPr>
              <a:t>снятие</a:t>
            </a:r>
            <a:r>
              <a:rPr lang="en-US" sz="1450" dirty="0">
                <a:solidFill>
                  <a:schemeClr val="tx1"/>
                </a:solidFill>
              </a:rPr>
              <a:t> </a:t>
            </a:r>
            <a:r>
              <a:rPr lang="en-US" sz="1450" dirty="0" err="1">
                <a:solidFill>
                  <a:schemeClr val="tx1"/>
                </a:solidFill>
              </a:rPr>
              <a:t>отметки</a:t>
            </a:r>
            <a:r>
              <a:rPr lang="en-US" sz="1450" dirty="0">
                <a:solidFill>
                  <a:schemeClr val="tx1"/>
                </a:solidFill>
              </a:rPr>
              <a:t> </a:t>
            </a:r>
            <a:r>
              <a:rPr lang="en-US" sz="1450" dirty="0" err="1">
                <a:solidFill>
                  <a:schemeClr val="tx1"/>
                </a:solidFill>
              </a:rPr>
              <a:t>возвращает</a:t>
            </a:r>
            <a:r>
              <a:rPr lang="en-US" sz="1450" dirty="0">
                <a:solidFill>
                  <a:schemeClr val="tx1"/>
                </a:solidFill>
              </a:rPr>
              <a:t> </a:t>
            </a:r>
            <a:r>
              <a:rPr lang="en-US" sz="1450" dirty="0" err="1">
                <a:solidFill>
                  <a:schemeClr val="tx1"/>
                </a:solidFill>
              </a:rPr>
              <a:t>всё</a:t>
            </a:r>
            <a:r>
              <a:rPr lang="en-US" sz="1450" dirty="0">
                <a:solidFill>
                  <a:schemeClr val="tx1"/>
                </a:solidFill>
              </a:rPr>
              <a:t> </a:t>
            </a:r>
            <a:r>
              <a:rPr lang="en-US" sz="1450" dirty="0" err="1">
                <a:solidFill>
                  <a:schemeClr val="tx1"/>
                </a:solidFill>
              </a:rPr>
              <a:t>назад</a:t>
            </a:r>
            <a:endParaRPr lang="ru-RU" sz="145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b="1" dirty="0">
                <a:solidFill>
                  <a:schemeClr val="accent1"/>
                </a:solidFill>
              </a:rPr>
              <a:t>Критический путь</a:t>
            </a:r>
          </a:p>
          <a:p>
            <a:pPr lvl="1">
              <a:defRPr/>
            </a:pPr>
            <a:r>
              <a:rPr lang="en-US" sz="1450" dirty="0" err="1">
                <a:solidFill>
                  <a:schemeClr val="tx1"/>
                </a:solidFill>
              </a:rPr>
              <a:t>Подсвечен</a:t>
            </a:r>
            <a:r>
              <a:rPr lang="en-US" sz="1450" dirty="0">
                <a:solidFill>
                  <a:schemeClr val="tx1"/>
                </a:solidFill>
              </a:rPr>
              <a:t> </a:t>
            </a:r>
            <a:r>
              <a:rPr lang="en-US" sz="1450" dirty="0" err="1">
                <a:solidFill>
                  <a:schemeClr val="tx1"/>
                </a:solidFill>
              </a:rPr>
              <a:t>на</a:t>
            </a:r>
            <a:r>
              <a:rPr lang="en-US" sz="1450" dirty="0">
                <a:solidFill>
                  <a:schemeClr val="tx1"/>
                </a:solidFill>
              </a:rPr>
              <a:t> </a:t>
            </a:r>
            <a:r>
              <a:rPr lang="en-US" sz="1450" dirty="0" err="1">
                <a:solidFill>
                  <a:schemeClr val="tx1"/>
                </a:solidFill>
              </a:rPr>
              <a:t>диаграмме</a:t>
            </a:r>
            <a:r>
              <a:rPr lang="en-US" sz="1450" dirty="0">
                <a:solidFill>
                  <a:schemeClr val="tx1"/>
                </a:solidFill>
              </a:rPr>
              <a:t>; </a:t>
            </a:r>
            <a:r>
              <a:rPr lang="en-US" sz="1450" dirty="0" err="1">
                <a:solidFill>
                  <a:schemeClr val="tx1"/>
                </a:solidFill>
              </a:rPr>
              <a:t>задержка</a:t>
            </a:r>
            <a:r>
              <a:rPr lang="en-US" sz="1450" dirty="0">
                <a:solidFill>
                  <a:schemeClr val="tx1"/>
                </a:solidFill>
              </a:rPr>
              <a:t> </a:t>
            </a:r>
            <a:r>
              <a:rPr lang="en-US" sz="1450" dirty="0" err="1">
                <a:solidFill>
                  <a:schemeClr val="tx1"/>
                </a:solidFill>
              </a:rPr>
              <a:t>на</a:t>
            </a:r>
            <a:r>
              <a:rPr lang="en-US" sz="1450" dirty="0">
                <a:solidFill>
                  <a:schemeClr val="tx1"/>
                </a:solidFill>
              </a:rPr>
              <a:t> </a:t>
            </a:r>
            <a:r>
              <a:rPr lang="en-US" sz="1450" dirty="0" err="1">
                <a:solidFill>
                  <a:schemeClr val="tx1"/>
                </a:solidFill>
              </a:rPr>
              <a:t>нём</a:t>
            </a:r>
            <a:r>
              <a:rPr lang="en-US" sz="1450" dirty="0">
                <a:solidFill>
                  <a:schemeClr val="tx1"/>
                </a:solidFill>
              </a:rPr>
              <a:t> </a:t>
            </a:r>
            <a:r>
              <a:rPr lang="en-US" sz="1450" dirty="0" err="1">
                <a:solidFill>
                  <a:schemeClr val="tx1"/>
                </a:solidFill>
              </a:rPr>
              <a:t>сразу</a:t>
            </a:r>
            <a:r>
              <a:rPr lang="en-US" sz="1450" dirty="0">
                <a:solidFill>
                  <a:schemeClr val="tx1"/>
                </a:solidFill>
              </a:rPr>
              <a:t> </a:t>
            </a:r>
            <a:r>
              <a:rPr lang="en-US" sz="1450" dirty="0" err="1">
                <a:solidFill>
                  <a:schemeClr val="tx1"/>
                </a:solidFill>
              </a:rPr>
              <a:t>видна</a:t>
            </a:r>
            <a:r>
              <a:rPr lang="en-US" sz="1450" dirty="0">
                <a:solidFill>
                  <a:schemeClr val="tx1"/>
                </a:solidFill>
              </a:rPr>
              <a:t> в </a:t>
            </a:r>
            <a:r>
              <a:rPr lang="en-US" sz="1450" dirty="0" err="1">
                <a:solidFill>
                  <a:schemeClr val="tx1"/>
                </a:solidFill>
              </a:rPr>
              <a:t>дате</a:t>
            </a:r>
            <a:r>
              <a:rPr lang="en-US" sz="1450" dirty="0">
                <a:solidFill>
                  <a:schemeClr val="tx1"/>
                </a:solidFill>
              </a:rPr>
              <a:t> </a:t>
            </a:r>
            <a:r>
              <a:rPr lang="en-US" sz="1450" dirty="0" err="1">
                <a:solidFill>
                  <a:schemeClr val="tx1"/>
                </a:solidFill>
              </a:rPr>
              <a:t>окончания</a:t>
            </a:r>
            <a:endParaRPr lang="ru-RU" sz="1450" dirty="0">
              <a:solidFill>
                <a:schemeClr val="tx1"/>
              </a:solidFill>
            </a:endParaRPr>
          </a:p>
        </p:txBody>
      </p:sp>
      <p:sp>
        <p:nvSpPr>
          <p:cNvPr id="320200776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 dirty="0"/>
              <a:t>ГАНТ И ПРОГНОЗ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48367BB-FCDF-EA76-DFEC-E6F1EE34AC10}"/>
              </a:ext>
            </a:extLst>
          </p:cNvPr>
          <p:cNvGrpSpPr/>
          <p:nvPr/>
        </p:nvGrpSpPr>
        <p:grpSpPr>
          <a:xfrm>
            <a:off x="4099906" y="1025718"/>
            <a:ext cx="7757132" cy="4806563"/>
            <a:chOff x="2057437" y="1042144"/>
            <a:chExt cx="7757132" cy="4806563"/>
          </a:xfrm>
        </p:grpSpPr>
        <p:grpSp>
          <p:nvGrpSpPr>
            <p:cNvPr id="11" name="Group 83">
              <a:extLst>
                <a:ext uri="{FF2B5EF4-FFF2-40B4-BE49-F238E27FC236}">
                  <a16:creationId xmlns:a16="http://schemas.microsoft.com/office/drawing/2014/main" id="{759B3D19-6E33-F082-4925-90DD78CA1906}"/>
                </a:ext>
              </a:extLst>
            </p:cNvPr>
            <p:cNvGrpSpPr/>
            <p:nvPr/>
          </p:nvGrpSpPr>
          <p:grpSpPr bwMode="auto">
            <a:xfrm>
              <a:off x="2057437" y="1042144"/>
              <a:ext cx="7757132" cy="4806563"/>
              <a:chOff x="1027152" y="2693983"/>
              <a:chExt cx="6796849" cy="4462905"/>
            </a:xfrm>
          </p:grpSpPr>
          <p:sp>
            <p:nvSpPr>
              <p:cNvPr id="13" name="AutoShape 1">
                <a:extLst>
                  <a:ext uri="{FF2B5EF4-FFF2-40B4-BE49-F238E27FC236}">
                    <a16:creationId xmlns:a16="http://schemas.microsoft.com/office/drawing/2014/main" id="{B1C904A4-3ADE-FD0E-BF6A-A048866EFE1D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4" name="Rectangle 2">
                <a:extLst>
                  <a:ext uri="{FF2B5EF4-FFF2-40B4-BE49-F238E27FC236}">
                    <a16:creationId xmlns:a16="http://schemas.microsoft.com/office/drawing/2014/main" id="{8AF3DA00-4500-BC01-C2F7-B3DAD8C321C6}"/>
                  </a:ext>
                </a:extLst>
              </p:cNvPr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5" name="AutoShape 3">
                <a:extLst>
                  <a:ext uri="{FF2B5EF4-FFF2-40B4-BE49-F238E27FC236}">
                    <a16:creationId xmlns:a16="http://schemas.microsoft.com/office/drawing/2014/main" id="{16710499-6685-AB47-96AF-13330181B802}"/>
                  </a:ext>
                </a:extLst>
              </p:cNvPr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6" name="Oval 4">
                <a:extLst>
                  <a:ext uri="{FF2B5EF4-FFF2-40B4-BE49-F238E27FC236}">
                    <a16:creationId xmlns:a16="http://schemas.microsoft.com/office/drawing/2014/main" id="{56ACA19C-20B6-DF80-31F6-31079F669B55}"/>
                  </a:ext>
                </a:extLst>
              </p:cNvPr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7" name="Oval 5">
                <a:extLst>
                  <a:ext uri="{FF2B5EF4-FFF2-40B4-BE49-F238E27FC236}">
                    <a16:creationId xmlns:a16="http://schemas.microsoft.com/office/drawing/2014/main" id="{8E06B126-0983-8BCD-1758-C6C5D7F9CBDA}"/>
                  </a:ext>
                </a:extLst>
              </p:cNvPr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8" name="Oval 6">
                <a:extLst>
                  <a:ext uri="{FF2B5EF4-FFF2-40B4-BE49-F238E27FC236}">
                    <a16:creationId xmlns:a16="http://schemas.microsoft.com/office/drawing/2014/main" id="{FC095A73-1D5E-7494-DDED-871A2DBDF4DD}"/>
                  </a:ext>
                </a:extLst>
              </p:cNvPr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343320B1-E31F-FCDF-B5BE-077166A1CDAF}"/>
                  </a:ext>
                </a:extLst>
              </p:cNvPr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E8981878-C992-8B81-6E9A-6C74F0D49F5F}"/>
                    </a:ext>
                  </a:extLst>
                </p:cNvPr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D49D5031-C424-1354-C698-A4DD2F6B9F6A}"/>
                    </a:ext>
                  </a:extLst>
                </p:cNvPr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5979040-D996-0AA1-916F-E307D39AD425}"/>
                    </a:ext>
                  </a:extLst>
                </p:cNvPr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2625A7E6-2F2D-7875-1E1B-7FF68EFFC9BF}"/>
                    </a:ext>
                  </a:extLst>
                </p:cNvPr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D72A0A22-BD0E-0641-6424-C1B1743D3540}"/>
                    </a:ext>
                  </a:extLst>
                </p:cNvPr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23E6344D-0DF6-50A9-CE04-1C825156AFE1}"/>
                    </a:ext>
                  </a:extLst>
                </p:cNvPr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F55BDF03-CCD5-A7B3-2FD6-E9E9667F6132}"/>
                    </a:ext>
                  </a:extLst>
                </p:cNvPr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AFD7E96-7F8C-062D-FD55-48D7B97DA0BE}"/>
                    </a:ext>
                  </a:extLst>
                </p:cNvPr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65C5DE58-FF0A-F878-BB53-E004FA4A193A}"/>
                    </a:ext>
                  </a:extLst>
                </p:cNvPr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AA354CD4-37DB-5B8E-0357-A6E05CB487F0}"/>
                  </a:ext>
                </a:extLst>
              </p:cNvPr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48A4ACC4-102A-A65C-F5D3-7626E9663761}"/>
                  </a:ext>
                </a:extLst>
              </p:cNvPr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</p:grp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40083BF-E96D-DA41-323B-24A4A4CBE52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57437" y="1816301"/>
              <a:ext cx="7754636" cy="3830798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11268687" name="Заголовок 5"/>
          <p:cNvSpPr>
            <a:spLocks noGrp="1"/>
          </p:cNvSpPr>
          <p:nvPr>
            <p:ph type="title"/>
          </p:nvPr>
        </p:nvSpPr>
        <p:spPr bwMode="auto">
          <a:xfrm>
            <a:off x="533490" y="370426"/>
            <a:ext cx="5562510" cy="442374"/>
          </a:xfrm>
        </p:spPr>
        <p:txBody>
          <a:bodyPr/>
          <a:lstStyle/>
          <a:p>
            <a:pPr>
              <a:defRPr/>
            </a:pPr>
            <a:r>
              <a:rPr lang="ru-RU" dirty="0">
                <a:solidFill>
                  <a:schemeClr val="accent5"/>
                </a:solidFill>
              </a:rPr>
              <a:t>КАЧЕСТВО РАСПОЗНАВАНИЯ И СКОРОСТЬ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1484418242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2" y="1695025"/>
            <a:ext cx="6903795" cy="712587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b="1" dirty="0">
                <a:solidFill>
                  <a:schemeClr val="accent1"/>
                </a:solidFill>
              </a:rPr>
              <a:t>mAP50 0,81 на тесте Лимы</a:t>
            </a:r>
            <a:endParaRPr lang="ru-RU" b="1" dirty="0">
              <a:solidFill>
                <a:schemeClr val="accent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Против 0,07 у zero-shot. 264 отложенных кадра, 4 945 рамок: самосвал, погрузчик, миксер, насос, кран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022034793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4902200" cy="712587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b="1" dirty="0" err="1">
                <a:solidFill>
                  <a:schemeClr val="accent1"/>
                </a:solidFill>
              </a:rPr>
              <a:t>Чужие объекты — честно</a:t>
            </a:r>
            <a:endParaRPr lang="ru-RU" b="1" dirty="0">
              <a:solidFill>
                <a:schemeClr val="accent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100 снимков организаторов, 600 машин: при рабочем пороге 83 верно и 18 ложных. Zero-shot — 59 верно и 521 ложная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31907780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4902200" cy="712587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b="1" dirty="0" err="1">
                <a:solidFill>
                  <a:schemeClr val="accent1"/>
                </a:solidFill>
              </a:rPr>
              <a:t>29 мс на снимок</a:t>
            </a:r>
            <a:endParaRPr lang="ru-RU" b="1" dirty="0">
              <a:solidFill>
                <a:schemeClr val="accent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Медиана на RTX 3060 Laptop, p90 — 58 мс. Требование ТЗ — до 100 мс. Без GPU — около 1 с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43334351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4902200" cy="712587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b="1" dirty="0" err="1">
                <a:solidFill>
                  <a:schemeClr val="accent1"/>
                </a:solidFill>
              </a:rPr>
              <a:t>Снимок → анализ за ~1 с</a:t>
            </a:r>
            <a:endParaRPr lang="ru-RU" b="1" dirty="0">
              <a:solidFill>
                <a:schemeClr val="accent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После распознавания факт окна пересчитывается сразу. Стек поднимается одной командой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730022883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2" y="5123063"/>
            <a:ext cx="6080835" cy="712587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b="1" dirty="0">
                <a:solidFill>
                  <a:schemeClr val="accent1"/>
                </a:solidFill>
              </a:rPr>
              <a:t>Что не измерено</a:t>
            </a:r>
            <a:endParaRPr lang="ru-RU" b="1" dirty="0">
              <a:solidFill>
                <a:schemeClr val="accent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Ночь, зима, стадия по фото. Узкое место — назвать машину, а не найти её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785097449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7</a:t>
            </a:fld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941653181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55020351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98580274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98046321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96696805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3183568" name="Скругленный прямоугольник 7"/>
          <p:cNvSpPr/>
          <p:nvPr/>
        </p:nvSpPr>
        <p:spPr bwMode="auto"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95246643" name="Скругленный прямоугольник 9"/>
          <p:cNvSpPr/>
          <p:nvPr/>
        </p:nvSpPr>
        <p:spPr bwMode="auto"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566709802" name="Скругленный прямоугольник 10"/>
          <p:cNvSpPr/>
          <p:nvPr/>
        </p:nvSpPr>
        <p:spPr bwMode="auto"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3486554" name="Скругленный прямоугольник 1"/>
          <p:cNvSpPr/>
          <p:nvPr/>
        </p:nvSpPr>
        <p:spPr bwMode="auto">
          <a:xfrm>
            <a:off x="346074" y="324562"/>
            <a:ext cx="427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9171090" name="Скругленный прямоугольник 16"/>
          <p:cNvSpPr/>
          <p:nvPr/>
        </p:nvSpPr>
        <p:spPr bwMode="auto">
          <a:xfrm>
            <a:off x="5340262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4567495" name="Скругленный прямоугольник 6"/>
          <p:cNvSpPr/>
          <p:nvPr/>
        </p:nvSpPr>
        <p:spPr bwMode="auto">
          <a:xfrm>
            <a:off x="1541018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28869434" name="Номер слайда 5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14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30935763" name="Текст 2"/>
          <p:cNvSpPr>
            <a:spLocks noGrp="1"/>
          </p:cNvSpPr>
          <p:nvPr>
            <p:ph type="body" sz="quarter" idx="26"/>
          </p:nvPr>
        </p:nvSpPr>
        <p:spPr bwMode="auto">
          <a:xfrm>
            <a:off x="627652" y="3547298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Высота 10–15 м (мачта или башенный кран), вид на всё пятно застройки. Положение не меняется: зоны размечаются один раз на эталонном кадре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21543870" name="Текст 3"/>
          <p:cNvSpPr>
            <a:spLocks noGrp="1"/>
          </p:cNvSpPr>
          <p:nvPr>
            <p:ph type="body" sz="quarter" idx="31"/>
          </p:nvPr>
        </p:nvSpPr>
        <p:spPr bwMode="auto">
          <a:xfrm>
            <a:off x="4569889" y="3547297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Отдельные камеры на въезде и выезде.</a:t>
            </a: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Видят самосвалы и миксеры, которые на площадке недолго. Снимок раз в 20–30 минут, время — в EXIF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109396534" name="Текст 4"/>
          <p:cNvSpPr>
            <a:spLocks noGrp="1"/>
          </p:cNvSpPr>
          <p:nvPr>
            <p:ph type="body" sz="quarter" idx="32"/>
          </p:nvPr>
        </p:nvSpPr>
        <p:spPr bwMode="auto">
          <a:xfrm>
            <a:off x="8457248" y="354296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Видеть минимум двумя камерами.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На демо склад видит только камера D3: когда она закрыта, система ставит D10 «участок вне контроля». Пятно застройки видят две камеры — контроль не теряется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400551615" name="Google Shape;2799;p94"/>
          <p:cNvCxnSpPr/>
          <p:nvPr/>
        </p:nvCxnSpPr>
        <p:spPr bwMode="auto"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3133576" name="Google Shape;2829;p94"/>
          <p:cNvGrpSpPr/>
          <p:nvPr/>
        </p:nvGrpSpPr>
        <p:grpSpPr bwMode="auto">
          <a:xfrm>
            <a:off x="1899087" y="1753233"/>
            <a:ext cx="738531" cy="687909"/>
            <a:chOff x="3385733" y="2233242"/>
            <a:chExt cx="340504" cy="319542"/>
          </a:xfrm>
        </p:grpSpPr>
        <p:sp>
          <p:nvSpPr>
            <p:cNvPr id="63" name="Google Shape;2830;p94"/>
            <p:cNvSpPr/>
            <p:nvPr/>
          </p:nvSpPr>
          <p:spPr bwMode="auto">
            <a:xfrm>
              <a:off x="3385733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4" name="Google Shape;2831;p94"/>
            <p:cNvSpPr/>
            <p:nvPr/>
          </p:nvSpPr>
          <p:spPr bwMode="auto">
            <a:xfrm>
              <a:off x="3420988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5" name="Google Shape;2832;p94"/>
            <p:cNvSpPr/>
            <p:nvPr/>
          </p:nvSpPr>
          <p:spPr bwMode="auto"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6" name="Google Shape;2833;p94"/>
            <p:cNvSpPr/>
            <p:nvPr/>
          </p:nvSpPr>
          <p:spPr bwMode="auto"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7" name="Google Shape;2834;p94"/>
            <p:cNvSpPr/>
            <p:nvPr/>
          </p:nvSpPr>
          <p:spPr bwMode="auto"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8" name="Google Shape;2835;p94"/>
            <p:cNvSpPr/>
            <p:nvPr/>
          </p:nvSpPr>
          <p:spPr bwMode="auto">
            <a:xfrm>
              <a:off x="3420988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9" name="Google Shape;2836;p94"/>
            <p:cNvSpPr/>
            <p:nvPr/>
          </p:nvSpPr>
          <p:spPr bwMode="auto">
            <a:xfrm>
              <a:off x="3420988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0" name="Google Shape;2837;p94"/>
            <p:cNvSpPr/>
            <p:nvPr/>
          </p:nvSpPr>
          <p:spPr bwMode="auto"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1" name="Google Shape;2838;p94"/>
            <p:cNvSpPr/>
            <p:nvPr/>
          </p:nvSpPr>
          <p:spPr bwMode="auto"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2" name="Google Shape;2839;p94"/>
            <p:cNvSpPr/>
            <p:nvPr/>
          </p:nvSpPr>
          <p:spPr bwMode="auto"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3" name="Google Shape;2840;p94"/>
            <p:cNvSpPr/>
            <p:nvPr/>
          </p:nvSpPr>
          <p:spPr bwMode="auto"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4" name="Google Shape;2841;p94"/>
            <p:cNvSpPr/>
            <p:nvPr/>
          </p:nvSpPr>
          <p:spPr bwMode="auto"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5" name="Google Shape;2842;p94"/>
            <p:cNvSpPr/>
            <p:nvPr/>
          </p:nvSpPr>
          <p:spPr bwMode="auto">
            <a:xfrm>
              <a:off x="3646108" y="2379063"/>
              <a:ext cx="19275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6" name="Google Shape;2843;p94"/>
            <p:cNvSpPr/>
            <p:nvPr/>
          </p:nvSpPr>
          <p:spPr bwMode="auto"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749588672" name="Google Shape;2818;p94"/>
          <p:cNvGrpSpPr/>
          <p:nvPr/>
        </p:nvGrpSpPr>
        <p:grpSpPr bwMode="auto"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/>
            <p:cNvSpPr/>
            <p:nvPr/>
          </p:nvSpPr>
          <p:spPr bwMode="auto"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5" name="Google Shape;2820;p94"/>
            <p:cNvSpPr/>
            <p:nvPr/>
          </p:nvSpPr>
          <p:spPr bwMode="auto"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6" name="Google Shape;2821;p94"/>
            <p:cNvSpPr/>
            <p:nvPr/>
          </p:nvSpPr>
          <p:spPr bwMode="auto"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7" name="Google Shape;2822;p94"/>
            <p:cNvSpPr/>
            <p:nvPr/>
          </p:nvSpPr>
          <p:spPr bwMode="auto"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8" name="Google Shape;2823;p94"/>
            <p:cNvSpPr/>
            <p:nvPr/>
          </p:nvSpPr>
          <p:spPr bwMode="auto"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9" name="Google Shape;2824;p94"/>
            <p:cNvSpPr/>
            <p:nvPr/>
          </p:nvSpPr>
          <p:spPr bwMode="auto"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0" name="Google Shape;2825;p94"/>
            <p:cNvSpPr/>
            <p:nvPr/>
          </p:nvSpPr>
          <p:spPr bwMode="auto"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1" name="Google Shape;2826;p94"/>
            <p:cNvSpPr/>
            <p:nvPr/>
          </p:nvSpPr>
          <p:spPr bwMode="auto"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2" name="Google Shape;2827;p94"/>
            <p:cNvSpPr/>
            <p:nvPr/>
          </p:nvSpPr>
          <p:spPr bwMode="auto"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197120625" name="Google Shape;2805;p94"/>
          <p:cNvGrpSpPr/>
          <p:nvPr/>
        </p:nvGrpSpPr>
        <p:grpSpPr bwMode="auto"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/>
            <p:cNvSpPr/>
            <p:nvPr/>
          </p:nvSpPr>
          <p:spPr bwMode="auto"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9" name="Google Shape;2807;p94"/>
            <p:cNvSpPr/>
            <p:nvPr/>
          </p:nvSpPr>
          <p:spPr bwMode="auto"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0" name="Google Shape;2808;p94"/>
            <p:cNvSpPr/>
            <p:nvPr/>
          </p:nvSpPr>
          <p:spPr bwMode="auto"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1" name="Google Shape;2809;p94"/>
            <p:cNvSpPr/>
            <p:nvPr/>
          </p:nvSpPr>
          <p:spPr bwMode="auto"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2" name="Google Shape;2810;p94"/>
            <p:cNvSpPr/>
            <p:nvPr/>
          </p:nvSpPr>
          <p:spPr bwMode="auto"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3" name="Google Shape;2811;p94"/>
            <p:cNvSpPr/>
            <p:nvPr/>
          </p:nvSpPr>
          <p:spPr bwMode="auto"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4" name="Google Shape;2812;p94"/>
            <p:cNvSpPr/>
            <p:nvPr/>
          </p:nvSpPr>
          <p:spPr bwMode="auto"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5" name="Google Shape;2813;p94"/>
            <p:cNvSpPr/>
            <p:nvPr/>
          </p:nvSpPr>
          <p:spPr bwMode="auto">
            <a:xfrm>
              <a:off x="4789296" y="2294680"/>
              <a:ext cx="168266" cy="172068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6" name="Google Shape;2814;p94"/>
            <p:cNvSpPr/>
            <p:nvPr/>
          </p:nvSpPr>
          <p:spPr bwMode="auto"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7" name="Google Shape;2815;p94"/>
            <p:cNvSpPr/>
            <p:nvPr/>
          </p:nvSpPr>
          <p:spPr bwMode="auto">
            <a:xfrm>
              <a:off x="4883051" y="2382744"/>
              <a:ext cx="24052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8" name="Google Shape;2816;p94"/>
            <p:cNvSpPr/>
            <p:nvPr/>
          </p:nvSpPr>
          <p:spPr bwMode="auto"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sp>
        <p:nvSpPr>
          <p:cNvPr id="1221184223" name="Скругленный прямоугольник 17"/>
          <p:cNvSpPr/>
          <p:nvPr/>
        </p:nvSpPr>
        <p:spPr bwMode="auto">
          <a:xfrm>
            <a:off x="9337010" y="1396603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57439397" name="Заголовок 13"/>
          <p:cNvSpPr>
            <a:spLocks noGrp="1"/>
          </p:cNvSpPr>
          <p:nvPr>
            <p:ph type="title"/>
          </p:nvPr>
        </p:nvSpPr>
        <p:spPr bwMode="auto">
          <a:xfrm>
            <a:off x="526074" y="421226"/>
            <a:ext cx="3975000" cy="376138"/>
          </a:xfrm>
        </p:spPr>
        <p:txBody>
          <a:bodyPr/>
          <a:lstStyle/>
          <a:p>
            <a:pPr>
              <a:defRPr/>
            </a:pPr>
            <a:r>
              <a:rPr lang="ru-RU" dirty="0"/>
              <a:t>УСТАНОВКА КАМЕР</a:t>
            </a:r>
          </a:p>
        </p:txBody>
      </p:sp>
      <p:cxnSp>
        <p:nvCxnSpPr>
          <p:cNvPr id="1633715086" name="Google Shape;2799;p94"/>
          <p:cNvCxnSpPr/>
          <p:nvPr/>
        </p:nvCxnSpPr>
        <p:spPr bwMode="auto"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FE889A6-2C88-5A32-656F-113401E60107}"/>
              </a:ext>
            </a:extLst>
          </p:cNvPr>
          <p:cNvSpPr txBox="1"/>
          <p:nvPr/>
        </p:nvSpPr>
        <p:spPr>
          <a:xfrm>
            <a:off x="718113" y="3052913"/>
            <a:ext cx="330000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600" b="1" i="0" dirty="0" err="1">
                <a:solidFill>
                  <a:schemeClr val="tx1"/>
                </a:solidFill>
                <a:effectLst/>
                <a:latin typeface="+mn-lt"/>
              </a:rPr>
              <a:t>Обзорные</a:t>
            </a:r>
            <a:r>
              <a:rPr lang="en-US" sz="1600" b="1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US" sz="1600" b="1" i="0" dirty="0" err="1">
                <a:solidFill>
                  <a:schemeClr val="tx1"/>
                </a:solidFill>
                <a:effectLst/>
                <a:latin typeface="+mn-lt"/>
              </a:rPr>
              <a:t>камеры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42779B-DA2A-2EE7-57B7-AC4B3F503E14}"/>
              </a:ext>
            </a:extLst>
          </p:cNvPr>
          <p:cNvSpPr txBox="1"/>
          <p:nvPr/>
        </p:nvSpPr>
        <p:spPr>
          <a:xfrm>
            <a:off x="4498375" y="3052913"/>
            <a:ext cx="330000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b="1" dirty="0" err="1" sz="1600"/>
              <a:t>Въезд</a:t>
            </a:r>
            <a:r>
              <a:rPr lang="en-US" b="1" dirty="0" sz="1600"/>
              <a:t> и </a:t>
            </a:r>
            <a:r>
              <a:rPr lang="en-US" b="1" dirty="0" err="1" sz="1600"/>
              <a:t>выезд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D7FEFC-520C-69D9-473F-CFB4BBCCF03A}"/>
              </a:ext>
            </a:extLst>
          </p:cNvPr>
          <p:cNvSpPr txBox="1"/>
          <p:nvPr/>
        </p:nvSpPr>
        <p:spPr>
          <a:xfrm>
            <a:off x="8548747" y="3043449"/>
            <a:ext cx="330000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b="1" dirty="0" err="1" sz="1600"/>
              <a:t>Критичный</a:t>
            </a:r>
            <a:r>
              <a:rPr lang="en-US" b="1" dirty="0" sz="1600"/>
              <a:t> </a:t>
            </a:r>
            <a:r>
              <a:rPr lang="en-US" b="1" dirty="0" err="1" sz="1600"/>
              <a:t>участок</a:t>
            </a:r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2862613" name="Скругленный прямоугольник 1"/>
          <p:cNvSpPr/>
          <p:nvPr/>
        </p:nvSpPr>
        <p:spPr bwMode="auto">
          <a:xfrm>
            <a:off x="346074" y="324562"/>
            <a:ext cx="50400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82014152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1388613" name="Скругленный прямоугольник 17"/>
          <p:cNvSpPr/>
          <p:nvPr/>
        </p:nvSpPr>
        <p:spPr bwMode="auto"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33510201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2421930" name="Скругленный прямоугольник 22"/>
          <p:cNvSpPr/>
          <p:nvPr/>
        </p:nvSpPr>
        <p:spPr bwMode="auto"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66391307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871517961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068307345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ru-RU" sz="3600" dirty="0">
                <a:solidFill>
                  <a:schemeClr val="tx1"/>
                </a:solidFill>
              </a:rPr>
              <a:t>Архитектура готова к горизонтальному росту и подключению к инфраструктуре заказчика без правок кода сервисов</a:t>
            </a:r>
          </a:p>
        </p:txBody>
      </p:sp>
      <p:sp>
        <p:nvSpPr>
          <p:cNvPr id="90602484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>
            <a:normAutofit fontScale="92500" lnSpcReduction="10000"/>
          </a:bodyPr>
          <a:lstStyle/>
          <a:p>
            <a:pPr>
              <a:defRPr/>
            </a:pPr>
            <a:r>
              <a:rPr lang="en-US" sz="1500" dirty="0" err="1">
                <a:solidFill>
                  <a:schemeClr val="tx1"/>
                </a:solidFill>
              </a:rPr>
              <a:t>Много объектов — уже сейчас: объекты, камеры и графики — строки в базе. Воркеры распознавания масштабируются копиями (--scale site-worker=N)</a:t>
            </a: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2102025926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>
            <a:normAutofit fontScale="92500" lnSpcReduction="10000"/>
          </a:bodyPr>
          <a:lstStyle/>
          <a:p>
            <a:pPr>
              <a:defRPr/>
            </a:pPr>
            <a:r>
              <a:rPr lang="en-US" sz="1500" dirty="0" err="1">
                <a:solidFill>
                  <a:schemeClr val="tx1"/>
                </a:solidFill>
              </a:rPr>
              <a:t>Гибрид: дообученный детектор + YOLOE + CLIP по вырезкам. Проверен офлайн: 112 найденных машин против 81 при том же числе ложных, 106 мс на снимок</a:t>
            </a: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1984634015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>
            <a:normAutofit fontScale="92500" lnSpcReduction="20000"/>
          </a:bodyPr>
          <a:lstStyle/>
          <a:p>
            <a:pPr>
              <a:defRPr/>
            </a:pPr>
            <a:r>
              <a:rPr lang="en-US" sz="1500" dirty="0" err="1">
                <a:solidFill>
                  <a:schemeClr val="tx1"/>
                </a:solidFill>
              </a:rPr>
              <a:t>Методика: техника, которая работает стоя (кран, насос), вне размеченных участков — чтобы не было ложного простоя D4</a:t>
            </a:r>
            <a:endParaRPr lang="ru-RU" sz="1600" dirty="0">
              <a:solidFill>
                <a:schemeClr val="tx1"/>
              </a:solidFill>
            </a:endParaRPr>
          </a:p>
        </p:txBody>
      </p:sp>
      <p:sp>
        <p:nvSpPr>
          <p:cNvPr id="1065989968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>
              <a:defRPr/>
            </a:pPr>
            <a:r>
              <a:rPr lang="en-US" sz="1500" dirty="0" err="1">
                <a:solidFill>
                  <a:schemeClr val="tx1"/>
                </a:solidFill>
              </a:rPr>
              <a:t>Не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dirty="0" err="1">
                <a:solidFill>
                  <a:schemeClr val="tx1"/>
                </a:solidFill>
              </a:rPr>
              <a:t>только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dirty="0" err="1">
                <a:solidFill>
                  <a:schemeClr val="tx1"/>
                </a:solidFill>
              </a:rPr>
              <a:t>стройплощадки</a:t>
            </a:r>
            <a:r>
              <a:rPr lang="en-US" sz="1500" dirty="0">
                <a:solidFill>
                  <a:schemeClr val="tx1"/>
                </a:solidFill>
              </a:rPr>
              <a:t>: </a:t>
            </a:r>
            <a:r>
              <a:rPr lang="en-US" sz="1500" dirty="0" err="1">
                <a:solidFill>
                  <a:schemeClr val="tx1"/>
                </a:solidFill>
              </a:rPr>
              <a:t>логистические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dirty="0" err="1">
                <a:solidFill>
                  <a:schemeClr val="tx1"/>
                </a:solidFill>
              </a:rPr>
              <a:t>хабы</a:t>
            </a:r>
            <a:r>
              <a:rPr lang="en-US" sz="1500" dirty="0">
                <a:solidFill>
                  <a:schemeClr val="tx1"/>
                </a:solidFill>
              </a:rPr>
              <a:t>, </a:t>
            </a:r>
            <a:r>
              <a:rPr lang="en-US" sz="1500" dirty="0" err="1">
                <a:solidFill>
                  <a:schemeClr val="tx1"/>
                </a:solidFill>
              </a:rPr>
              <a:t>портовые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dirty="0" err="1">
                <a:solidFill>
                  <a:schemeClr val="tx1"/>
                </a:solidFill>
              </a:rPr>
              <a:t>терминалы</a:t>
            </a:r>
            <a:r>
              <a:rPr lang="en-US" sz="1500" dirty="0">
                <a:solidFill>
                  <a:schemeClr val="tx1"/>
                </a:solidFill>
              </a:rPr>
              <a:t>, </a:t>
            </a:r>
            <a:r>
              <a:rPr lang="en-US" sz="1500" dirty="0" err="1">
                <a:solidFill>
                  <a:schemeClr val="tx1"/>
                </a:solidFill>
              </a:rPr>
              <a:t>карьеры</a:t>
            </a:r>
            <a:r>
              <a:rPr lang="en-US" sz="1500" dirty="0">
                <a:solidFill>
                  <a:schemeClr val="tx1"/>
                </a:solidFill>
              </a:rPr>
              <a:t>. </a:t>
            </a:r>
            <a:r>
              <a:rPr lang="en-US" sz="1500" dirty="0" err="1">
                <a:solidFill>
                  <a:schemeClr val="tx1"/>
                </a:solidFill>
              </a:rPr>
              <a:t>Та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dirty="0" err="1">
                <a:solidFill>
                  <a:schemeClr val="tx1"/>
                </a:solidFill>
              </a:rPr>
              <a:t>же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dirty="0" err="1">
                <a:solidFill>
                  <a:schemeClr val="tx1"/>
                </a:solidFill>
              </a:rPr>
              <a:t>методика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dirty="0" err="1">
                <a:solidFill>
                  <a:schemeClr val="tx1"/>
                </a:solidFill>
              </a:rPr>
              <a:t>сессий</a:t>
            </a:r>
            <a:r>
              <a:rPr lang="en-US" sz="1500" dirty="0">
                <a:solidFill>
                  <a:schemeClr val="tx1"/>
                </a:solidFill>
              </a:rPr>
              <a:t> и </a:t>
            </a:r>
            <a:r>
              <a:rPr lang="en-US" sz="1500" dirty="0" err="1">
                <a:solidFill>
                  <a:schemeClr val="tx1"/>
                </a:solidFill>
              </a:rPr>
              <a:t>отклонений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1908450424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>
            <a:normAutofit fontScale="92500" lnSpcReduction="10000"/>
          </a:bodyPr>
          <a:lstStyle/>
          <a:p>
            <a:pPr>
              <a:defRPr/>
            </a:pPr>
            <a:r>
              <a:rPr lang="en-US" sz="1500" dirty="0" err="1">
                <a:solidFill>
                  <a:schemeClr val="tx1"/>
                </a:solidFill>
              </a:rPr>
              <a:t>Разметка кадров своей площадки заказчика: на Лиме такое дообучение подняло mAP50 с 0,07 до 0,81</a:t>
            </a: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1065763849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15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290914196" name="Заголовок 13"/>
          <p:cNvSpPr>
            <a:spLocks noGrp="1"/>
          </p:cNvSpPr>
          <p:nvPr>
            <p:ph type="title"/>
          </p:nvPr>
        </p:nvSpPr>
        <p:spPr bwMode="auto">
          <a:xfrm>
            <a:off x="526074" y="421226"/>
            <a:ext cx="4740000" cy="376138"/>
          </a:xfrm>
        </p:spPr>
        <p:txBody>
          <a:bodyPr/>
          <a:lstStyle/>
          <a:p>
            <a:pPr>
              <a:defRPr/>
            </a:pPr>
            <a:r>
              <a:rPr lang="ru-RU" dirty="0"/>
              <a:t>МАСШТАБ И РАЗВИТИЕ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130</TotalTime>
  <Words>1312</Words>
  <Application>Microsoft Office PowerPoint</Application>
  <PresentationFormat>Widescreen</PresentationFormat>
  <Paragraphs>169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Lato Light</vt:lpstr>
      <vt:lpstr>Montserrat</vt:lpstr>
      <vt:lpstr>Wingdings</vt:lpstr>
      <vt:lpstr>Для Академия инноваторов 16_9</vt:lpstr>
      <vt:lpstr>КВОРУМ</vt:lpstr>
      <vt:lpstr>КОМАНДА «КВОРУМ»</vt:lpstr>
      <vt:lpstr>КОМАНДА «КВОРУМ»</vt:lpstr>
      <vt:lpstr>КОМАНДА «КВОРУМ»</vt:lpstr>
      <vt:lpstr>КОРОТКО О РЕШЕНИИ</vt:lpstr>
      <vt:lpstr>АРХИТЕКТУРА РЕШЕНИЯ</vt:lpstr>
      <vt:lpstr>ОБОСНОВАНИЕ ВЫБОРА ТЕХНОЛОГИЙ</vt:lpstr>
      <vt:lpstr>СВЯЗЬ СНИМКОВ С ГРАФИКОМ</vt:lpstr>
      <vt:lpstr>СТРУКТУРА ПРОТОТИПА</vt:lpstr>
      <vt:lpstr>ПРОТОТИП</vt:lpstr>
      <vt:lpstr>ЭТАП → ТЕХНИКА</vt:lpstr>
      <vt:lpstr>ЛЕНТА ПРЕДУПРЕЖДЕНИЙ</vt:lpstr>
      <vt:lpstr>ГАНТ И ПРОГНОЗ</vt:lpstr>
      <vt:lpstr>РЕКОМЕНДАЦИИ ПО УСТАНОВКЕ КАМЕР</vt:lpstr>
      <vt:lpstr>МАСШТАБИРОВАНИЕ И РАЗВИТИЕ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Infuy</cp:lastModifiedBy>
  <cp:revision>98</cp:revision>
  <dcterms:created xsi:type="dcterms:W3CDTF">2023-05-15T07:36:23Z</dcterms:created>
  <dcterms:modified xsi:type="dcterms:W3CDTF">2026-09-29T19:30:32Z</dcterms:modified>
</cp:coreProperties>
</file>
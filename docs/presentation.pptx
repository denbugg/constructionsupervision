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2" r:id="rId2"/>
    <p:sldId id="263" r:id="rId3"/>
    <p:sldId id="264" r:id="rId4"/>
    <p:sldId id="265" r:id="rId5"/>
    <p:sldId id="266" r:id="rId6"/>
    <p:sldId id="267" r:id="rId7"/>
    <p:sldId id="270" r:id="rId8"/>
    <p:sldId id="280" r:id="rId9"/>
    <p:sldId id="283" r:id="rId10"/>
    <p:sldId id="296" r:id="rId23"/>
    <p:sldId id="297" r:id="rId24"/>
    <p:sldId id="298" r:id="rId25"/>
    <p:sldId id="299" r:id="rId26"/>
    <p:sldId id="300" r:id="rId11"/>
    <p:sldId id="301" r:id="rId27"/>
    <p:sldId id="294" r:id="rId12"/>
    <p:sldId id="269" r:id="rId13"/>
    <p:sldId id="281" r:id="rId14"/>
    <p:sldId id="295" r:id="rId22"/>
    <p:sldId id="279" r:id="rId15"/>
    <p:sldId id="275" r:id="rId16"/>
  </p:sldIdLst>
  <p:sldSz cx="12192000" cy="6858000"/>
  <p:notesSz cx="6858000" cy="9144000"/>
  <p:defaultTextStyle>
    <a:defPPr>
      <a:defRPr lang="ru-RU"/>
    </a:defPPr>
    <a:lvl1pPr marL="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97">
          <p15:clr>
            <a:srgbClr val="A4A3A4"/>
          </p15:clr>
        </p15:guide>
        <p15:guide id="2" pos="3591">
          <p15:clr>
            <a:srgbClr val="A4A3A4"/>
          </p15:clr>
        </p15:guide>
        <p15:guide id="3" pos="5496">
          <p15:clr>
            <a:srgbClr val="A4A3A4"/>
          </p15:clr>
        </p15:guide>
        <p15:guide id="4" pos="4112">
          <p15:clr>
            <a:srgbClr val="A4A3A4"/>
          </p15:clr>
        </p15:guide>
        <p15:guide id="5" pos="393">
          <p15:clr>
            <a:srgbClr val="A4A3A4"/>
          </p15:clr>
        </p15:guide>
        <p15:guide id="6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558" y="96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4.xml"/><Relationship Id="rId12" Type="http://schemas.openxmlformats.org/officeDocument/2006/relationships/slide" Target="slides/slide16.xml"/><Relationship Id="rId13" Type="http://schemas.openxmlformats.org/officeDocument/2006/relationships/slide" Target="slides/slide17.xml"/><Relationship Id="rId14" Type="http://schemas.openxmlformats.org/officeDocument/2006/relationships/slide" Target="slides/slide18.xml"/><Relationship Id="rId15" Type="http://schemas.openxmlformats.org/officeDocument/2006/relationships/slide" Target="slides/slide20.xml"/><Relationship Id="rId16" Type="http://schemas.openxmlformats.org/officeDocument/2006/relationships/slide" Target="slides/slide21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812951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76178070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DA401BA-3150-4FF7-8D13-C8A64268AC63}" type="datetimeFigureOut">
              <a:rPr lang="ru-RU"/>
              <a:t>29.09.2026</a:t>
            </a:fld>
            <a:endParaRPr lang="ru-RU"/>
          </a:p>
        </p:txBody>
      </p:sp>
      <p:sp>
        <p:nvSpPr>
          <p:cNvPr id="1008376219" name="Образ слайда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657332147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161909993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32077215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D5F3B14-7AC8-406F-A299-37D374056E4F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4A0333-DA6B-BAA6-F9EA-5D8AC4D62B17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9B8682-549C-E1BB-F508-D1525C1FC77B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444576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32661015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0362608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3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542127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5156749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5942801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299260-C65D-4A5C-3C37-B22449FEC14D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E67B9-54C4-EB22-8C9E-0FC5BA1455A2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10654A-DB5D-4FA2-BFBA-DA32D08A6797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66C42D-DEF1-692D-EB23-56912B18EA73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517D75-5C25-5334-B8EA-D5B29D84D7EA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CBCB3-A5B2-A499-0B59-C14AA7E2E84A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094A65-4A95-5C32-0584-82265EE9CA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0D2290-2F05-50C4-D552-6C25AE48DCE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8B3B07-7196-F996-3707-594AEB2742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8268F6-FB98-9775-D61D-DAEA8E938702}" type="slidenum">
              <a:rPr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31730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5440481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576689137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25732498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12</a:t>
            </a:fld>
            <a:endParaRPr lang="ru-RU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8268F6-FB98-9775-D61D-DAEA8E938702}" type="slidenum">
              <a:rPr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0EF839-8C2F-1635-BA9E-18E16C384912}" type="slidenum">
              <a:rPr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C2024A-A9FC-D896-80FF-52C5C7D0B8F6}" type="slidenum">
              <a:rPr/>
              <a:t>15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Титульный слайд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682889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/>
            </a:r>
            <a:endParaRPr/>
          </a:p>
        </p:txBody>
      </p:sp>
      <p:sp>
        <p:nvSpPr>
          <p:cNvPr id="880295750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/>
            </a:r>
            <a:endParaRPr/>
          </a:p>
        </p:txBody>
      </p:sp>
      <p:sp>
        <p:nvSpPr>
          <p:cNvPr id="401620835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/>
            </a:r>
            <a:endParaRPr/>
          </a:p>
        </p:txBody>
      </p:sp>
      <p:sp>
        <p:nvSpPr>
          <p:cNvPr id="602869623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r>
              <a:rPr lang="ru-RU" sz="1600" b="0"/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076004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/>
            </a:r>
            <a:endParaRPr/>
          </a:p>
        </p:txBody>
      </p:sp>
      <p:sp>
        <p:nvSpPr>
          <p:cNvPr id="166635619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522378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/>
              <a:t>29.09.2026</a:t>
            </a:fld>
            <a:endParaRPr lang="ru-RU"/>
          </a:p>
        </p:txBody>
      </p:sp>
      <p:sp>
        <p:nvSpPr>
          <p:cNvPr id="104878655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9380906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92736678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/>
            </a:r>
            <a:endParaRPr/>
          </a:p>
        </p:txBody>
      </p:sp>
      <p:sp>
        <p:nvSpPr>
          <p:cNvPr id="1795973529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  <a:p>
            <a:pPr lvl="0">
              <a:defRPr/>
            </a:pPr>
            <a:r>
              <a:rPr lang="en-US"/>
              <a:t/>
            </a:r>
            <a:endParaRPr/>
          </a:p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913937985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  <a:p>
            <a:pPr lvl="0">
              <a:defRPr/>
            </a:pPr>
            <a:r>
              <a:rPr lang="en-US"/>
              <a:t/>
            </a:r>
            <a:endParaRPr/>
          </a:p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1548332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  <a:p>
            <a:pPr lvl="0">
              <a:defRPr/>
            </a:pPr>
            <a:r>
              <a:rPr lang="en-US"/>
              <a:t/>
            </a:r>
            <a:endParaRPr/>
          </a:p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2000063644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  <a:p>
            <a:pPr lvl="0">
              <a:defRPr/>
            </a:pPr>
            <a:r>
              <a:rPr lang="en-US"/>
              <a:t/>
            </a:r>
            <a:endParaRPr/>
          </a:p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660029963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  <a:p>
            <a:pPr lvl="0">
              <a:defRPr/>
            </a:pPr>
            <a:r>
              <a:rPr lang="en-US"/>
              <a:t/>
            </a:r>
            <a:endParaRPr/>
          </a:p>
          <a:p>
            <a:pPr lvl="0">
              <a:defRPr/>
            </a:pPr>
            <a:r>
              <a:rPr lang="ru-RU"/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5602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1021F813-DBA1-42EC-A748-A9CC16659E6B}" type="datetime1">
              <a:rPr lang="ru-RU"/>
              <a:t>29.09.2026</a:t>
            </a:fld>
            <a:endParaRPr lang="ru-RU"/>
          </a:p>
        </p:txBody>
      </p:sp>
      <p:sp>
        <p:nvSpPr>
          <p:cNvPr id="11232564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0745183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669326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/>
            </a:r>
            <a:endParaRPr/>
          </a:p>
          <a:p>
            <a:pPr lvl="1">
              <a:defRPr/>
            </a:pPr>
            <a:r>
              <a:rPr lang="ru-RU"/>
              <a:t/>
            </a:r>
            <a:endParaRPr/>
          </a:p>
          <a:p>
            <a:pPr lvl="2">
              <a:defRPr/>
            </a:pPr>
            <a:r>
              <a:rPr lang="ru-RU"/>
              <a:t/>
            </a:r>
            <a:endParaRPr/>
          </a:p>
          <a:p>
            <a:pPr lvl="3">
              <a:defRPr/>
            </a:pPr>
            <a:r>
              <a:rPr lang="ru-RU"/>
              <a:t/>
            </a:r>
            <a:endParaRPr/>
          </a:p>
          <a:p>
            <a:pPr lvl="4">
              <a:defRPr/>
            </a:pPr>
            <a:r>
              <a:rPr lang="ru-RU"/>
              <a:t/>
            </a:r>
            <a:endParaRPr/>
          </a:p>
        </p:txBody>
      </p:sp>
      <p:sp>
        <p:nvSpPr>
          <p:cNvPr id="71237116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/>
              <a:t>29.09.2026</a:t>
            </a:fld>
            <a:endParaRPr lang="ru-RU"/>
          </a:p>
        </p:txBody>
      </p:sp>
      <p:sp>
        <p:nvSpPr>
          <p:cNvPr id="185866539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1058281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454463469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536032" name="Объект 2"/>
          <p:cNvSpPr>
            <a:spLocks noGrp="1"/>
          </p:cNvSpPr>
          <p:nvPr>
            <p:ph sz="half" idx="1"/>
          </p:nvPr>
        </p:nvSpPr>
        <p:spPr bwMode="auto">
          <a:xfrm>
            <a:off x="315387" y="1016001"/>
            <a:ext cx="5704418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/>
            </a:r>
            <a:endParaRPr/>
          </a:p>
          <a:p>
            <a:pPr lvl="1">
              <a:defRPr/>
            </a:pPr>
            <a:r>
              <a:rPr lang="ru-RU"/>
              <a:t/>
            </a:r>
            <a:endParaRPr/>
          </a:p>
          <a:p>
            <a:pPr lvl="2">
              <a:defRPr/>
            </a:pPr>
            <a:r>
              <a:rPr lang="ru-RU"/>
              <a:t/>
            </a:r>
            <a:endParaRPr/>
          </a:p>
          <a:p>
            <a:pPr lvl="3">
              <a:defRPr/>
            </a:pPr>
            <a:r>
              <a:rPr lang="ru-RU"/>
              <a:t/>
            </a:r>
            <a:endParaRPr/>
          </a:p>
          <a:p>
            <a:pPr lvl="4">
              <a:defRPr/>
            </a:pPr>
            <a:r>
              <a:rPr lang="ru-RU"/>
              <a:t/>
            </a:r>
            <a:endParaRPr/>
          </a:p>
        </p:txBody>
      </p:sp>
      <p:sp>
        <p:nvSpPr>
          <p:cNvPr id="104292606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6" y="1016001"/>
            <a:ext cx="5670472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/>
            </a:r>
            <a:endParaRPr/>
          </a:p>
          <a:p>
            <a:pPr lvl="1">
              <a:defRPr/>
            </a:pPr>
            <a:r>
              <a:rPr lang="ru-RU"/>
              <a:t/>
            </a:r>
            <a:endParaRPr/>
          </a:p>
          <a:p>
            <a:pPr lvl="2">
              <a:defRPr/>
            </a:pPr>
            <a:r>
              <a:rPr lang="ru-RU"/>
              <a:t/>
            </a:r>
            <a:endParaRPr/>
          </a:p>
          <a:p>
            <a:pPr lvl="3">
              <a:defRPr/>
            </a:pPr>
            <a:r>
              <a:rPr lang="ru-RU"/>
              <a:t/>
            </a:r>
            <a:endParaRPr/>
          </a:p>
          <a:p>
            <a:pPr lvl="4">
              <a:defRPr/>
            </a:pPr>
            <a:r>
              <a:rPr lang="ru-RU"/>
              <a:t/>
            </a:r>
            <a:endParaRPr/>
          </a:p>
        </p:txBody>
      </p:sp>
      <p:sp>
        <p:nvSpPr>
          <p:cNvPr id="1889770961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3014BBE-C503-4380-A869-5EE8294FE947}" type="datetime1">
              <a:rPr lang="ru-RU"/>
              <a:t>29.09.2026</a:t>
            </a:fld>
            <a:endParaRPr lang="ru-RU"/>
          </a:p>
        </p:txBody>
      </p:sp>
      <p:sp>
        <p:nvSpPr>
          <p:cNvPr id="121339198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3777490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91928755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555898" name="Текст 2"/>
          <p:cNvSpPr>
            <a:spLocks noGrp="1"/>
          </p:cNvSpPr>
          <p:nvPr>
            <p:ph type="body" idx="1"/>
          </p:nvPr>
        </p:nvSpPr>
        <p:spPr bwMode="auto"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2017223496" name="Объект 3"/>
          <p:cNvSpPr>
            <a:spLocks noGrp="1"/>
          </p:cNvSpPr>
          <p:nvPr>
            <p:ph sz="half" idx="2"/>
          </p:nvPr>
        </p:nvSpPr>
        <p:spPr bwMode="auto">
          <a:xfrm>
            <a:off x="349334" y="1598615"/>
            <a:ext cx="5648250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/>
            </a:r>
            <a:endParaRPr/>
          </a:p>
          <a:p>
            <a:pPr lvl="1">
              <a:defRPr/>
            </a:pPr>
            <a:r>
              <a:rPr lang="ru-RU"/>
              <a:t/>
            </a:r>
            <a:endParaRPr/>
          </a:p>
          <a:p>
            <a:pPr lvl="2">
              <a:defRPr/>
            </a:pPr>
            <a:r>
              <a:rPr lang="ru-RU"/>
              <a:t/>
            </a:r>
            <a:endParaRPr/>
          </a:p>
          <a:p>
            <a:pPr lvl="3">
              <a:defRPr/>
            </a:pPr>
            <a:r>
              <a:rPr lang="ru-RU"/>
              <a:t/>
            </a:r>
            <a:endParaRPr/>
          </a:p>
          <a:p>
            <a:pPr lvl="4">
              <a:defRPr/>
            </a:pPr>
            <a:r>
              <a:rPr lang="ru-RU"/>
              <a:t/>
            </a:r>
          </a:p>
        </p:txBody>
      </p:sp>
      <p:sp>
        <p:nvSpPr>
          <p:cNvPr id="731636676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791712141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2" y="1598615"/>
            <a:ext cx="5670472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/>
            </a:r>
            <a:endParaRPr/>
          </a:p>
          <a:p>
            <a:pPr lvl="1">
              <a:defRPr/>
            </a:pPr>
            <a:r>
              <a:rPr lang="ru-RU"/>
              <a:t/>
            </a:r>
            <a:endParaRPr/>
          </a:p>
          <a:p>
            <a:pPr lvl="2">
              <a:defRPr/>
            </a:pPr>
            <a:r>
              <a:rPr lang="ru-RU"/>
              <a:t/>
            </a:r>
            <a:endParaRPr/>
          </a:p>
          <a:p>
            <a:pPr lvl="3">
              <a:defRPr/>
            </a:pPr>
            <a:r>
              <a:rPr lang="ru-RU"/>
              <a:t/>
            </a:r>
            <a:endParaRPr/>
          </a:p>
          <a:p>
            <a:pPr lvl="4">
              <a:defRPr/>
            </a:pPr>
            <a:r>
              <a:rPr lang="ru-RU"/>
              <a:t/>
            </a:r>
            <a:endParaRPr/>
          </a:p>
        </p:txBody>
      </p:sp>
      <p:sp>
        <p:nvSpPr>
          <p:cNvPr id="172805432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D568497-304A-497F-ADAE-97D3CF462C1C}" type="datetime1">
              <a:rPr lang="ru-RU"/>
              <a:t>29.09.2026</a:t>
            </a:fld>
            <a:endParaRPr lang="ru-RU"/>
          </a:p>
        </p:txBody>
      </p:sp>
      <p:sp>
        <p:nvSpPr>
          <p:cNvPr id="657734324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41445009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91046477" name="Заголовок 1"/>
          <p:cNvSpPr>
            <a:spLocks noGrp="1"/>
          </p:cNvSpPr>
          <p:nvPr>
            <p:ph type="title"/>
          </p:nvPr>
        </p:nvSpPr>
        <p:spPr bwMode="auto"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12139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2CB240C-04A3-49D4-83F9-87A9C6C414DC}" type="datetime1">
              <a:rPr lang="ru-RU"/>
              <a:t>29.09.2026</a:t>
            </a:fld>
            <a:endParaRPr lang="ru-RU"/>
          </a:p>
        </p:txBody>
      </p:sp>
      <p:sp>
        <p:nvSpPr>
          <p:cNvPr id="14842797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8618675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85011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/>
            </a:r>
            <a:endParaRPr/>
          </a:p>
        </p:txBody>
      </p:sp>
      <p:sp>
        <p:nvSpPr>
          <p:cNvPr id="975281028" name="Объект 2"/>
          <p:cNvSpPr>
            <a:spLocks noGrp="1"/>
          </p:cNvSpPr>
          <p:nvPr>
            <p:ph idx="1"/>
          </p:nvPr>
        </p:nvSpPr>
        <p:spPr bwMode="auto"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50"/>
            </a:lvl1pPr>
            <a:lvl2pPr>
              <a:defRPr sz="1500"/>
            </a:lvl2pPr>
            <a:lvl3pPr>
              <a:defRPr sz="1250"/>
            </a:lvl3pPr>
            <a:lvl4pPr>
              <a:defRPr sz="1150"/>
            </a:lvl4pPr>
            <a:lvl5pPr>
              <a:defRPr sz="11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>
              <a:defRPr/>
            </a:pPr>
            <a:r>
              <a:rPr lang="ru-RU"/>
              <a:t/>
            </a:r>
            <a:endParaRPr/>
          </a:p>
          <a:p>
            <a:pPr lvl="1">
              <a:defRPr/>
            </a:pPr>
            <a:r>
              <a:rPr lang="ru-RU"/>
              <a:t/>
            </a:r>
            <a:endParaRPr/>
          </a:p>
          <a:p>
            <a:pPr lvl="2">
              <a:defRPr/>
            </a:pPr>
            <a:r>
              <a:rPr lang="ru-RU"/>
              <a:t/>
            </a:r>
            <a:endParaRPr/>
          </a:p>
          <a:p>
            <a:pPr lvl="3">
              <a:defRPr/>
            </a:pPr>
            <a:r>
              <a:rPr lang="ru-RU"/>
              <a:t/>
            </a:r>
            <a:endParaRPr/>
          </a:p>
          <a:p>
            <a:pPr lvl="4">
              <a:defRPr/>
            </a:pPr>
            <a:r>
              <a:rPr lang="ru-RU"/>
              <a:t/>
            </a:r>
            <a:endParaRPr/>
          </a:p>
        </p:txBody>
      </p:sp>
      <p:sp>
        <p:nvSpPr>
          <p:cNvPr id="896366570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376611987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E74468B-3512-454B-AB51-7AE95604D39E}" type="datetime1">
              <a:rPr lang="ru-RU"/>
              <a:t>29.09.2026</a:t>
            </a:fld>
            <a:endParaRPr lang="ru-RU"/>
          </a:p>
        </p:txBody>
      </p:sp>
      <p:sp>
        <p:nvSpPr>
          <p:cNvPr id="155615248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1458955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01652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AB2196-A440-4E25-B9FF-D0ADB01B1A15}" type="datetime1">
              <a:rPr lang="ru-RU"/>
              <a:t>29.09.2026</a:t>
            </a:fld>
            <a:endParaRPr lang="ru-RU"/>
          </a:p>
        </p:txBody>
      </p:sp>
      <p:sp>
        <p:nvSpPr>
          <p:cNvPr id="2075348248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19872225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/>
            </a:r>
            <a:endParaRPr/>
          </a:p>
        </p:txBody>
      </p:sp>
      <p:sp>
        <p:nvSpPr>
          <p:cNvPr id="196834576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27087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/>
              <a:t>29.09.2026</a:t>
            </a:fld>
            <a:endParaRPr lang="ru-RU"/>
          </a:p>
        </p:txBody>
      </p:sp>
      <p:sp>
        <p:nvSpPr>
          <p:cNvPr id="195041990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00584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792380901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874422937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/>
            </a:r>
            <a:endParaRPr/>
          </a:p>
        </p:txBody>
      </p:sp>
      <p:sp>
        <p:nvSpPr>
          <p:cNvPr id="1694822356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269095115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/>
            </a:r>
            <a:endParaRPr/>
          </a:p>
        </p:txBody>
      </p:sp>
      <p:sp>
        <p:nvSpPr>
          <p:cNvPr id="1682530970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926454970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/>
            </a:r>
            <a:endParaRPr/>
          </a:p>
        </p:txBody>
      </p:sp>
      <p:sp>
        <p:nvSpPr>
          <p:cNvPr id="1069797757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635738940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/>
            </a:r>
            <a:endParaRPr/>
          </a:p>
        </p:txBody>
      </p:sp>
      <p:sp>
        <p:nvSpPr>
          <p:cNvPr id="476364177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458554842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/>
            </a:r>
            <a:endParaRPr/>
          </a:p>
        </p:txBody>
      </p:sp>
      <p:sp>
        <p:nvSpPr>
          <p:cNvPr id="1682611309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680188690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/>
            </a:r>
            <a:endParaRPr/>
          </a:p>
        </p:txBody>
      </p:sp>
      <p:sp>
        <p:nvSpPr>
          <p:cNvPr id="1957727187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/>
            </a:r>
            <a:endParaRPr/>
          </a:p>
        </p:txBody>
      </p:sp>
      <p:sp>
        <p:nvSpPr>
          <p:cNvPr id="689925399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256972101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208148889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684210003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2519466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969617493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0847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AFA80CC-940E-479C-90C0-76DA923785E9}" type="datetime1">
              <a:rPr lang="ru-RU"/>
              <a:t>29.09.2026</a:t>
            </a:fld>
            <a:endParaRPr lang="ru-RU"/>
          </a:p>
        </p:txBody>
      </p:sp>
      <p:sp>
        <p:nvSpPr>
          <p:cNvPr id="208819332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757589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177865552" name="Заголовок 1"/>
          <p:cNvSpPr>
            <a:spLocks noGrp="1"/>
          </p:cNvSpPr>
          <p:nvPr>
            <p:ph type="title"/>
          </p:nvPr>
        </p:nvSpPr>
        <p:spPr bwMode="auto"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/>
            </a:r>
            <a:endParaRPr/>
          </a:p>
        </p:txBody>
      </p:sp>
      <p:sp>
        <p:nvSpPr>
          <p:cNvPr id="839753479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7440147" y="1016001"/>
            <a:ext cx="4405777" cy="3078479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67254588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7440149" y="4389108"/>
            <a:ext cx="4405775" cy="181166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01935067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346075" y="3223948"/>
            <a:ext cx="6806142" cy="297682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20516688" name="Текст 1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25329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/>
              <a:t>29.09.2026</a:t>
            </a:fld>
            <a:endParaRPr lang="ru-RU"/>
          </a:p>
        </p:txBody>
      </p:sp>
      <p:sp>
        <p:nvSpPr>
          <p:cNvPr id="149572482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84074013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/>
            </a:r>
            <a:endParaRPr/>
          </a:p>
        </p:txBody>
      </p:sp>
      <p:sp>
        <p:nvSpPr>
          <p:cNvPr id="2103893195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808292524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2031151279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998998086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741709136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239403092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5408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/>
              <a:t>29.09.2026</a:t>
            </a:fld>
            <a:endParaRPr lang="ru-RU"/>
          </a:p>
        </p:txBody>
      </p:sp>
      <p:sp>
        <p:nvSpPr>
          <p:cNvPr id="15107933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5229932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337256866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/>
            </a:r>
            <a:endParaRPr/>
          </a:p>
        </p:txBody>
      </p:sp>
      <p:sp>
        <p:nvSpPr>
          <p:cNvPr id="1868929240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93888215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018155805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263972428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56472058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72275498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58109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2938A0C3-5C2F-47B8-B008-79A49A1195BA}" type="datetime1">
              <a:rPr lang="ru-RU"/>
              <a:t>29.09.2026</a:t>
            </a:fld>
            <a:endParaRPr lang="ru-RU"/>
          </a:p>
        </p:txBody>
      </p:sp>
      <p:sp>
        <p:nvSpPr>
          <p:cNvPr id="45079419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0081529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597326524" name="Заголовок 1"/>
          <p:cNvSpPr>
            <a:spLocks noGrp="1"/>
          </p:cNvSpPr>
          <p:nvPr>
            <p:ph type="title"/>
          </p:nvPr>
        </p:nvSpPr>
        <p:spPr bwMode="auto"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/>
            </a:r>
            <a:endParaRPr/>
          </a:p>
        </p:txBody>
      </p:sp>
      <p:sp>
        <p:nvSpPr>
          <p:cNvPr id="169114585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41476688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73066030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399164481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160248213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41652764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969505246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46930435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66927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4F29EB-DFD0-428E-8E89-ED117A3553E3}" type="datetime1">
              <a:rPr lang="ru-RU"/>
              <a:t>29.09.2026</a:t>
            </a:fld>
            <a:endParaRPr lang="ru-RU"/>
          </a:p>
        </p:txBody>
      </p:sp>
      <p:sp>
        <p:nvSpPr>
          <p:cNvPr id="34375558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715226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45142924" name="Заголовок 1"/>
          <p:cNvSpPr>
            <a:spLocks noGrp="1"/>
          </p:cNvSpPr>
          <p:nvPr>
            <p:ph type="title"/>
          </p:nvPr>
        </p:nvSpPr>
        <p:spPr bwMode="auto"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/>
            </a:r>
            <a:endParaRPr/>
          </a:p>
        </p:txBody>
      </p:sp>
      <p:sp>
        <p:nvSpPr>
          <p:cNvPr id="1632442884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491519423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2018792073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982414852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654076117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56283262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206192035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154626048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849858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/>
              <a:t>29.09.2026</a:t>
            </a:fld>
            <a:endParaRPr lang="ru-RU"/>
          </a:p>
        </p:txBody>
      </p:sp>
      <p:sp>
        <p:nvSpPr>
          <p:cNvPr id="144845255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3310992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124927468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41322562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376240833" name="Текст 35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876004260" name="Текст 35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977609924" name="Текст 3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99710853" name="Текст 35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949188184" name="Текст 35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268968598" name="Текст 35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595903953" name="Текст 35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410288170" name="Текст 35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74155163" name="Заголовок 1"/>
          <p:cNvSpPr>
            <a:spLocks noGrp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57983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/>
              <a:t>29.09.2026</a:t>
            </a:fld>
            <a:endParaRPr lang="ru-RU"/>
          </a:p>
        </p:txBody>
      </p:sp>
      <p:sp>
        <p:nvSpPr>
          <p:cNvPr id="167580533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1433720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560885061" name="Заголовок 1"/>
          <p:cNvSpPr>
            <a:spLocks noGrp="1"/>
          </p:cNvSpPr>
          <p:nvPr>
            <p:ph type="title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/>
            </a:r>
            <a:endParaRPr/>
          </a:p>
        </p:txBody>
      </p:sp>
      <p:sp>
        <p:nvSpPr>
          <p:cNvPr id="1122197277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16118850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428729295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856443119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922520453" name="Текст 35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034779806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086165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4162940" y="1264478"/>
            <a:ext cx="3866121" cy="2436377"/>
          </a:xfrm>
        </p:spPr>
      </p:sp>
      <p:sp>
        <p:nvSpPr>
          <p:cNvPr id="89648991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D396B86-640F-4AD1-BBB2-E085B6CD8771}" type="datetime1">
              <a:rPr lang="ru-RU"/>
              <a:t>29.09.2026</a:t>
            </a:fld>
            <a:endParaRPr lang="ru-RU"/>
          </a:p>
        </p:txBody>
      </p:sp>
      <p:sp>
        <p:nvSpPr>
          <p:cNvPr id="37812774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3889069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34715051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/>
            </a:r>
            <a:endParaRPr/>
          </a:p>
        </p:txBody>
      </p:sp>
      <p:sp>
        <p:nvSpPr>
          <p:cNvPr id="2021024583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6075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/>
            </a:r>
            <a:endParaRPr/>
          </a:p>
          <a:p>
            <a:pPr lvl="1">
              <a:defRPr/>
            </a:pPr>
            <a:r>
              <a:rPr lang="ru-RU"/>
              <a:t/>
            </a:r>
            <a:endParaRPr/>
          </a:p>
          <a:p>
            <a:pPr lvl="2">
              <a:defRPr/>
            </a:pPr>
            <a:r>
              <a:rPr lang="ru-RU"/>
              <a:t/>
            </a:r>
            <a:endParaRPr/>
          </a:p>
          <a:p>
            <a:pPr lvl="3">
              <a:defRPr/>
            </a:pPr>
            <a:r>
              <a:rPr lang="ru-RU"/>
              <a:t/>
            </a:r>
            <a:endParaRPr/>
          </a:p>
          <a:p>
            <a:pPr lvl="4">
              <a:defRPr/>
            </a:pPr>
            <a:r>
              <a:rPr lang="ru-RU"/>
              <a:t/>
            </a:r>
            <a:endParaRPr/>
          </a:p>
        </p:txBody>
      </p:sp>
      <p:sp>
        <p:nvSpPr>
          <p:cNvPr id="320280167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/>
            </a:r>
            <a:endParaRPr/>
          </a:p>
          <a:p>
            <a:pPr lvl="1">
              <a:defRPr/>
            </a:pPr>
            <a:r>
              <a:rPr lang="ru-RU"/>
              <a:t/>
            </a:r>
            <a:endParaRPr/>
          </a:p>
          <a:p>
            <a:pPr lvl="2">
              <a:defRPr/>
            </a:pPr>
            <a:r>
              <a:rPr lang="ru-RU"/>
              <a:t/>
            </a:r>
            <a:endParaRPr/>
          </a:p>
          <a:p>
            <a:pPr lvl="3">
              <a:defRPr/>
            </a:pPr>
            <a:r>
              <a:rPr lang="ru-RU"/>
              <a:t/>
            </a:r>
            <a:endParaRPr/>
          </a:p>
          <a:p>
            <a:pPr lvl="4">
              <a:defRPr/>
            </a:pPr>
            <a:r>
              <a:rPr lang="ru-RU"/>
              <a:t/>
            </a:r>
            <a:endParaRPr/>
          </a:p>
        </p:txBody>
      </p:sp>
      <p:sp>
        <p:nvSpPr>
          <p:cNvPr id="604478788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8230203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/>
            </a:r>
            <a:endParaRPr/>
          </a:p>
          <a:p>
            <a:pPr lvl="1">
              <a:defRPr/>
            </a:pPr>
            <a:r>
              <a:rPr lang="ru-RU"/>
              <a:t/>
            </a:r>
            <a:endParaRPr/>
          </a:p>
          <a:p>
            <a:pPr lvl="2">
              <a:defRPr/>
            </a:pPr>
            <a:r>
              <a:rPr lang="ru-RU"/>
              <a:t/>
            </a:r>
            <a:endParaRPr/>
          </a:p>
          <a:p>
            <a:pPr lvl="3">
              <a:defRPr/>
            </a:pPr>
            <a:r>
              <a:rPr lang="ru-RU"/>
              <a:t/>
            </a:r>
            <a:endParaRPr/>
          </a:p>
          <a:p>
            <a:pPr lvl="4">
              <a:defRPr/>
            </a:pPr>
            <a:r>
              <a:rPr lang="ru-RU"/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235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/>
              <a:t>29.09.2026</a:t>
            </a:fld>
            <a:endParaRPr lang="ru-RU"/>
          </a:p>
        </p:txBody>
      </p:sp>
      <p:sp>
        <p:nvSpPr>
          <p:cNvPr id="11471699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3036871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259102376" name="Заголовок 1"/>
          <p:cNvSpPr>
            <a:spLocks noGrp="1"/>
          </p:cNvSpPr>
          <p:nvPr>
            <p:ph type="title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/>
            </a:r>
            <a:endParaRPr/>
          </a:p>
        </p:txBody>
      </p:sp>
      <p:sp>
        <p:nvSpPr>
          <p:cNvPr id="93639810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/>
            </a:r>
            <a:endParaRPr/>
          </a:p>
          <a:p>
            <a:pPr lvl="1">
              <a:defRPr/>
            </a:pPr>
            <a:r>
              <a:rPr lang="ru-RU"/>
              <a:t/>
            </a:r>
            <a:endParaRPr/>
          </a:p>
          <a:p>
            <a:pPr lvl="2">
              <a:defRPr/>
            </a:pPr>
            <a:r>
              <a:rPr lang="ru-RU"/>
              <a:t/>
            </a:r>
            <a:endParaRPr/>
          </a:p>
          <a:p>
            <a:pPr lvl="3">
              <a:defRPr/>
            </a:pPr>
            <a:r>
              <a:rPr lang="ru-RU"/>
              <a:t/>
            </a:r>
            <a:endParaRPr/>
          </a:p>
          <a:p>
            <a:pPr lvl="4">
              <a:defRPr/>
            </a:pPr>
            <a:r>
              <a:rPr lang="ru-RU"/>
              <a:t/>
            </a:r>
            <a:endParaRPr/>
          </a:p>
        </p:txBody>
      </p:sp>
      <p:sp>
        <p:nvSpPr>
          <p:cNvPr id="199722443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/>
            </a:r>
            <a:endParaRPr/>
          </a:p>
          <a:p>
            <a:pPr lvl="1">
              <a:defRPr/>
            </a:pPr>
            <a:r>
              <a:rPr lang="ru-RU"/>
              <a:t/>
            </a:r>
            <a:endParaRPr/>
          </a:p>
          <a:p>
            <a:pPr lvl="2">
              <a:defRPr/>
            </a:pPr>
            <a:r>
              <a:rPr lang="ru-RU"/>
              <a:t/>
            </a:r>
            <a:endParaRPr/>
          </a:p>
          <a:p>
            <a:pPr lvl="3">
              <a:defRPr/>
            </a:pPr>
            <a:r>
              <a:rPr lang="ru-RU"/>
              <a:t/>
            </a:r>
            <a:endParaRPr/>
          </a:p>
          <a:p>
            <a:pPr lvl="4">
              <a:defRPr/>
            </a:pPr>
            <a:r>
              <a:rPr lang="ru-RU"/>
              <a:t/>
            </a:r>
            <a:endParaRPr/>
          </a:p>
        </p:txBody>
      </p:sp>
      <p:sp>
        <p:nvSpPr>
          <p:cNvPr id="525584501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</p:sp>
      <p:sp>
        <p:nvSpPr>
          <p:cNvPr id="823724485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624748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90666637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66197673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69067376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078948986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65861159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445328777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00255233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sp>
        <p:nvSpPr>
          <p:cNvPr id="1200879656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/>
            </a:r>
            <a:endParaRPr/>
          </a:p>
        </p:txBody>
      </p:sp>
      <p:cxnSp>
        <p:nvCxnSpPr>
          <p:cNvPr id="589614520" name="Google Shape;2799;p94"/>
          <p:cNvCxnSpPr/>
          <p:nvPr userDrawn="1"/>
        </p:nvCxnSpPr>
        <p:spPr bwMode="auto"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1545724" name="Google Shape;2799;p94"/>
          <p:cNvCxnSpPr/>
          <p:nvPr userDrawn="1"/>
        </p:nvCxnSpPr>
        <p:spPr bwMode="auto"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625227" name="Google Shape;2799;p94"/>
          <p:cNvCxnSpPr/>
          <p:nvPr userDrawn="1"/>
        </p:nvCxnSpPr>
        <p:spPr bwMode="auto"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7509977" name="Google Shape;2799;p94"/>
          <p:cNvCxnSpPr/>
          <p:nvPr userDrawn="1"/>
        </p:nvCxnSpPr>
        <p:spPr bwMode="auto"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1619468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/>
            </a:r>
            <a:endParaRPr/>
          </a:p>
        </p:txBody>
      </p:sp>
      <p:sp>
        <p:nvSpPr>
          <p:cNvPr id="318129555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fld id="{9D490EE5-ED7D-46E8-8345-A78A0CB0F4A4}" type="datetime1">
              <a:rPr lang="ru-RU"/>
              <a:t>29.09.2026</a:t>
            </a:fld>
            <a:endParaRPr lang="ru-RU"/>
          </a:p>
        </p:txBody>
      </p:sp>
      <p:sp>
        <p:nvSpPr>
          <p:cNvPr id="2139654067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87854632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939360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580386608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99003789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668171859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93250523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C8C16AD-D907-4463-BE30-FCBB33ACAE3F}" type="datetime1">
              <a:rPr lang="ru-RU"/>
              <a:t>29.09.2026</a:t>
            </a:fld>
            <a:endParaRPr lang="ru-RU"/>
          </a:p>
        </p:txBody>
      </p:sp>
      <p:sp>
        <p:nvSpPr>
          <p:cNvPr id="79260098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5050469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64420842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346076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/>
            </a:r>
            <a:endParaRPr/>
          </a:p>
          <a:p>
            <a:pPr lvl="1">
              <a:defRPr/>
            </a:pPr>
            <a:r>
              <a:rPr lang="ru-RU"/>
              <a:t/>
            </a:r>
            <a:endParaRPr/>
          </a:p>
          <a:p>
            <a:pPr lvl="2">
              <a:defRPr/>
            </a:pPr>
            <a:r>
              <a:rPr lang="ru-RU"/>
              <a:t/>
            </a:r>
            <a:endParaRPr/>
          </a:p>
          <a:p>
            <a:pPr lvl="3">
              <a:defRPr/>
            </a:pPr>
            <a:r>
              <a:rPr lang="ru-RU"/>
              <a:t/>
            </a:r>
            <a:endParaRPr/>
          </a:p>
          <a:p>
            <a:pPr lvl="4">
              <a:defRPr/>
            </a:pPr>
            <a:r>
              <a:rPr lang="ru-RU"/>
              <a:t/>
            </a:r>
            <a:endParaRPr/>
          </a:p>
        </p:txBody>
      </p:sp>
      <p:sp>
        <p:nvSpPr>
          <p:cNvPr id="1656314850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3269562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/>
            </a:r>
            <a:endParaRPr/>
          </a:p>
          <a:p>
            <a:pPr lvl="1">
              <a:defRPr/>
            </a:pPr>
            <a:r>
              <a:rPr lang="ru-RU"/>
              <a:t/>
            </a:r>
            <a:endParaRPr/>
          </a:p>
          <a:p>
            <a:pPr lvl="2">
              <a:defRPr/>
            </a:pPr>
            <a:r>
              <a:rPr lang="ru-RU"/>
              <a:t/>
            </a:r>
            <a:endParaRPr/>
          </a:p>
          <a:p>
            <a:pPr lvl="3">
              <a:defRPr/>
            </a:pPr>
            <a:r>
              <a:rPr lang="ru-RU"/>
              <a:t/>
            </a:r>
            <a:endParaRPr/>
          </a:p>
          <a:p>
            <a:pPr lvl="4">
              <a:defRPr/>
            </a:pPr>
            <a:r>
              <a:rPr lang="ru-RU"/>
              <a:t/>
            </a:r>
            <a:endParaRPr/>
          </a:p>
        </p:txBody>
      </p:sp>
      <p:sp>
        <p:nvSpPr>
          <p:cNvPr id="554257058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193048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/>
            </a:r>
            <a:endParaRPr/>
          </a:p>
          <a:p>
            <a:pPr lvl="1">
              <a:defRPr/>
            </a:pPr>
            <a:r>
              <a:rPr lang="ru-RU"/>
              <a:t/>
            </a:r>
            <a:endParaRPr/>
          </a:p>
          <a:p>
            <a:pPr lvl="2">
              <a:defRPr/>
            </a:pPr>
            <a:r>
              <a:rPr lang="ru-RU"/>
              <a:t/>
            </a:r>
            <a:endParaRPr/>
          </a:p>
          <a:p>
            <a:pPr lvl="3">
              <a:defRPr/>
            </a:pPr>
            <a:r>
              <a:rPr lang="ru-RU"/>
              <a:t/>
            </a:r>
            <a:endParaRPr/>
          </a:p>
          <a:p>
            <a:pPr lvl="4">
              <a:defRPr/>
            </a:pPr>
            <a:r>
              <a:rPr lang="ru-RU"/>
              <a:t/>
            </a:r>
            <a:endParaRPr/>
          </a:p>
        </p:txBody>
      </p:sp>
      <p:sp>
        <p:nvSpPr>
          <p:cNvPr id="1990252769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/>
            </a:r>
            <a:endParaRPr/>
          </a:p>
          <a:p>
            <a:pPr lvl="1">
              <a:defRPr/>
            </a:pPr>
            <a:r>
              <a:rPr lang="ru-RU"/>
              <a:t/>
            </a:r>
            <a:endParaRPr/>
          </a:p>
          <a:p>
            <a:pPr lvl="2">
              <a:defRPr/>
            </a:pPr>
            <a:r>
              <a:rPr lang="ru-RU"/>
              <a:t/>
            </a:r>
            <a:endParaRPr/>
          </a:p>
          <a:p>
            <a:pPr lvl="3">
              <a:defRPr/>
            </a:pPr>
            <a:r>
              <a:rPr lang="ru-RU"/>
              <a:t/>
            </a:r>
            <a:endParaRPr/>
          </a:p>
          <a:p>
            <a:pPr lvl="4">
              <a:defRPr/>
            </a:pPr>
            <a:r>
              <a:rPr lang="ru-RU"/>
              <a:t/>
            </a:r>
            <a:endParaRPr/>
          </a:p>
        </p:txBody>
      </p:sp>
      <p:sp>
        <p:nvSpPr>
          <p:cNvPr id="202672160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5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7097445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/>
            </a:r>
            <a:endParaRPr/>
          </a:p>
        </p:txBody>
      </p:sp>
      <p:sp>
        <p:nvSpPr>
          <p:cNvPr id="1903902632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/>
            </a:r>
            <a:endParaRPr/>
          </a:p>
          <a:p>
            <a:pPr lvl="1">
              <a:defRPr/>
            </a:pPr>
            <a:r>
              <a:rPr lang="ru-RU"/>
              <a:t/>
            </a:r>
            <a:endParaRPr/>
          </a:p>
          <a:p>
            <a:pPr lvl="2">
              <a:defRPr/>
            </a:pPr>
            <a:r>
              <a:rPr lang="ru-RU"/>
              <a:t/>
            </a:r>
            <a:endParaRPr/>
          </a:p>
          <a:p>
            <a:pPr lvl="3">
              <a:defRPr/>
            </a:pPr>
            <a:r>
              <a:rPr lang="ru-RU"/>
              <a:t/>
            </a:r>
            <a:endParaRPr/>
          </a:p>
          <a:p>
            <a:pPr lvl="4">
              <a:defRPr/>
            </a:pPr>
            <a:r>
              <a:rPr lang="ru-RU"/>
              <a:t/>
            </a:r>
            <a:endParaRPr/>
          </a:p>
        </p:txBody>
      </p:sp>
      <p:sp>
        <p:nvSpPr>
          <p:cNvPr id="131779235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D490EE5-ED7D-46E8-8345-A78A0CB0F4A4}" type="datetime1">
              <a:rPr lang="ru-RU"/>
              <a:t>29.09.2026</a:t>
            </a:fld>
            <a:endParaRPr lang="ru-RU"/>
          </a:p>
        </p:txBody>
      </p:sp>
      <p:sp>
        <p:nvSpPr>
          <p:cNvPr id="192607067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8248768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hdr="0" ftr="0" dt="0"/>
  <p:txStyles>
    <p:titleStyle>
      <a:lvl1pPr algn="l" defTabSz="578755" rtl="0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144688" indent="-144688" algn="l" defTabSz="578755" rtl="0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4.png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4.png"/><Relationship Id="rId3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4.png"/><Relationship Id="rId3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4.png"/><Relationship Id="rId3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4.png"/><Relationship Id="rId3" Type="http://schemas.openxmlformats.org/officeDocument/2006/relationships/image" Target="../media/image13.png"/><Relationship Id="rId4" Type="http://schemas.openxmlformats.org/officeDocument/2006/relationships/image" Target="../media/image1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4.png"/><Relationship Id="rId3" Type="http://schemas.openxmlformats.org/officeDocument/2006/relationships/image" Target="../media/image13.png"/><Relationship Id="rId4" Type="http://schemas.openxmlformats.org/officeDocument/2006/relationships/image" Target="../media/image1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199916" name="Заголовок 2"/>
          <p:cNvSpPr>
            <a:spLocks noGrp="1"/>
          </p:cNvSpPr>
          <p:nvPr>
            <p:ph type="ctrTitle"/>
          </p:nvPr>
        </p:nvSpPr>
        <p:spPr bwMode="auto">
          <a:xfrm>
            <a:off x="1" y="3894513"/>
            <a:ext cx="6271845" cy="1706743"/>
          </a:xfrm>
        </p:spPr>
        <p:txBody>
          <a:bodyPr/>
          <a:lstStyle/>
          <a:p>
            <a:pPr marL="268288" indent="0">
              <a:defRPr/>
            </a:pPr>
            <a:r>
              <a:rPr lang="ru-RU" sz="4800" dirty="0"/>
              <a:t>КВОРУМ</a:t>
            </a:r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E31E2F71-AB2B-7A09-F5CC-7574560B988C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1450" b="1450"/>
          <a:stretch/>
        </p:blipFill>
        <p:spPr bwMode="auto">
          <a:xfrm>
            <a:off x="304800" y="330200"/>
            <a:ext cx="5194300" cy="1082675"/>
          </a:xfrm>
          <a:prstGeom prst="rect">
            <a:avLst/>
          </a:prstGeom>
        </p:spPr>
      </p:pic>
      <p:sp>
        <p:nvSpPr>
          <p:cNvPr id="757351073" name="Текст 4"/>
          <p:cNvSpPr>
            <a:spLocks noGrp="1"/>
          </p:cNvSpPr>
          <p:nvPr>
            <p:ph type="body" sz="quarter" idx="12"/>
          </p:nvPr>
        </p:nvSpPr>
        <p:spPr bwMode="auto">
          <a:xfrm>
            <a:off x="0" y="5659501"/>
            <a:ext cx="8930641" cy="757174"/>
          </a:xfrm>
        </p:spPr>
        <p:txBody>
          <a:bodyPr anchor="ctr"/>
          <a:lstStyle/>
          <a:p>
            <a:pPr indent="268288">
              <a:defRPr/>
            </a:pPr>
            <a:r>
              <a:rPr lang="ru-RU" dirty="0"/>
              <a:t>№ 7. </a:t>
            </a:r>
            <a:r>
              <a:rPr lang="en-US" dirty="0" err="1"/>
              <a:t>Интеллектуальная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мониторинга</a:t>
            </a:r>
            <a:r>
              <a:rPr lang="en-US" dirty="0"/>
              <a:t> </a:t>
            </a:r>
            <a:r>
              <a:rPr lang="en-US" dirty="0" err="1"/>
              <a:t>строительной</a:t>
            </a:r>
            <a:r>
              <a:rPr lang="en-US" dirty="0"/>
              <a:t> </a:t>
            </a:r>
            <a:r>
              <a:rPr lang="en-US" dirty="0" err="1"/>
              <a:t>площадки</a:t>
            </a:r>
            <a:endParaRPr lang="ru-RU" dirty="0"/>
          </a:p>
        </p:txBody>
      </p:sp>
      <p:sp>
        <p:nvSpPr>
          <p:cNvPr id="1091804844" name="Скругленный прямоугольник 1"/>
          <p:cNvSpPr/>
          <p:nvPr/>
        </p:nvSpPr>
        <p:spPr bwMode="auto"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098921" name="Прямоугольник 2"/>
          <p:cNvSpPr/>
          <p:nvPr/>
        </p:nvSpPr>
        <p:spPr bwMode="auto"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/>
          </a:p>
        </p:txBody>
      </p:sp>
      <p:sp>
        <p:nvSpPr>
          <p:cNvPr id="1609484257" name="Рисунок 1"/>
          <p:cNvSpPr>
            <a:spLocks noGrp="1"/>
          </p:cNvSpPr>
          <p:nvPr>
            <p:ph type="pic" sz="quarter" idx="10"/>
          </p:nvPr>
        </p:nvSpPr>
        <p:spPr bwMode="auto">
          <a:xfrm>
            <a:off x="0" y="335267"/>
            <a:ext cx="6456363" cy="2971784"/>
          </a:xfrm>
        </p:spPr>
        <p:txBody>
          <a:bodyPr/>
          <a:lstStyle/>
          <a:p>
            <a:endParaRPr lang="en-US"/>
          </a:p>
        </p:txBody>
      </p:sp>
      <p:sp>
        <p:nvSpPr>
          <p:cNvPr id="1143600250" name="Текст 8"/>
          <p:cNvSpPr txBox="1"/>
          <p:nvPr/>
        </p:nvSpPr>
        <p:spPr bwMode="auto"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Краткое описание решения:</a:t>
            </a:r>
            <a:endParaRPr/>
          </a:p>
        </p:txBody>
      </p:sp>
      <p:sp>
        <p:nvSpPr>
          <p:cNvPr id="441518184" name="Текст 8"/>
          <p:cNvSpPr txBox="1"/>
          <p:nvPr/>
        </p:nvSpPr>
        <p:spPr bwMode="auto"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sz="1300" dirty="0" err="1">
                <a:solidFill>
                  <a:schemeClr val="tx1"/>
                </a:solidFill>
              </a:rPr>
              <a:t>Каждое отклонение несёт числа (facts) и снимок с рамками (evidence). Правила — это данные, а не код: новый класс техники — одна запись в YAML, новое правило этапа — правка в интерфейсе с пересчётом.</a:t>
            </a:r>
            <a:endParaRPr sz="1300" dirty="0">
              <a:solidFill>
                <a:schemeClr val="tx1"/>
              </a:solidFill>
            </a:endParaRPr>
          </a:p>
        </p:txBody>
      </p:sp>
      <p:sp>
        <p:nvSpPr>
          <p:cNvPr id="661119785" name="Текст 8"/>
          <p:cNvSpPr txBox="1"/>
          <p:nvPr/>
        </p:nvSpPr>
        <p:spPr bwMode="auto"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Капитан: </a:t>
            </a:r>
            <a:r>
              <a:rPr lang="ru-RU" dirty="0">
                <a:solidFill>
                  <a:schemeClr val="tx1"/>
                </a:solidFill>
              </a:rPr>
              <a:t>Петрин Денис Иванович, студент ФИИ</a:t>
            </a:r>
            <a:endParaRPr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Кол-во участников: </a:t>
            </a:r>
            <a:r>
              <a:rPr lang="ru-RU" dirty="0">
                <a:solidFill>
                  <a:schemeClr val="tx1"/>
                </a:solidFill>
              </a:rPr>
              <a:t>3</a:t>
            </a:r>
            <a:endParaRPr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Краткое описание: </a:t>
            </a:r>
            <a:endParaRPr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ru-RU" i="1" dirty="0">
                <a:solidFill>
                  <a:schemeClr val="tx1"/>
                </a:solidFill>
              </a:rPr>
              <a:t>Студенты ФИИ МГУ и МФТИ: компьютерное зрение, бэкенд, продукт и дизайн</a:t>
            </a:r>
            <a:endParaRPr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ru-RU" i="1" dirty="0">
                <a:solidFill>
                  <a:schemeClr val="tx1"/>
                </a:solidFill>
              </a:rPr>
              <a:t>Факультет искусственного интеллекта МГУ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ru-RU" i="1" dirty="0">
                <a:solidFill>
                  <a:schemeClr val="tx1"/>
                </a:solidFill>
              </a:rPr>
              <a:t>МФТИ ФПМИ </a:t>
            </a:r>
            <a:r>
              <a:rPr lang="en-US" i="1" dirty="0">
                <a:solidFill>
                  <a:schemeClr val="tx1"/>
                </a:solidFill>
              </a:rPr>
              <a:t>AI360</a:t>
            </a:r>
            <a:endParaRPr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Город и регион: </a:t>
            </a:r>
            <a:r>
              <a:rPr lang="ru-RU" dirty="0">
                <a:solidFill>
                  <a:schemeClr val="tx1"/>
                </a:solidFill>
              </a:rPr>
              <a:t>г. Москва</a:t>
            </a:r>
            <a:endParaRPr dirty="0"/>
          </a:p>
        </p:txBody>
      </p:sp>
      <p:sp>
        <p:nvSpPr>
          <p:cNvPr id="648121520" name="Текст 8"/>
          <p:cNvSpPr txBox="1"/>
          <p:nvPr/>
        </p:nvSpPr>
        <p:spPr bwMode="auto"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О команде</a:t>
            </a:r>
            <a:endParaRPr/>
          </a:p>
        </p:txBody>
      </p:sp>
      <p:sp>
        <p:nvSpPr>
          <p:cNvPr id="328740113" name="Заголовок 6"/>
          <p:cNvSpPr>
            <a:spLocks noGrp="1"/>
          </p:cNvSpPr>
          <p:nvPr>
            <p:ph type="title"/>
          </p:nvPr>
        </p:nvSpPr>
        <p:spPr bwMode="auto">
          <a:xfrm>
            <a:off x="6819903" y="1039236"/>
            <a:ext cx="3636703" cy="1015128"/>
          </a:xfrm>
        </p:spPr>
        <p:txBody>
          <a:bodyPr/>
          <a:lstStyle/>
          <a:p>
            <a:pPr>
              <a:defRPr/>
            </a:pPr>
            <a:r>
              <a:rPr lang="ru-RU" sz="2400" dirty="0">
                <a:solidFill>
                  <a:schemeClr val="accent5"/>
                </a:solidFill>
                <a:latin typeface="Montserrat"/>
              </a:rPr>
              <a:t>КОМАНДА «КВОРУМ»</a:t>
            </a:r>
          </a:p>
        </p:txBody>
      </p:sp>
      <p:cxnSp>
        <p:nvCxnSpPr>
          <p:cNvPr id="1478954076" name="Прямая соединительная линия 6"/>
          <p:cNvCxnSpPr/>
          <p:nvPr/>
        </p:nvCxnSpPr>
        <p:spPr bwMode="auto"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16552124" name="Прямая соединительная линия 15"/>
          <p:cNvCxnSpPr/>
          <p:nvPr/>
        </p:nvCxnSpPr>
        <p:spPr bwMode="auto"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1184900" name="Прямая соединительная линия 16"/>
          <p:cNvCxnSpPr/>
          <p:nvPr/>
        </p:nvCxnSpPr>
        <p:spPr bwMode="auto"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03619342" name="Текст 8"/>
          <p:cNvSpPr txBox="1"/>
          <p:nvPr/>
        </p:nvSpPr>
        <p:spPr bwMode="auto"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Уникальность решения:</a:t>
            </a:r>
            <a:endParaRPr/>
          </a:p>
        </p:txBody>
      </p:sp>
      <p:sp>
        <p:nvSpPr>
          <p:cNvPr id="1075761414" name="Текст 8"/>
          <p:cNvSpPr txBox="1"/>
          <p:nvPr/>
        </p:nvSpPr>
        <p:spPr bwMode="auto"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dirty="0" err="1">
                <a:solidFill>
                  <a:schemeClr val="tx1"/>
                </a:solidFill>
              </a:rPr>
              <a:t>Система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анализирует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снимки</a:t>
            </a:r>
            <a:r>
              <a:rPr lang="en-US" dirty="0">
                <a:solidFill>
                  <a:schemeClr val="tx1"/>
                </a:solidFill>
              </a:rPr>
              <a:t> с </a:t>
            </a:r>
            <a:r>
              <a:rPr lang="en-US" dirty="0" err="1">
                <a:solidFill>
                  <a:schemeClr val="tx1"/>
                </a:solidFill>
              </a:rPr>
              <a:t>камер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стройплощадки</a:t>
            </a:r>
            <a:r>
              <a:rPr lang="en-US" dirty="0">
                <a:solidFill>
                  <a:schemeClr val="tx1"/>
                </a:solidFill>
              </a:rPr>
              <a:t> и </a:t>
            </a:r>
            <a:r>
              <a:rPr lang="en-US" dirty="0" err="1">
                <a:solidFill>
                  <a:schemeClr val="tx1"/>
                </a:solidFill>
              </a:rPr>
              <a:t>автоматически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сопоставляет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факт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работ</a:t>
            </a:r>
            <a:r>
              <a:rPr lang="en-US" dirty="0">
                <a:solidFill>
                  <a:schemeClr val="tx1"/>
                </a:solidFill>
              </a:rPr>
              <a:t> с </a:t>
            </a:r>
            <a:r>
              <a:rPr lang="en-US" dirty="0" err="1">
                <a:solidFill>
                  <a:schemeClr val="tx1"/>
                </a:solidFill>
              </a:rPr>
              <a:t>календарным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графиком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en-US" dirty="0" err="1">
                <a:solidFill>
                  <a:schemeClr val="tx1"/>
                </a:solidFill>
              </a:rPr>
              <a:t>распознаёт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технику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определяет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участок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привязывает</a:t>
            </a:r>
            <a:r>
              <a:rPr lang="en-US" dirty="0">
                <a:solidFill>
                  <a:schemeClr val="tx1"/>
                </a:solidFill>
              </a:rPr>
              <a:t> к </a:t>
            </a:r>
            <a:r>
              <a:rPr lang="en-US" dirty="0" err="1">
                <a:solidFill>
                  <a:schemeClr val="tx1"/>
                </a:solidFill>
              </a:rPr>
              <a:t>этапу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находит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отклонения</a:t>
            </a:r>
            <a:r>
              <a:rPr lang="en-US" dirty="0">
                <a:solidFill>
                  <a:schemeClr val="tx1"/>
                </a:solidFill>
              </a:rPr>
              <a:t> и </a:t>
            </a:r>
            <a:r>
              <a:rPr lang="en-US" dirty="0" err="1">
                <a:solidFill>
                  <a:schemeClr val="tx1"/>
                </a:solidFill>
              </a:rPr>
              <a:t>пересчитывает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прогноз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сроков</a:t>
            </a:r>
            <a:r>
              <a:rPr lang="en-US" dirty="0">
                <a:solidFill>
                  <a:schemeClr val="tx1"/>
                </a:solidFill>
              </a:rPr>
              <a:t>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108767591" name="Номер слайда 35"/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accent5"/>
                </a:solidFill>
              </a:rPr>
              <a:t>2</a:t>
            </a:fld>
            <a:endParaRPr lang="ru-RU" sz="120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7745144" name="Скругленный прямоугольник 58"/>
          <p:cNvSpPr/>
          <p:nvPr/>
        </p:nvSpPr>
        <p:spPr bwMode="auto">
          <a:xfrm>
            <a:off x="4956712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767261468" name="Текст 8"/>
          <p:cNvSpPr txBox="1"/>
          <p:nvPr/>
        </p:nvSpPr>
        <p:spPr bwMode="auto">
          <a:xfrm>
            <a:off x="512899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Капитан</a:t>
            </a:r>
            <a:endParaRPr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@denbug</a:t>
            </a:r>
            <a:endParaRPr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+7 901 745 3592</a:t>
            </a:r>
            <a:endParaRPr sz="12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ФИИ МГУ</a:t>
            </a:r>
          </a:p>
        </p:txBody>
      </p:sp>
      <p:sp>
        <p:nvSpPr>
          <p:cNvPr id="789313918" name="Текст 8"/>
          <p:cNvSpPr txBox="1"/>
          <p:nvPr/>
        </p:nvSpPr>
        <p:spPr bwMode="auto"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Денис Петрин</a:t>
            </a:r>
            <a:endParaRPr dirty="0"/>
          </a:p>
        </p:txBody>
      </p:sp>
      <p:sp>
        <p:nvSpPr>
          <p:cNvPr id="2086725175" name="Скругленный прямоугольник 64"/>
          <p:cNvSpPr/>
          <p:nvPr/>
        </p:nvSpPr>
        <p:spPr bwMode="auto">
          <a:xfrm>
            <a:off x="9567349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106280066" name="Текст 8"/>
          <p:cNvSpPr txBox="1"/>
          <p:nvPr/>
        </p:nvSpPr>
        <p:spPr bwMode="auto">
          <a:xfrm>
            <a:off x="9739633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Маркетинг и дизайн</a:t>
            </a:r>
            <a:endParaRPr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@infuy</a:t>
            </a:r>
            <a:endParaRPr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+7 983 324 5207</a:t>
            </a:r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ФИИ МГУ</a:t>
            </a:r>
          </a:p>
        </p:txBody>
      </p:sp>
      <p:sp>
        <p:nvSpPr>
          <p:cNvPr id="1456275104" name="Текст 8"/>
          <p:cNvSpPr txBox="1"/>
          <p:nvPr/>
        </p:nvSpPr>
        <p:spPr bwMode="auto">
          <a:xfrm>
            <a:off x="9739632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Александр Горбунов</a:t>
            </a:r>
            <a:endParaRPr dirty="0"/>
          </a:p>
        </p:txBody>
      </p:sp>
      <p:sp>
        <p:nvSpPr>
          <p:cNvPr id="481545546" name="Скругленный прямоугольник 16"/>
          <p:cNvSpPr/>
          <p:nvPr/>
        </p:nvSpPr>
        <p:spPr bwMode="auto">
          <a:xfrm>
            <a:off x="346076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662366709" name="Скругленный прямоугольник 12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93695819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3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172799835" name="Рисунок 1"/>
          <p:cNvSpPr>
            <a:spLocks noGrp="1"/>
          </p:cNvSpPr>
          <p:nvPr>
            <p:ph type="pic" sz="quarter" idx="4294967295"/>
          </p:nvPr>
        </p:nvSpPr>
        <p:spPr bwMode="auto">
          <a:xfrm>
            <a:off x="581397" y="1816054"/>
            <a:ext cx="1722566" cy="1552901"/>
          </a:xfrm>
        </p:spPr>
        <p:txBody>
          <a:bodyPr/>
          <a:lstStyle/>
          <a:p>
            <a:endParaRPr lang="en-US"/>
          </a:p>
        </p:txBody>
      </p:sp>
      <p:sp>
        <p:nvSpPr>
          <p:cNvPr id="368022300" name="Рисунок 3"/>
          <p:cNvSpPr>
            <a:spLocks noGrp="1"/>
          </p:cNvSpPr>
          <p:nvPr>
            <p:ph type="pic" sz="quarter" idx="4294967295"/>
          </p:nvPr>
        </p:nvSpPr>
        <p:spPr bwMode="auto">
          <a:xfrm>
            <a:off x="5191784" y="1809238"/>
            <a:ext cx="1722567" cy="1559717"/>
          </a:xfrm>
        </p:spPr>
        <p:txBody>
          <a:bodyPr/>
          <a:lstStyle/>
          <a:p>
            <a:endParaRPr lang="en-US"/>
          </a:p>
        </p:txBody>
      </p:sp>
      <p:sp>
        <p:nvSpPr>
          <p:cNvPr id="1344225912" name="Рисунок 5"/>
          <p:cNvSpPr>
            <a:spLocks noGrp="1"/>
          </p:cNvSpPr>
          <p:nvPr>
            <p:ph type="pic" sz="quarter" idx="4294967295"/>
          </p:nvPr>
        </p:nvSpPr>
        <p:spPr bwMode="auto">
          <a:xfrm>
            <a:off x="9802422" y="1809238"/>
            <a:ext cx="1722566" cy="1559717"/>
          </a:xfrm>
        </p:spPr>
        <p:txBody>
          <a:bodyPr/>
          <a:lstStyle/>
          <a:p>
            <a:endParaRPr lang="en-US"/>
          </a:p>
        </p:txBody>
      </p:sp>
      <p:sp>
        <p:nvSpPr>
          <p:cNvPr id="415042907" name="Заголовок 6"/>
          <p:cNvSpPr>
            <a:spLocks noGrp="1"/>
          </p:cNvSpPr>
          <p:nvPr>
            <p:ph type="title"/>
          </p:nvPr>
        </p:nvSpPr>
        <p:spPr bwMode="auto">
          <a:xfrm>
            <a:off x="51835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dirty="0">
                <a:latin typeface="Montserrat"/>
              </a:rPr>
              <a:t>КОМАНДА «КВОРУМ»</a:t>
            </a:r>
          </a:p>
        </p:txBody>
      </p:sp>
      <p:sp>
        <p:nvSpPr>
          <p:cNvPr id="105846267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18360" y="4250028"/>
            <a:ext cx="1894354" cy="1624612"/>
          </a:xfrm>
        </p:spPr>
        <p:txBody>
          <a:bodyPr>
            <a:normAutofit/>
          </a:bodyPr>
          <a:lstStyle/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Разработка и </a:t>
            </a:r>
            <a:r>
              <a:rPr lang="en-US" sz="1200" dirty="0">
                <a:solidFill>
                  <a:schemeClr val="tx1"/>
                </a:solidFill>
              </a:rPr>
              <a:t>DevOps</a:t>
            </a:r>
            <a:endParaRPr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@cerXXXX</a:t>
            </a:r>
            <a:endParaRPr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+7 903 975 4526</a:t>
            </a:r>
            <a:endParaRPr sz="1200" dirty="0">
              <a:solidFill>
                <a:schemeClr val="tx1"/>
              </a:solidFill>
            </a:endParaRPr>
          </a:p>
          <a:p>
            <a:pPr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МФТИ ФПМИ </a:t>
            </a:r>
            <a:r>
              <a:rPr lang="en-US" sz="1200" dirty="0">
                <a:solidFill>
                  <a:schemeClr val="tx1"/>
                </a:solidFill>
              </a:rPr>
              <a:t>AI360</a:t>
            </a:r>
            <a:endParaRPr dirty="0"/>
          </a:p>
        </p:txBody>
      </p:sp>
      <p:sp>
        <p:nvSpPr>
          <p:cNvPr id="1278750663" name="Текст 8"/>
          <p:cNvSpPr txBox="1"/>
          <p:nvPr/>
        </p:nvSpPr>
        <p:spPr bwMode="auto"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Иван Поляков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463204" name="Скругленный прямоугольник 1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240408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4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865297653" name="Заголовок 6"/>
          <p:cNvSpPr>
            <a:spLocks noGrp="1"/>
          </p:cNvSpPr>
          <p:nvPr>
            <p:ph type="title"/>
          </p:nvPr>
        </p:nvSpPr>
        <p:spPr bwMode="auto">
          <a:xfrm>
            <a:off x="50784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dirty="0">
                <a:latin typeface="Montserrat"/>
              </a:rPr>
              <a:t>КОМАНДА «КВОРУМ»</a:t>
            </a:r>
          </a:p>
        </p:txBody>
      </p:sp>
      <p:sp>
        <p:nvSpPr>
          <p:cNvPr id="158889012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 sz="1400">
                <a:solidFill>
                  <a:schemeClr val="tx1"/>
                </a:solidFill>
              </a:rPr>
              <a:t>Собрались под ЛЦТ-2026: двое — первокурсники ФИИ МГУ, один — МФТИ ФПМИ AI360. Работали как продуктовая команда: ТЗ → методика → архитектурные решения (ADR) → код с тестами → репетиция запуска на чистой машине.</a:t>
            </a:r>
            <a:endParaRPr dirty="0"/>
          </a:p>
        </p:txBody>
      </p:sp>
      <p:sp>
        <p:nvSpPr>
          <p:cNvPr id="493921390" name="Текст 8"/>
          <p:cNvSpPr txBox="1"/>
          <p:nvPr/>
        </p:nvSpPr>
        <p:spPr bwMode="auto"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  <a:endParaRPr dirty="0"/>
          </a:p>
        </p:txBody>
      </p:sp>
      <p:sp>
        <p:nvSpPr>
          <p:cNvPr id="243118211" name="Текст 8"/>
          <p:cNvSpPr txBox="1"/>
          <p:nvPr/>
        </p:nvSpPr>
        <p:spPr bwMode="auto"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dirty="0">
                <a:solidFill>
                  <a:schemeClr val="tx1"/>
                </a:solidFill>
              </a:rPr>
              <a:t>1) Техника есть, но не та или не там — у каждого отклонения D1–D10 порог в данных, числа и снимок.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2) Zero-shot почти не видит технику (mAP50 0,07) — дообучили до 0,81 и показываем обе цифры.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3) Запуск на чужой машине — образы, веса и демо-кадры скачиваются одной командой.</a:t>
            </a: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endParaRPr dirty="0">
              <a:solidFill>
                <a:schemeClr val="tx1"/>
              </a:solidFill>
            </a:endParaRPr>
          </a:p>
        </p:txBody>
      </p:sp>
      <p:sp>
        <p:nvSpPr>
          <p:cNvPr id="765507967" name="Текст 8"/>
          <p:cNvSpPr txBox="1"/>
          <p:nvPr/>
        </p:nvSpPr>
        <p:spPr bwMode="auto"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вы столкнулись и как их преодолели?</a:t>
            </a:r>
            <a:endParaRPr/>
          </a:p>
        </p:txBody>
      </p:sp>
      <p:sp>
        <p:nvSpPr>
          <p:cNvPr id="1574440249" name="Текст 8"/>
          <p:cNvSpPr txBox="1"/>
          <p:nvPr/>
        </p:nvSpPr>
        <p:spPr bwMode="auto"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dirty="0" err="1">
                <a:solidFill>
                  <a:schemeClr val="tx1"/>
                </a:solidFill>
              </a:rPr>
              <a:t>Превратить видеонаблюдение в помощника прораба: система сама говорит «вот отклонение, вот доказательство, вот прогноз».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790469585" name="Текст 8"/>
          <p:cNvSpPr txBox="1"/>
          <p:nvPr/>
        </p:nvSpPr>
        <p:spPr bwMode="auto"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 предложенных на хакатоне?</a:t>
            </a:r>
            <a:endParaRPr dirty="0"/>
          </a:p>
        </p:txBody>
      </p:sp>
      <p:cxnSp>
        <p:nvCxnSpPr>
          <p:cNvPr id="1125078722" name="Прямая соединительная линия 4"/>
          <p:cNvCxnSpPr/>
          <p:nvPr/>
        </p:nvCxnSpPr>
        <p:spPr bwMode="auto">
          <a:xfrm>
            <a:off x="623888" y="2745690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1438399" name="Прямая соединительная линия 5"/>
          <p:cNvCxnSpPr/>
          <p:nvPr/>
        </p:nvCxnSpPr>
        <p:spPr bwMode="auto"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54362844" name="Прямая соединительная линия 7"/>
          <p:cNvCxnSpPr/>
          <p:nvPr/>
        </p:nvCxnSpPr>
        <p:spPr bwMode="auto"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72459714" name="Текст 8"/>
          <p:cNvSpPr txBox="1"/>
          <p:nvPr/>
        </p:nvSpPr>
        <p:spPr bwMode="auto"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01</a:t>
            </a:r>
            <a:endParaRPr/>
          </a:p>
        </p:txBody>
      </p:sp>
      <p:sp>
        <p:nvSpPr>
          <p:cNvPr id="1977750831" name="Текст 8"/>
          <p:cNvSpPr txBox="1"/>
          <p:nvPr/>
        </p:nvSpPr>
        <p:spPr bwMode="auto"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02</a:t>
            </a:r>
            <a:endParaRPr/>
          </a:p>
        </p:txBody>
      </p:sp>
      <p:sp>
        <p:nvSpPr>
          <p:cNvPr id="1433482465" name="Текст 8"/>
          <p:cNvSpPr txBox="1"/>
          <p:nvPr/>
        </p:nvSpPr>
        <p:spPr bwMode="auto"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634285" name="Скругленный прямоугольник 9"/>
          <p:cNvSpPr/>
          <p:nvPr/>
        </p:nvSpPr>
        <p:spPr bwMode="auto">
          <a:xfrm>
            <a:off x="346075" y="324562"/>
            <a:ext cx="375091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2449051" name="Скругленный прямоугольник 23"/>
          <p:cNvSpPr/>
          <p:nvPr/>
        </p:nvSpPr>
        <p:spPr bwMode="auto"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93046190" name="Скругленный прямоугольник 26"/>
          <p:cNvSpPr/>
          <p:nvPr/>
        </p:nvSpPr>
        <p:spPr bwMode="auto"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27018758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5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782181813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89492" y="1920927"/>
            <a:ext cx="4929861" cy="386858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1400" dirty="0">
                <a:solidFill>
                  <a:schemeClr val="tx1"/>
                </a:solidFill>
              </a:rPr>
              <a:t>4 сервиса (план, площадка, распознавание, анализ с отчётами) + gateway. У каждого сервиса с данными — своя БД, связь только по REST</a:t>
            </a:r>
            <a:endParaRPr lang="ru-RU" sz="140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1400" dirty="0" err="1">
                <a:solidFill>
                  <a:schemeClr val="tx1"/>
                </a:solidFill>
              </a:rPr>
              <a:t>Распознавание: YOLO-World, дообученный на открытых датасетах стройтехники, + OpenCLIP для стадии объекта</a:t>
            </a:r>
            <a:endParaRPr lang="ru-RU" sz="140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1400" dirty="0" err="1">
                <a:solidFill>
                  <a:schemeClr val="tx1"/>
                </a:solidFill>
              </a:rPr>
              <a:t>Правила отклонений, классы техники, зоны и пороги — это данные (YAML, БД), а не код</a:t>
            </a:r>
            <a:endParaRPr lang="ru-RU" sz="140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1400" dirty="0" err="1">
                <a:solidFill>
                  <a:schemeClr val="tx1"/>
                </a:solidFill>
              </a:rPr>
              <a:t>Стек: FastAPI, PostgreSQL, SeaweedFS (S3), React, Docker.</a:t>
            </a:r>
            <a:endParaRPr sz="1400" dirty="0">
              <a:solidFill>
                <a:schemeClr val="tx1"/>
              </a:solidFill>
            </a:endParaRPr>
          </a:p>
        </p:txBody>
      </p:sp>
      <p:sp>
        <p:nvSpPr>
          <p:cNvPr id="321655550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1400" dirty="0" err="1">
                <a:solidFill>
                  <a:schemeClr val="tx1"/>
                </a:solidFill>
              </a:rPr>
              <a:t>От видеоархива — к контролю графика: система сама говорит, что не так, где и почему</a:t>
            </a:r>
            <a:endParaRPr lang="ru-RU" sz="140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1400" dirty="0" err="1">
                <a:solidFill>
                  <a:schemeClr val="tx1"/>
                </a:solidFill>
              </a:rPr>
              <a:t>Цепочка ценности: Снимок → Техника → Участок → Этап графика → Отклонение → Прогноз</a:t>
            </a:r>
            <a:endParaRPr lang="ru-RU" sz="135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1400" dirty="0" err="1">
                <a:solidFill>
                  <a:schemeClr val="tx1"/>
                </a:solidFill>
              </a:rPr>
              <a:t>Развитие: гибрид детекторов, расчёт графика для всех типов объектов (сейчас — монолитный жилой дом), другие площадки с техникой: карьеры, порты.</a:t>
            </a: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607500153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КОРОТКО О РЕШЕНИИ</a:t>
            </a:r>
            <a:endParaRPr/>
          </a:p>
        </p:txBody>
      </p:sp>
      <p:sp>
        <p:nvSpPr>
          <p:cNvPr id="2139836321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  <a:endParaRPr dirty="0"/>
          </a:p>
        </p:txBody>
      </p:sp>
      <p:sp>
        <p:nvSpPr>
          <p:cNvPr id="878253783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454368" name="Прямоугольник 29"/>
          <p:cNvSpPr/>
          <p:nvPr/>
        </p:nvSpPr>
        <p:spPr bwMode="auto">
          <a:xfrm>
            <a:off x="0" y="0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994751754" name="Объект 28"/>
          <p:cNvSpPr>
            <a:spLocks noGrp="1"/>
          </p:cNvSpPr>
          <p:nvPr>
            <p:ph idx="1"/>
          </p:nvPr>
        </p:nvSpPr>
        <p:spPr bwMode="auto">
          <a:xfrm>
            <a:off x="521133" y="1263123"/>
            <a:ext cx="5574868" cy="4937652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4 сервиса + gateway:</a:t>
            </a:r>
            <a:endParaRPr lang="ru-RU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plan-service — объекты, график (импорт XLSX/CSV или расчёт по МРР), этапы, правила «этап → техника»</a:t>
            </a:r>
            <a:endParaRPr lang="ru-RU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site-service — камеры, зоны, снимки, детекции, окна наблюдения по 30 минут</a:t>
            </a:r>
            <a:endParaRPr lang="ru-RU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vision-service — распознавание техники (YOLO-World) и стадии объекта (OpenCLIP)</a:t>
            </a:r>
            <a:endParaRPr lang="ru-RU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analysis-service — отклонения D1–D10, прогноз, PDF-отчёт и LLM-резюме. У каждого сервиса с данными — своя БД, связь только по REST через gateway.</a:t>
            </a:r>
            <a:br>
              <a:rPr lang="en-US" dirty="0">
                <a:solidFill>
                  <a:schemeClr val="tx1"/>
                </a:solidFill>
              </a:rPr>
            </a:br>
            <a:endParaRPr lang="ru-RU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 err="1">
                <a:solidFill>
                  <a:schemeClr val="tx1"/>
                </a:solidFill>
              </a:rPr>
              <a:t>Данные, а не код: правила, классы техники, зоны и пороги. Новый класс техники — одна запись в YAML, без правки кода.</a:t>
            </a:r>
            <a:endParaRPr lang="ru-RU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 err="1">
                <a:solidFill>
                  <a:schemeClr val="tx1"/>
                </a:solidFill>
              </a:rPr>
              <a:t>Сквозные X-API-Key и X-Request-Id: один запрос прослеживается через все сервисы.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065220022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6</a:t>
            </a:fld>
            <a:endParaRPr lang="ru-RU"/>
          </a:p>
        </p:txBody>
      </p:sp>
      <p:sp>
        <p:nvSpPr>
          <p:cNvPr id="1029284307" name="Заголовок 27"/>
          <p:cNvSpPr>
            <a:spLocks noGrp="1"/>
          </p:cNvSpPr>
          <p:nvPr>
            <p:ph type="title"/>
          </p:nvPr>
        </p:nvSpPr>
        <p:spPr bwMode="auto">
          <a:xfrm>
            <a:off x="527444" y="395288"/>
            <a:ext cx="5574868" cy="425729"/>
          </a:xfrm>
        </p:spPr>
        <p:txBody>
          <a:bodyPr/>
          <a:lstStyle/>
          <a:p>
            <a:pPr>
              <a:defRPr/>
            </a:pPr>
            <a:r>
              <a:rPr lang="ru-RU" sz="2000" dirty="0">
                <a:solidFill>
                  <a:schemeClr val="accent5"/>
                </a:solidFill>
              </a:rPr>
              <a:t>АРХИТЕКТУРА РЕШЕНИЯ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5712D0-C197-73D8-C6CA-634675406EB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9445" y="1747768"/>
            <a:ext cx="6072555" cy="33624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68687" name="Заголовок 5"/>
          <p:cNvSpPr>
            <a:spLocks noGrp="1"/>
          </p:cNvSpPr>
          <p:nvPr>
            <p:ph type="title"/>
          </p:nvPr>
        </p:nvSpPr>
        <p:spPr bwMode="auto">
          <a:xfrm>
            <a:off x="533490" y="370426"/>
            <a:ext cx="5562510" cy="442374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chemeClr val="accent5"/>
                </a:solidFill>
              </a:rPr>
              <a:t>ОБОСНОВАНИЕ ВЫБОРА ТЕХНОЛОГИЙ</a:t>
            </a:r>
            <a:endParaRPr lang="ru-RU" sz="2000" dirty="0">
              <a:solidFill>
                <a:schemeClr val="accent5"/>
              </a:solidFill>
            </a:endParaRPr>
          </a:p>
        </p:txBody>
      </p:sp>
      <p:sp>
        <p:nvSpPr>
          <p:cNvPr id="1484418242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521132" y="1695025"/>
            <a:ext cx="6903795" cy="712587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b="1" dirty="0">
                <a:solidFill>
                  <a:schemeClr val="accent1"/>
                </a:solidFill>
              </a:rPr>
              <a:t>YOLO-World + OpenCLIP</a:t>
            </a:r>
            <a:endParaRPr lang="ru-RU" b="1" dirty="0">
              <a:solidFill>
                <a:schemeClr val="accent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Классы техники задаются текстом: новый тип машины добавляется без переобучения. OpenCLIP — стадия по фото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022034793" name="Текст 8"/>
          <p:cNvSpPr>
            <a:spLocks noGrp="1"/>
          </p:cNvSpPr>
          <p:nvPr>
            <p:ph type="body" sz="quarter" idx="16"/>
          </p:nvPr>
        </p:nvSpPr>
        <p:spPr bwMode="auto">
          <a:xfrm>
            <a:off x="521133" y="2552035"/>
            <a:ext cx="4902200" cy="712587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b="1" dirty="0" err="1">
                <a:solidFill>
                  <a:schemeClr val="accent1"/>
                </a:solidFill>
              </a:rPr>
              <a:t>Дообучение ce-ulima-v1</a:t>
            </a:r>
            <a:endParaRPr lang="ru-RU" b="1" dirty="0">
              <a:solidFill>
                <a:schemeClr val="accent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YOLO-World, дообученный на Construction Equipment и датасете Лимы: mAP50 0,07 → 0,81 на отложенном тесте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31907780" name="Текст 9"/>
          <p:cNvSpPr>
            <a:spLocks noGrp="1"/>
          </p:cNvSpPr>
          <p:nvPr>
            <p:ph type="body" sz="quarter" idx="17"/>
          </p:nvPr>
        </p:nvSpPr>
        <p:spPr bwMode="auto">
          <a:xfrm>
            <a:off x="521133" y="3409044"/>
            <a:ext cx="4902200" cy="712587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b="1" dirty="0" err="1">
                <a:solidFill>
                  <a:schemeClr val="accent1"/>
                </a:solidFill>
              </a:rPr>
              <a:t>FastAPI</a:t>
            </a:r>
            <a:r>
              <a:rPr lang="en-US" b="1" dirty="0">
                <a:solidFill>
                  <a:schemeClr val="accent1"/>
                </a:solidFill>
              </a:rPr>
              <a:t> + PostgreSQL</a:t>
            </a:r>
            <a:endParaRPr lang="ru-RU" b="1" dirty="0">
              <a:solidFill>
                <a:schemeClr val="accent1"/>
              </a:solidFill>
            </a:endParaRPr>
          </a:p>
          <a:p>
            <a:pPr>
              <a:defRPr/>
            </a:pPr>
            <a:r>
              <a:rPr lang="en-US" dirty="0" err="1">
                <a:solidFill>
                  <a:schemeClr val="tx1"/>
                </a:solidFill>
              </a:rPr>
              <a:t>Асинхронный</a:t>
            </a:r>
            <a:r>
              <a:rPr lang="en-US" dirty="0">
                <a:solidFill>
                  <a:schemeClr val="tx1"/>
                </a:solidFill>
              </a:rPr>
              <a:t> Python-</a:t>
            </a:r>
            <a:r>
              <a:rPr lang="en-US" dirty="0" err="1">
                <a:solidFill>
                  <a:schemeClr val="tx1"/>
                </a:solidFill>
              </a:rPr>
              <a:t>стек</a:t>
            </a:r>
            <a:r>
              <a:rPr lang="en-US" dirty="0">
                <a:solidFill>
                  <a:schemeClr val="tx1"/>
                </a:solidFill>
              </a:rPr>
              <a:t> с </a:t>
            </a:r>
            <a:r>
              <a:rPr lang="en-US" dirty="0" err="1">
                <a:solidFill>
                  <a:schemeClr val="tx1"/>
                </a:solidFill>
              </a:rPr>
              <a:t>изолированными</a:t>
            </a:r>
            <a:r>
              <a:rPr lang="en-US" dirty="0">
                <a:solidFill>
                  <a:schemeClr val="tx1"/>
                </a:solidFill>
              </a:rPr>
              <a:t> БД </a:t>
            </a:r>
            <a:r>
              <a:rPr lang="en-US" dirty="0" err="1">
                <a:solidFill>
                  <a:schemeClr val="tx1"/>
                </a:solidFill>
              </a:rPr>
              <a:t>на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сервис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43334351" name="Текст 10"/>
          <p:cNvSpPr>
            <a:spLocks noGrp="1"/>
          </p:cNvSpPr>
          <p:nvPr>
            <p:ph type="body" sz="quarter" idx="18"/>
          </p:nvPr>
        </p:nvSpPr>
        <p:spPr bwMode="auto">
          <a:xfrm>
            <a:off x="521133" y="4266053"/>
            <a:ext cx="4902200" cy="712587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b="1" dirty="0" err="1">
                <a:solidFill>
                  <a:schemeClr val="accent1"/>
                </a:solidFill>
              </a:rPr>
              <a:t>SeaweedFS (S3)</a:t>
            </a:r>
            <a:endParaRPr lang="ru-RU" b="1" dirty="0">
              <a:solidFill>
                <a:schemeClr val="accent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Хранилище снимков и отчётов. У заказчика меняется на любой S3 через .env, без правки кода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730022883" name="Текст 11"/>
          <p:cNvSpPr>
            <a:spLocks noGrp="1"/>
          </p:cNvSpPr>
          <p:nvPr>
            <p:ph type="body" sz="quarter" idx="19"/>
          </p:nvPr>
        </p:nvSpPr>
        <p:spPr bwMode="auto">
          <a:xfrm>
            <a:off x="521132" y="5123063"/>
            <a:ext cx="6080835" cy="71258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chemeClr val="accent1"/>
                </a:solidFill>
              </a:rPr>
              <a:t>React</a:t>
            </a:r>
            <a:endParaRPr lang="ru-RU" b="1" dirty="0">
              <a:solidFill>
                <a:schemeClr val="accent1"/>
              </a:solidFill>
            </a:endParaRPr>
          </a:p>
          <a:p>
            <a:pPr>
              <a:defRPr/>
            </a:pPr>
            <a:r>
              <a:rPr lang="en-US" dirty="0" err="1">
                <a:solidFill>
                  <a:schemeClr val="tx1"/>
                </a:solidFill>
              </a:rPr>
              <a:t>Интерфейс оператора: у каждого отклонения — числа, правило и снимок с рамками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785097449" name="Номер слайда 2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441475" y="6356350"/>
            <a:ext cx="558800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7</a:t>
            </a:fld>
            <a:endParaRPr lang="ru-RU">
              <a:solidFill>
                <a:schemeClr val="accent5"/>
              </a:solidFill>
            </a:endParaRPr>
          </a:p>
        </p:txBody>
      </p:sp>
      <p:cxnSp>
        <p:nvCxnSpPr>
          <p:cNvPr id="941653181" name="Прямая соединительная линия 1"/>
          <p:cNvCxnSpPr/>
          <p:nvPr/>
        </p:nvCxnSpPr>
        <p:spPr bwMode="auto">
          <a:xfrm>
            <a:off x="521133" y="1604660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55020351" name="Прямая соединительная линия 3"/>
          <p:cNvCxnSpPr/>
          <p:nvPr/>
        </p:nvCxnSpPr>
        <p:spPr bwMode="auto">
          <a:xfrm>
            <a:off x="521133" y="246553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98580274" name="Прямая соединительная линия 12"/>
          <p:cNvCxnSpPr/>
          <p:nvPr/>
        </p:nvCxnSpPr>
        <p:spPr bwMode="auto">
          <a:xfrm>
            <a:off x="521133" y="334286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98046321" name="Прямая соединительная линия 13"/>
          <p:cNvCxnSpPr/>
          <p:nvPr/>
        </p:nvCxnSpPr>
        <p:spPr bwMode="auto">
          <a:xfrm>
            <a:off x="521133" y="418312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96696805" name="Прямая соединительная линия 14"/>
          <p:cNvCxnSpPr/>
          <p:nvPr/>
        </p:nvCxnSpPr>
        <p:spPr bwMode="auto">
          <a:xfrm>
            <a:off x="521133" y="5048098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0471956" name="Скругленный прямоугольник 11"/>
          <p:cNvSpPr/>
          <p:nvPr/>
        </p:nvSpPr>
        <p:spPr bwMode="auto">
          <a:xfrm>
            <a:off x="346074" y="324562"/>
            <a:ext cx="606000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70980009" name="Номер слайда 12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8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845791128" name="Текст 1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b="0" dirty="0">
                <a:solidFill>
                  <a:schemeClr val="accent5"/>
                </a:solidFill>
              </a:rPr>
              <a:t>Кадр с камеры</a:t>
            </a:r>
          </a:p>
        </p:txBody>
      </p:sp>
      <p:sp>
        <p:nvSpPr>
          <p:cNvPr id="175425605" name="Текст 2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814077"/>
            <a:ext cx="2526079" cy="1120685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EXIF-</a:t>
            </a:r>
            <a:r>
              <a:rPr lang="en-US" dirty="0" err="1">
                <a:solidFill>
                  <a:schemeClr val="tx1"/>
                </a:solidFill>
              </a:rPr>
              <a:t>время</a:t>
            </a:r>
            <a:r>
              <a:rPr lang="en-US" dirty="0">
                <a:solidFill>
                  <a:schemeClr val="tx1"/>
                </a:solidFill>
              </a:rPr>
              <a:t> и </a:t>
            </a:r>
            <a:r>
              <a:rPr lang="en-US" dirty="0" err="1">
                <a:solidFill>
                  <a:schemeClr val="tx1"/>
                </a:solidFill>
              </a:rPr>
              <a:t>зона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камеры</a:t>
            </a:r>
            <a:endParaRPr lang="ru-RU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 err="1">
                <a:solidFill>
                  <a:schemeClr val="tx1"/>
                </a:solidFill>
              </a:rPr>
              <a:t>Нет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времени</a:t>
            </a:r>
            <a:r>
              <a:rPr lang="en-US" dirty="0">
                <a:solidFill>
                  <a:schemeClr val="tx1"/>
                </a:solidFill>
              </a:rPr>
              <a:t> — </a:t>
            </a:r>
            <a:r>
              <a:rPr lang="en-US" dirty="0" err="1">
                <a:solidFill>
                  <a:schemeClr val="tx1"/>
                </a:solidFill>
              </a:rPr>
              <a:t>статус</a:t>
            </a:r>
            <a:r>
              <a:rPr lang="en-US" dirty="0">
                <a:solidFill>
                  <a:schemeClr val="tx1"/>
                </a:solidFill>
              </a:rPr>
              <a:t> NEEDS_TIME, </a:t>
            </a:r>
            <a:r>
              <a:rPr lang="en-US" dirty="0" err="1">
                <a:solidFill>
                  <a:schemeClr val="tx1"/>
                </a:solidFill>
              </a:rPr>
              <a:t>дубль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по</a:t>
            </a:r>
            <a:r>
              <a:rPr lang="en-US" dirty="0">
                <a:solidFill>
                  <a:schemeClr val="tx1"/>
                </a:solidFill>
              </a:rPr>
              <a:t> sha256 — </a:t>
            </a:r>
            <a:r>
              <a:rPr lang="en-US" dirty="0" err="1">
                <a:solidFill>
                  <a:schemeClr val="tx1"/>
                </a:solidFill>
              </a:rPr>
              <a:t>отклонён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67808411" name="Текст 3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b="0" dirty="0">
                <a:solidFill>
                  <a:schemeClr val="accent5"/>
                </a:solidFill>
              </a:rPr>
              <a:t>Сессия 30 минут</a:t>
            </a:r>
          </a:p>
        </p:txBody>
      </p:sp>
      <p:sp>
        <p:nvSpPr>
          <p:cNvPr id="1063055699" name="Текст 4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814077"/>
            <a:ext cx="2526079" cy="1120685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dirty="0" err="1">
                <a:solidFill>
                  <a:schemeClr val="tx1"/>
                </a:solidFill>
              </a:rPr>
              <a:t>Кадры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окна</a:t>
            </a:r>
            <a:r>
              <a:rPr lang="en-US" dirty="0">
                <a:solidFill>
                  <a:schemeClr val="tx1"/>
                </a:solidFill>
              </a:rPr>
              <a:t> → </a:t>
            </a:r>
            <a:r>
              <a:rPr lang="en-US" dirty="0" err="1">
                <a:solidFill>
                  <a:schemeClr val="tx1"/>
                </a:solidFill>
              </a:rPr>
              <a:t>один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факт</a:t>
            </a:r>
            <a:endParaRPr lang="ru-RU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 err="1">
                <a:solidFill>
                  <a:schemeClr val="tx1"/>
                </a:solidFill>
              </a:rPr>
              <a:t>Статус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единицы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en-US" dirty="0" err="1">
                <a:solidFill>
                  <a:schemeClr val="tx1"/>
                </a:solidFill>
              </a:rPr>
              <a:t>работает</a:t>
            </a:r>
            <a:r>
              <a:rPr lang="en-US" dirty="0">
                <a:solidFill>
                  <a:schemeClr val="tx1"/>
                </a:solidFill>
              </a:rPr>
              <a:t> / </a:t>
            </a:r>
            <a:r>
              <a:rPr lang="en-US" dirty="0" err="1">
                <a:solidFill>
                  <a:schemeClr val="tx1"/>
                </a:solidFill>
              </a:rPr>
              <a:t>простой</a:t>
            </a:r>
            <a:r>
              <a:rPr lang="en-US" dirty="0">
                <a:solidFill>
                  <a:schemeClr val="tx1"/>
                </a:solidFill>
              </a:rPr>
              <a:t> / </a:t>
            </a:r>
            <a:r>
              <a:rPr lang="en-US" dirty="0" err="1">
                <a:solidFill>
                  <a:schemeClr val="tx1"/>
                </a:solidFill>
              </a:rPr>
              <a:t>вне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зоны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501354303" name="Текст 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b="0" dirty="0">
                <a:solidFill>
                  <a:schemeClr val="accent5"/>
                </a:solidFill>
              </a:rPr>
              <a:t>Прогноз</a:t>
            </a:r>
          </a:p>
        </p:txBody>
      </p:sp>
      <p:sp>
        <p:nvSpPr>
          <p:cNvPr id="1321846474" name="Текст 6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814077"/>
            <a:ext cx="2526079" cy="1120685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 dirty="0" err="1">
                <a:solidFill>
                  <a:schemeClr val="tx1"/>
                </a:solidFill>
              </a:rPr>
              <a:t>Отклонение</a:t>
            </a:r>
            <a:r>
              <a:rPr lang="en-US" dirty="0">
                <a:solidFill>
                  <a:schemeClr val="tx1"/>
                </a:solidFill>
              </a:rPr>
              <a:t> = facts (</a:t>
            </a:r>
            <a:r>
              <a:rPr lang="en-US" dirty="0" err="1">
                <a:solidFill>
                  <a:schemeClr val="tx1"/>
                </a:solidFill>
              </a:rPr>
              <a:t>числа</a:t>
            </a:r>
            <a:r>
              <a:rPr lang="en-US" dirty="0">
                <a:solidFill>
                  <a:schemeClr val="tx1"/>
                </a:solidFill>
              </a:rPr>
              <a:t>) + evidence (</a:t>
            </a:r>
            <a:r>
              <a:rPr lang="en-US" dirty="0" err="1">
                <a:solidFill>
                  <a:schemeClr val="tx1"/>
                </a:solidFill>
              </a:rPr>
              <a:t>кадр</a:t>
            </a:r>
            <a:r>
              <a:rPr lang="en-US" dirty="0">
                <a:solidFill>
                  <a:schemeClr val="tx1"/>
                </a:solidFill>
              </a:rPr>
              <a:t> с </a:t>
            </a:r>
            <a:r>
              <a:rPr lang="en-US" dirty="0" err="1">
                <a:solidFill>
                  <a:schemeClr val="tx1"/>
                </a:solidFill>
              </a:rPr>
              <a:t>рамками</a:t>
            </a:r>
            <a:r>
              <a:rPr lang="en-US" dirty="0">
                <a:solidFill>
                  <a:schemeClr val="tx1"/>
                </a:solidFill>
              </a:rPr>
              <a:t>)</a:t>
            </a:r>
            <a:endParaRPr lang="ru-RU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 err="1">
                <a:solidFill>
                  <a:schemeClr val="tx1"/>
                </a:solidFill>
              </a:rPr>
              <a:t>Гант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пересчитывает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прогноз</a:t>
            </a:r>
            <a:r>
              <a:rPr lang="en-US" dirty="0">
                <a:solidFill>
                  <a:schemeClr val="tx1"/>
                </a:solidFill>
              </a:rPr>
              <a:t> и </a:t>
            </a:r>
            <a:r>
              <a:rPr lang="en-US" dirty="0" err="1">
                <a:solidFill>
                  <a:schemeClr val="tx1"/>
                </a:solidFill>
              </a:rPr>
              <a:t>сдвигает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зависимые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этапы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1704065" name="Текст 7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b="0" dirty="0">
                <a:solidFill>
                  <a:schemeClr val="accent5"/>
                </a:solidFill>
              </a:rPr>
              <a:t>Техника и участок</a:t>
            </a:r>
          </a:p>
        </p:txBody>
      </p:sp>
      <p:sp>
        <p:nvSpPr>
          <p:cNvPr id="852980671" name="Текст 8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5181340"/>
            <a:ext cx="2526079" cy="1120685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YOLO-World: класс и рамка техники на кадре</a:t>
            </a:r>
            <a:endParaRPr lang="ru-RU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 err="1">
                <a:solidFill>
                  <a:schemeClr val="tx1"/>
                </a:solidFill>
              </a:rPr>
              <a:t>Участок — по точке, где рамка касается земли, в зоне камеры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8284361" name="Текст 9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b="0" dirty="0">
                <a:solidFill>
                  <a:schemeClr val="accent5"/>
                </a:solidFill>
              </a:rPr>
              <a:t>Правило этапа</a:t>
            </a:r>
          </a:p>
        </p:txBody>
      </p:sp>
      <p:sp>
        <p:nvSpPr>
          <p:cNvPr id="1837104852" name="Текст 10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5181340"/>
            <a:ext cx="2526079" cy="1120685"/>
          </a:xfrm>
        </p:spPr>
        <p:txBody>
          <a:bodyPr>
            <a:normAutofit fontScale="92500"/>
          </a:bodyPr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В </a:t>
            </a:r>
            <a:r>
              <a:rPr lang="en-US" dirty="0" err="1">
                <a:solidFill>
                  <a:schemeClr val="tx1"/>
                </a:solidFill>
              </a:rPr>
              <a:t>карточке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этапа</a:t>
            </a:r>
            <a:r>
              <a:rPr lang="en-US" dirty="0">
                <a:solidFill>
                  <a:schemeClr val="tx1"/>
                </a:solidFill>
              </a:rPr>
              <a:t> — </a:t>
            </a:r>
            <a:r>
              <a:rPr lang="en-US" dirty="0" err="1">
                <a:solidFill>
                  <a:schemeClr val="tx1"/>
                </a:solidFill>
              </a:rPr>
              <a:t>какая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техника</a:t>
            </a:r>
            <a:r>
              <a:rPr lang="en-US" dirty="0">
                <a:solidFill>
                  <a:schemeClr val="tx1"/>
                </a:solidFill>
              </a:rPr>
              <a:t> и </a:t>
            </a:r>
            <a:r>
              <a:rPr lang="en-US" dirty="0" err="1">
                <a:solidFill>
                  <a:schemeClr val="tx1"/>
                </a:solidFill>
              </a:rPr>
              <a:t>сколько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единиц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нужн</a:t>
            </a:r>
            <a:r>
              <a:rPr lang="ru-RU" dirty="0">
                <a:solidFill>
                  <a:schemeClr val="tx1"/>
                </a:solidFill>
              </a:rPr>
              <a:t>ы</a:t>
            </a:r>
            <a:r>
              <a:rPr lang="en-US" dirty="0">
                <a:solidFill>
                  <a:schemeClr val="tx1"/>
                </a:solidFill>
              </a:rPr>
              <a:t> в </a:t>
            </a:r>
            <a:r>
              <a:rPr lang="en-US" dirty="0" err="1">
                <a:solidFill>
                  <a:schemeClr val="tx1"/>
                </a:solidFill>
              </a:rPr>
              <a:t>участке</a:t>
            </a:r>
            <a:endParaRPr lang="ru-RU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 err="1">
                <a:solidFill>
                  <a:schemeClr val="tx1"/>
                </a:solidFill>
              </a:rPr>
              <a:t>Факт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против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правила</a:t>
            </a:r>
            <a:r>
              <a:rPr lang="en-US" dirty="0">
                <a:solidFill>
                  <a:schemeClr val="tx1"/>
                </a:solidFill>
              </a:rPr>
              <a:t> → </a:t>
            </a:r>
            <a:r>
              <a:rPr lang="en-US" dirty="0" err="1">
                <a:solidFill>
                  <a:schemeClr val="tx1"/>
                </a:solidFill>
              </a:rPr>
              <a:t>отклонение</a:t>
            </a:r>
            <a:r>
              <a:rPr lang="en-US" dirty="0">
                <a:solidFill>
                  <a:schemeClr val="tx1"/>
                </a:solidFill>
              </a:rPr>
              <a:t> D1–D10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731368653" name="Прямая соединительная линия 33"/>
          <p:cNvCxnSpPr/>
          <p:nvPr/>
        </p:nvCxnSpPr>
        <p:spPr bwMode="auto"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4670215" name="Прямая соединительная линия 34"/>
          <p:cNvCxnSpPr/>
          <p:nvPr/>
        </p:nvCxnSpPr>
        <p:spPr bwMode="auto"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144373" name="Прямая соединительная линия 35"/>
          <p:cNvCxnSpPr/>
          <p:nvPr/>
        </p:nvCxnSpPr>
        <p:spPr bwMode="auto"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4664500" name="Прямая соединительная линия 36"/>
          <p:cNvCxnSpPr/>
          <p:nvPr/>
        </p:nvCxnSpPr>
        <p:spPr bwMode="auto"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5829465" name="Прямая соединительная линия 37"/>
          <p:cNvCxnSpPr/>
          <p:nvPr/>
        </p:nvCxnSpPr>
        <p:spPr bwMode="auto"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2336023" name="Прямая соединительная линия 38"/>
          <p:cNvCxnSpPr/>
          <p:nvPr/>
        </p:nvCxnSpPr>
        <p:spPr bwMode="auto"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6998851" name="Прямая соединительная линия 39"/>
          <p:cNvCxnSpPr/>
          <p:nvPr/>
        </p:nvCxnSpPr>
        <p:spPr bwMode="auto"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7937511" name="Прямая соединительная линия 40"/>
          <p:cNvCxnSpPr/>
          <p:nvPr/>
        </p:nvCxnSpPr>
        <p:spPr bwMode="auto"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7810320" name="Прямая соединительная линия 41"/>
          <p:cNvCxnSpPr/>
          <p:nvPr/>
        </p:nvCxnSpPr>
        <p:spPr bwMode="auto"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751272" name="Скругленный прямоугольник 42"/>
          <p:cNvSpPr/>
          <p:nvPr/>
        </p:nvSpPr>
        <p:spPr bwMode="auto">
          <a:xfrm>
            <a:off x="1191126" y="3508049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1</a:t>
            </a:r>
            <a:endParaRPr/>
          </a:p>
        </p:txBody>
      </p:sp>
      <p:sp>
        <p:nvSpPr>
          <p:cNvPr id="812859897" name="Скругленный прямоугольник 43"/>
          <p:cNvSpPr/>
          <p:nvPr/>
        </p:nvSpPr>
        <p:spPr bwMode="auto">
          <a:xfrm>
            <a:off x="3412397" y="3506136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2</a:t>
            </a:r>
            <a:endParaRPr/>
          </a:p>
        </p:txBody>
      </p:sp>
      <p:sp>
        <p:nvSpPr>
          <p:cNvPr id="108934526" name="Скругленный прямоугольник 44"/>
          <p:cNvSpPr/>
          <p:nvPr/>
        </p:nvSpPr>
        <p:spPr bwMode="auto">
          <a:xfrm>
            <a:off x="5658594" y="3516255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3</a:t>
            </a:r>
            <a:endParaRPr/>
          </a:p>
        </p:txBody>
      </p:sp>
      <p:sp>
        <p:nvSpPr>
          <p:cNvPr id="1741896490" name="Скругленный прямоугольник 52"/>
          <p:cNvSpPr/>
          <p:nvPr/>
        </p:nvSpPr>
        <p:spPr bwMode="auto">
          <a:xfrm>
            <a:off x="7889752" y="3506134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4</a:t>
            </a:r>
            <a:endParaRPr/>
          </a:p>
        </p:txBody>
      </p:sp>
      <p:sp>
        <p:nvSpPr>
          <p:cNvPr id="1007682587" name="Скругленный прямоугольник 53"/>
          <p:cNvSpPr/>
          <p:nvPr/>
        </p:nvSpPr>
        <p:spPr bwMode="auto">
          <a:xfrm>
            <a:off x="10113011" y="3538625"/>
            <a:ext cx="874814" cy="708179"/>
          </a:xfrm>
          <a:prstGeom prst="roundRect">
            <a:avLst>
              <a:gd name="adj" fmla="val 16667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400" b="1"/>
              <a:t>5</a:t>
            </a:r>
            <a:endParaRPr/>
          </a:p>
        </p:txBody>
      </p:sp>
      <p:sp>
        <p:nvSpPr>
          <p:cNvPr id="1475492823" name="Заголовок 13"/>
          <p:cNvSpPr>
            <a:spLocks noGrp="1"/>
          </p:cNvSpPr>
          <p:nvPr>
            <p:ph type="title"/>
          </p:nvPr>
        </p:nvSpPr>
        <p:spPr bwMode="auto">
          <a:xfrm>
            <a:off x="526074" y="421226"/>
            <a:ext cx="5760000" cy="376138"/>
          </a:xfrm>
        </p:spPr>
        <p:txBody>
          <a:bodyPr/>
          <a:lstStyle/>
          <a:p>
            <a:pPr>
              <a:defRPr/>
            </a:pPr>
            <a:r>
              <a:rPr lang="ru-RU" dirty="0"/>
              <a:t>СНИМКИ → ЭТАПЫ ГРАФИКА</a:t>
            </a:r>
          </a:p>
        </p:txBody>
      </p:sp>
      <p:sp>
        <p:nvSpPr>
          <p:cNvPr id="1473606708" name="Скругленный прямоугольник 13"/>
          <p:cNvSpPr/>
          <p:nvPr/>
        </p:nvSpPr>
        <p:spPr bwMode="auto"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586179979" name="Скругленный прямоугольник 15"/>
          <p:cNvSpPr/>
          <p:nvPr/>
        </p:nvSpPr>
        <p:spPr bwMode="auto"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2105368717" name="Скругленный прямоугольник 16"/>
          <p:cNvSpPr/>
          <p:nvPr/>
        </p:nvSpPr>
        <p:spPr bwMode="auto"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1293685711" name="Скругленный прямоугольник 17"/>
          <p:cNvSpPr/>
          <p:nvPr/>
        </p:nvSpPr>
        <p:spPr bwMode="auto"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  <p:sp>
        <p:nvSpPr>
          <p:cNvPr id="1624313899" name="Скругленный прямоугольник 18"/>
          <p:cNvSpPr/>
          <p:nvPr/>
        </p:nvSpPr>
        <p:spPr bwMode="auto"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>
              <a:defRPr/>
            </a:pPr>
            <a:endParaRPr lang="ru-RU" sz="2400"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2944520" name="Скругленный прямоугольник 2"/>
          <p:cNvSpPr/>
          <p:nvPr/>
        </p:nvSpPr>
        <p:spPr bwMode="auto">
          <a:xfrm>
            <a:off x="346075" y="324562"/>
            <a:ext cx="529500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7D902B22-114B-E4E6-B83F-E4F34518D58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/>
          <a:srcRect l="1" t="3496" r="-10" b="5763"/>
          <a:stretch>
            <a:fillRect/>
          </a:stretch>
        </p:blipFill>
        <p:spPr bwMode="auto">
          <a:xfrm>
            <a:off x="5034405" y="1358954"/>
            <a:ext cx="2172255" cy="4270120"/>
          </a:xfrm>
          <a:prstGeom prst="roundRect">
            <a:avLst>
              <a:gd name="adj" fmla="val 12294"/>
            </a:avLst>
          </a:prstGeom>
          <a:noFill/>
        </p:spPr>
      </p:pic>
      <p:sp>
        <p:nvSpPr>
          <p:cNvPr id="680146116" name="Текст 3"/>
          <p:cNvSpPr>
            <a:spLocks noGrp="1"/>
          </p:cNvSpPr>
          <p:nvPr>
            <p:ph type="body" sz="quarter" idx="21"/>
          </p:nvPr>
        </p:nvSpPr>
        <p:spPr bwMode="auto"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b="0" dirty="0">
                <a:solidFill>
                  <a:schemeClr val="accent5"/>
                </a:solidFill>
              </a:rPr>
              <a:t>Наблюдение</a:t>
            </a:r>
          </a:p>
        </p:txBody>
      </p:sp>
      <p:sp>
        <p:nvSpPr>
          <p:cNvPr id="867742702" name="Текст 4"/>
          <p:cNvSpPr>
            <a:spLocks noGrp="1"/>
          </p:cNvSpPr>
          <p:nvPr>
            <p:ph type="body" sz="quarter" idx="18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 err="1">
                <a:solidFill>
                  <a:schemeClr val="tx1"/>
                </a:solidFill>
              </a:rPr>
              <a:t>Обзор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лента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предупреждений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график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план-факт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камеры</a:t>
            </a:r>
            <a:r>
              <a:rPr lang="en-US" dirty="0">
                <a:solidFill>
                  <a:schemeClr val="tx1"/>
                </a:solidFill>
              </a:rPr>
              <a:t> и </a:t>
            </a:r>
            <a:r>
              <a:rPr lang="en-US" dirty="0" err="1">
                <a:solidFill>
                  <a:schemeClr val="tx1"/>
                </a:solidFill>
              </a:rPr>
              <a:t>отчёты</a:t>
            </a:r>
            <a:r>
              <a:rPr lang="en-US" dirty="0">
                <a:solidFill>
                  <a:schemeClr val="tx1"/>
                </a:solidFill>
              </a:rPr>
              <a:t> — </a:t>
            </a:r>
            <a:r>
              <a:rPr lang="en-US" dirty="0" err="1">
                <a:solidFill>
                  <a:schemeClr val="tx1"/>
                </a:solidFill>
              </a:rPr>
              <a:t>всё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что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читает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прораб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ежедневно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218894724" name="Текст 5"/>
          <p:cNvSpPr>
            <a:spLocks noGrp="1"/>
          </p:cNvSpPr>
          <p:nvPr>
            <p:ph type="body" sz="quarter" idx="22"/>
          </p:nvPr>
        </p:nvSpPr>
        <p:spPr bwMode="auto"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b="0" dirty="0">
                <a:solidFill>
                  <a:schemeClr val="accent5"/>
                </a:solidFill>
              </a:rPr>
              <a:t>Настройка объекта</a:t>
            </a:r>
          </a:p>
        </p:txBody>
      </p:sp>
      <p:sp>
        <p:nvSpPr>
          <p:cNvPr id="1233166073" name="Текст 6"/>
          <p:cNvSpPr>
            <a:spLocks noGrp="1"/>
          </p:cNvSpPr>
          <p:nvPr>
            <p:ph type="body" sz="quarter" idx="23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 err="1">
                <a:solidFill>
                  <a:schemeClr val="tx1"/>
                </a:solidFill>
              </a:rPr>
              <a:t>Реквизиты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календарный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график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правила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привязки</a:t>
            </a:r>
            <a:r>
              <a:rPr lang="en-US" dirty="0">
                <a:solidFill>
                  <a:schemeClr val="tx1"/>
                </a:solidFill>
              </a:rPr>
              <a:t> «</a:t>
            </a:r>
            <a:r>
              <a:rPr lang="en-US" dirty="0" err="1">
                <a:solidFill>
                  <a:schemeClr val="tx1"/>
                </a:solidFill>
              </a:rPr>
              <a:t>этап</a:t>
            </a:r>
            <a:r>
              <a:rPr lang="en-US" dirty="0">
                <a:solidFill>
                  <a:schemeClr val="tx1"/>
                </a:solidFill>
              </a:rPr>
              <a:t> → </a:t>
            </a:r>
            <a:r>
              <a:rPr lang="en-US" dirty="0" err="1">
                <a:solidFill>
                  <a:schemeClr val="tx1"/>
                </a:solidFill>
              </a:rPr>
              <a:t>техника</a:t>
            </a:r>
            <a:r>
              <a:rPr lang="en-US" dirty="0">
                <a:solidFill>
                  <a:schemeClr val="tx1"/>
                </a:solidFill>
              </a:rPr>
              <a:t>», </a:t>
            </a:r>
            <a:r>
              <a:rPr lang="en-US" dirty="0" err="1">
                <a:solidFill>
                  <a:schemeClr val="tx1"/>
                </a:solidFill>
              </a:rPr>
              <a:t>зоны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на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камерах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627124232" name="Текст 7"/>
          <p:cNvSpPr>
            <a:spLocks noGrp="1"/>
          </p:cNvSpPr>
          <p:nvPr>
            <p:ph type="body" sz="quarter" idx="24"/>
          </p:nvPr>
        </p:nvSpPr>
        <p:spPr bwMode="auto"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b="0" dirty="0">
                <a:solidFill>
                  <a:schemeClr val="accent5"/>
                </a:solidFill>
              </a:rPr>
              <a:t>Данные</a:t>
            </a:r>
          </a:p>
        </p:txBody>
      </p:sp>
      <p:sp>
        <p:nvSpPr>
          <p:cNvPr id="594633161" name="Текст 8"/>
          <p:cNvSpPr>
            <a:spLocks noGrp="1"/>
          </p:cNvSpPr>
          <p:nvPr>
            <p:ph type="body" sz="quarter" idx="25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 err="1">
                <a:solidFill>
                  <a:schemeClr val="tx1"/>
                </a:solidFill>
              </a:rPr>
              <a:t>Загрузка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снимков</a:t>
            </a:r>
            <a:r>
              <a:rPr lang="en-US" dirty="0">
                <a:solidFill>
                  <a:schemeClr val="tx1"/>
                </a:solidFill>
              </a:rPr>
              <a:t> с </a:t>
            </a:r>
            <a:r>
              <a:rPr lang="en-US" dirty="0" err="1">
                <a:solidFill>
                  <a:schemeClr val="tx1"/>
                </a:solidFill>
              </a:rPr>
              <a:t>контролем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качества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en-US" dirty="0" err="1">
                <a:solidFill>
                  <a:schemeClr val="tx1"/>
                </a:solidFill>
              </a:rPr>
              <a:t>время</a:t>
            </a:r>
            <a:r>
              <a:rPr lang="en-US" dirty="0">
                <a:solidFill>
                  <a:schemeClr val="tx1"/>
                </a:solidFill>
              </a:rPr>
              <a:t> в </a:t>
            </a:r>
            <a:r>
              <a:rPr lang="en-US" dirty="0" err="1">
                <a:solidFill>
                  <a:schemeClr val="tx1"/>
                </a:solidFill>
              </a:rPr>
              <a:t>метаданных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отсутствие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дублей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распознавание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64702574" name="Текст 9"/>
          <p:cNvSpPr>
            <a:spLocks noGrp="1"/>
          </p:cNvSpPr>
          <p:nvPr>
            <p:ph type="body" sz="quarter" idx="26"/>
          </p:nvPr>
        </p:nvSpPr>
        <p:spPr bwMode="auto"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ru-RU" b="0" dirty="0">
                <a:solidFill>
                  <a:schemeClr val="accent5"/>
                </a:solidFill>
              </a:rPr>
              <a:t>Справочники</a:t>
            </a:r>
          </a:p>
        </p:txBody>
      </p:sp>
      <p:sp>
        <p:nvSpPr>
          <p:cNvPr id="884516365" name="Текст 10"/>
          <p:cNvSpPr>
            <a:spLocks noGrp="1"/>
          </p:cNvSpPr>
          <p:nvPr>
            <p:ph type="body" sz="quarter" idx="27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 err="1">
                <a:solidFill>
                  <a:schemeClr val="tx1"/>
                </a:solidFill>
              </a:rPr>
              <a:t>Пороги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отклонений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классы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техники</a:t>
            </a:r>
            <a:r>
              <a:rPr lang="en-US" dirty="0">
                <a:solidFill>
                  <a:schemeClr val="tx1"/>
                </a:solidFill>
              </a:rPr>
              <a:t> — </a:t>
            </a:r>
            <a:r>
              <a:rPr lang="en-US" dirty="0" err="1">
                <a:solidFill>
                  <a:schemeClr val="tx1"/>
                </a:solidFill>
              </a:rPr>
              <a:t>логика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системы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как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данные</a:t>
            </a:r>
            <a:r>
              <a:rPr lang="en-US" dirty="0">
                <a:solidFill>
                  <a:schemeClr val="tx1"/>
                </a:solidFill>
              </a:rPr>
              <a:t>, а </a:t>
            </a:r>
            <a:r>
              <a:rPr lang="en-US" dirty="0" err="1">
                <a:solidFill>
                  <a:schemeClr val="tx1"/>
                </a:solidFill>
              </a:rPr>
              <a:t>не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код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99655860" name="Номер слайда 11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9</a:t>
            </a:fld>
            <a:endParaRPr lang="ru-RU">
              <a:solidFill>
                <a:schemeClr val="accent5"/>
              </a:solidFill>
            </a:endParaRPr>
          </a:p>
        </p:txBody>
      </p:sp>
      <p:grpSp>
        <p:nvGrpSpPr>
          <p:cNvPr id="1034340990" name="Группа 12"/>
          <p:cNvGrpSpPr/>
          <p:nvPr/>
        </p:nvGrpSpPr>
        <p:grpSpPr bwMode="auto">
          <a:xfrm>
            <a:off x="4951937" y="1228926"/>
            <a:ext cx="2268386" cy="4490387"/>
            <a:chOff x="5193506" y="1574276"/>
            <a:chExt cx="1802607" cy="3705431"/>
          </a:xfrm>
        </p:grpSpPr>
        <p:sp>
          <p:nvSpPr>
            <p:cNvPr id="14" name="Полилиния: фигура 13"/>
            <p:cNvSpPr/>
            <p:nvPr/>
          </p:nvSpPr>
          <p:spPr bwMode="auto">
            <a:xfrm>
              <a:off x="5210727" y="157427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 extrusionOk="0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chemeClr val="accent5"/>
            </a:solidFill>
            <a:ln w="9525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5" name="Полилиния: фигура 14"/>
            <p:cNvSpPr/>
            <p:nvPr/>
          </p:nvSpPr>
          <p:spPr bwMode="auto">
            <a:xfrm>
              <a:off x="5274850" y="1574276"/>
              <a:ext cx="1704975" cy="295274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extrusionOk="0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6" name="Полилиния: фигура 15"/>
            <p:cNvSpPr/>
            <p:nvPr/>
          </p:nvSpPr>
          <p:spPr bwMode="auto"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 extrusionOk="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chemeClr val="accent5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7" name="Полилиния: фигура 16"/>
            <p:cNvSpPr/>
            <p:nvPr/>
          </p:nvSpPr>
          <p:spPr bwMode="auto"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 extrusionOk="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" name="Полилиния: фигура 17"/>
            <p:cNvSpPr/>
            <p:nvPr/>
          </p:nvSpPr>
          <p:spPr bwMode="auto">
            <a:xfrm>
              <a:off x="5274850" y="4979578"/>
              <a:ext cx="1704975" cy="295274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extrusionOk="0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9" name="Полилиния: фигура 18"/>
            <p:cNvSpPr/>
            <p:nvPr/>
          </p:nvSpPr>
          <p:spPr bwMode="auto"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 extrusionOk="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" name="Полилиния: фигура 19"/>
            <p:cNvSpPr/>
            <p:nvPr/>
          </p:nvSpPr>
          <p:spPr bwMode="auto"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 extrusionOk="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" name="Полилиния: фигура 20"/>
            <p:cNvSpPr/>
            <p:nvPr/>
          </p:nvSpPr>
          <p:spPr bwMode="auto"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2" name="Полилиния: фигура 21"/>
            <p:cNvSpPr/>
            <p:nvPr/>
          </p:nvSpPr>
          <p:spPr bwMode="auto"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3" name="Полилиния: фигура 22"/>
            <p:cNvSpPr/>
            <p:nvPr/>
          </p:nvSpPr>
          <p:spPr bwMode="auto"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4" name="Полилиния: фигура 23"/>
            <p:cNvSpPr/>
            <p:nvPr/>
          </p:nvSpPr>
          <p:spPr bwMode="auto">
            <a:xfrm>
              <a:off x="519636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5" name="Полилиния: фигура 24"/>
            <p:cNvSpPr/>
            <p:nvPr/>
          </p:nvSpPr>
          <p:spPr bwMode="auto"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6" name="Полилиния: фигура 25"/>
            <p:cNvSpPr/>
            <p:nvPr/>
          </p:nvSpPr>
          <p:spPr bwMode="auto">
            <a:xfrm>
              <a:off x="520198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7" name="Полилиния: фигура 26"/>
            <p:cNvSpPr/>
            <p:nvPr/>
          </p:nvSpPr>
          <p:spPr bwMode="auto"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8" name="Полилиния: фигура 27"/>
            <p:cNvSpPr/>
            <p:nvPr/>
          </p:nvSpPr>
          <p:spPr bwMode="auto"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 extrusionOk="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9" name="Полилиния: фигура 28"/>
            <p:cNvSpPr/>
            <p:nvPr/>
          </p:nvSpPr>
          <p:spPr bwMode="auto"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0" name="Полилиния: фигура 29"/>
            <p:cNvSpPr/>
            <p:nvPr/>
          </p:nvSpPr>
          <p:spPr bwMode="auto">
            <a:xfrm>
              <a:off x="5989398" y="5260657"/>
              <a:ext cx="219074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 extrusionOk="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1" name="Полилиния: фигура 30"/>
            <p:cNvSpPr/>
            <p:nvPr/>
          </p:nvSpPr>
          <p:spPr bwMode="auto"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 extrusionOk="0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2" name="Полилиния: фигура 31"/>
            <p:cNvSpPr/>
            <p:nvPr/>
          </p:nvSpPr>
          <p:spPr bwMode="auto"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 extrusionOk="0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pic>
          <p:nvPicPr>
            <p:cNvPr id="33" name="Рисунок 32"/>
            <p:cNvPicPr>
              <a:picLocks noChangeAspect="1"/>
            </p:cNvPicPr>
            <p:nvPr/>
          </p:nvPicPr>
          <p:blipFill rotWithShape="1">
            <a:blip r:embed="rId5"/>
            <a:stretch/>
          </p:blipFill>
          <p:spPr bwMode="auto"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 extrusionOk="0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34" name="Полилиния: фигура 33"/>
            <p:cNvSpPr/>
            <p:nvPr/>
          </p:nvSpPr>
          <p:spPr bwMode="auto"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5" name="Полилиния: фигура 34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6" name="Полилиния: фигура 35"/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7" name="Полилиния: фигура 36"/>
            <p:cNvSpPr/>
            <p:nvPr/>
          </p:nvSpPr>
          <p:spPr bwMode="auto">
            <a:xfrm>
              <a:off x="6233635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 extrusionOk="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  <p:sp>
        <p:nvSpPr>
          <p:cNvPr id="1173249712" name="Заголовок 13"/>
          <p:cNvSpPr>
            <a:spLocks noGrp="1"/>
          </p:cNvSpPr>
          <p:nvPr>
            <p:ph type="title"/>
          </p:nvPr>
        </p:nvSpPr>
        <p:spPr bwMode="auto">
          <a:xfrm>
            <a:off x="526075" y="421226"/>
            <a:ext cx="4995000" cy="376138"/>
          </a:xfrm>
        </p:spPr>
        <p:txBody>
          <a:bodyPr/>
          <a:lstStyle/>
          <a:p>
            <a:pPr>
              <a:defRPr/>
            </a:pPr>
            <a:r>
              <a:rPr lang="ru-RU" dirty="0"/>
              <a:t>СТРУКТУРА ПРОТОТИПА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365920140" name="Скругленный прямоугольник 1">
            <a:extLst>
              <a:ext uri="{FF2B5EF4-FFF2-40B4-BE49-F238E27FC236}">
                <a16:creationId xmlns:a16="http://schemas.microsoft.com/office/drawing/2014/main" id="{A2896616-099A-7A75-2BB1-F1C452A3518A}"/>
              </a:ext>
            </a:extLst>
          </p:cNvPr>
          <p:cNvSpPr/>
          <p:nvPr/>
        </p:nvSpPr>
        <p:spPr bwMode="auto">
          <a:xfrm>
            <a:off x="346075" y="324562"/>
            <a:ext cx="3485247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598502126" name="Номер слайда 6">
            <a:extLst>
              <a:ext uri="{FF2B5EF4-FFF2-40B4-BE49-F238E27FC236}">
                <a16:creationId xmlns:a16="http://schemas.microsoft.com/office/drawing/2014/main" id="{F36DE4B1-1538-40F6-1960-D016DA3715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10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548536300" name="Заголовок 13">
            <a:extLst>
              <a:ext uri="{FF2B5EF4-FFF2-40B4-BE49-F238E27FC236}">
                <a16:creationId xmlns:a16="http://schemas.microsoft.com/office/drawing/2014/main" id="{06182070-1D05-43F0-45F4-8FA12018693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3335247" cy="376138"/>
          </a:xfrm>
        </p:spPr>
        <p:txBody>
          <a:bodyPr/>
          <a:lstStyle/>
          <a:p>
            <a:pPr>
              <a:defRPr/>
            </a:pPr>
            <a:r>
              <a:rPr lang="ru-RU" dirty="0"/>
              <a:t>ШАГ 1 · КАМЕРА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9ACF152-CEEF-4662-9614-8AFC5625DBAE}"/>
              </a:ext>
            </a:extLst>
          </p:cNvPr>
          <p:cNvGrpSpPr/>
          <p:nvPr/>
        </p:nvGrpSpPr>
        <p:grpSpPr>
          <a:xfrm>
            <a:off x="2057437" y="1042144"/>
            <a:ext cx="7757132" cy="4806563"/>
            <a:chOff x="2057437" y="1042144"/>
            <a:chExt cx="7757132" cy="4806563"/>
          </a:xfrm>
        </p:grpSpPr>
        <p:grpSp>
          <p:nvGrpSpPr>
            <p:cNvPr id="9" name="Group 83">
              <a:extLst>
                <a:ext uri="{FF2B5EF4-FFF2-40B4-BE49-F238E27FC236}">
                  <a16:creationId xmlns:a16="http://schemas.microsoft.com/office/drawing/2014/main" id="{94E30DC1-8178-5947-5DB3-C19372CFEFFE}"/>
                </a:ext>
              </a:extLst>
            </p:cNvPr>
            <p:cNvGrpSpPr/>
            <p:nvPr/>
          </p:nvGrpSpPr>
          <p:grpSpPr bwMode="auto">
            <a:xfrm>
              <a:off x="2057437" y="1042144"/>
              <a:ext cx="7757132" cy="4806563"/>
              <a:chOff x="1027152" y="2693983"/>
              <a:chExt cx="6796849" cy="4462905"/>
            </a:xfrm>
          </p:grpSpPr>
          <p:sp>
            <p:nvSpPr>
              <p:cNvPr id="12" name="AutoShape 1">
                <a:extLst>
                  <a:ext uri="{FF2B5EF4-FFF2-40B4-BE49-F238E27FC236}">
                    <a16:creationId xmlns:a16="http://schemas.microsoft.com/office/drawing/2014/main" id="{08D97072-A55B-EE0C-10E2-8CE3BF80E9B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3" name="Rectangle 2">
                <a:extLst>
                  <a:ext uri="{FF2B5EF4-FFF2-40B4-BE49-F238E27FC236}">
                    <a16:creationId xmlns:a16="http://schemas.microsoft.com/office/drawing/2014/main" id="{4A46D859-2D11-296D-E53F-D6679853D729}"/>
                  </a:ext>
                </a:extLst>
              </p:cNvPr>
              <p:cNvSpPr/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4" name="AutoShape 3">
                <a:extLst>
                  <a:ext uri="{FF2B5EF4-FFF2-40B4-BE49-F238E27FC236}">
                    <a16:creationId xmlns:a16="http://schemas.microsoft.com/office/drawing/2014/main" id="{76BE853F-1323-5A8F-56A3-F7F7B1B51E17}"/>
                  </a:ext>
                </a:extLst>
              </p:cNvPr>
              <p:cNvSpPr/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5" name="Oval 4">
                <a:extLst>
                  <a:ext uri="{FF2B5EF4-FFF2-40B4-BE49-F238E27FC236}">
                    <a16:creationId xmlns:a16="http://schemas.microsoft.com/office/drawing/2014/main" id="{C51E5813-E2B3-C6BD-243F-DDB172626BB8}"/>
                  </a:ext>
                </a:extLst>
              </p:cNvPr>
              <p:cNvSpPr/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6" name="Oval 5">
                <a:extLst>
                  <a:ext uri="{FF2B5EF4-FFF2-40B4-BE49-F238E27FC236}">
                    <a16:creationId xmlns:a16="http://schemas.microsoft.com/office/drawing/2014/main" id="{BD82CFD7-8DDC-7B50-DDC1-20BA4372A3A9}"/>
                  </a:ext>
                </a:extLst>
              </p:cNvPr>
              <p:cNvSpPr/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7" name="Oval 6">
                <a:extLst>
                  <a:ext uri="{FF2B5EF4-FFF2-40B4-BE49-F238E27FC236}">
                    <a16:creationId xmlns:a16="http://schemas.microsoft.com/office/drawing/2014/main" id="{DB656046-28F1-D81C-B0F2-015726AC32B3}"/>
                  </a:ext>
                </a:extLst>
              </p:cNvPr>
              <p:cNvSpPr/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grpSp>
            <p:nvGrpSpPr>
              <p:cNvPr id="19" name="Group 93">
                <a:extLst>
                  <a:ext uri="{FF2B5EF4-FFF2-40B4-BE49-F238E27FC236}">
                    <a16:creationId xmlns:a16="http://schemas.microsoft.com/office/drawing/2014/main" id="{7C79FEA1-7C2E-16A6-791A-436CC93E8A8A}"/>
                  </a:ext>
                </a:extLst>
              </p:cNvPr>
              <p:cNvGrpSpPr/>
              <p:nvPr/>
            </p:nvGrpSpPr>
            <p:grpSpPr bwMode="auto">
              <a:xfrm>
                <a:off x="7494380" y="2779230"/>
                <a:ext cx="155357" cy="155271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22" name="Freeform 13">
                  <a:extLst>
                    <a:ext uri="{FF2B5EF4-FFF2-40B4-BE49-F238E27FC236}">
                      <a16:creationId xmlns:a16="http://schemas.microsoft.com/office/drawing/2014/main" id="{6765572F-A40A-4204-D9D6-DD466B243FA3}"/>
                    </a:ext>
                  </a:extLst>
                </p:cNvPr>
                <p:cNvSpPr/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3" name="Freeform 14">
                  <a:extLst>
                    <a:ext uri="{FF2B5EF4-FFF2-40B4-BE49-F238E27FC236}">
                      <a16:creationId xmlns:a16="http://schemas.microsoft.com/office/drawing/2014/main" id="{AB0CA85B-8E22-E677-2DF5-567F748E32EB}"/>
                    </a:ext>
                  </a:extLst>
                </p:cNvPr>
                <p:cNvSpPr/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4" name="Freeform 15">
                  <a:extLst>
                    <a:ext uri="{FF2B5EF4-FFF2-40B4-BE49-F238E27FC236}">
                      <a16:creationId xmlns:a16="http://schemas.microsoft.com/office/drawing/2014/main" id="{9C65AC97-91A8-5C57-E0D6-2DBA758C866F}"/>
                    </a:ext>
                  </a:extLst>
                </p:cNvPr>
                <p:cNvSpPr/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5" name="Freeform 16">
                  <a:extLst>
                    <a:ext uri="{FF2B5EF4-FFF2-40B4-BE49-F238E27FC236}">
                      <a16:creationId xmlns:a16="http://schemas.microsoft.com/office/drawing/2014/main" id="{9CE1E1B1-7C8F-D112-5D1C-07012CFC0525}"/>
                    </a:ext>
                  </a:extLst>
                </p:cNvPr>
                <p:cNvSpPr/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6" name="Freeform 17">
                  <a:extLst>
                    <a:ext uri="{FF2B5EF4-FFF2-40B4-BE49-F238E27FC236}">
                      <a16:creationId xmlns:a16="http://schemas.microsoft.com/office/drawing/2014/main" id="{A9BEA9BC-489B-C1D0-06E6-2DFBF8A812BE}"/>
                    </a:ext>
                  </a:extLst>
                </p:cNvPr>
                <p:cNvSpPr/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7" name="Freeform 18">
                  <a:extLst>
                    <a:ext uri="{FF2B5EF4-FFF2-40B4-BE49-F238E27FC236}">
                      <a16:creationId xmlns:a16="http://schemas.microsoft.com/office/drawing/2014/main" id="{E3DEEC0A-45E8-2C67-D412-B92BD2EB405E}"/>
                    </a:ext>
                  </a:extLst>
                </p:cNvPr>
                <p:cNvSpPr/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8" name="Freeform 19">
                  <a:extLst>
                    <a:ext uri="{FF2B5EF4-FFF2-40B4-BE49-F238E27FC236}">
                      <a16:creationId xmlns:a16="http://schemas.microsoft.com/office/drawing/2014/main" id="{727D2A13-DDB6-9714-C7D8-02320B473F2E}"/>
                    </a:ext>
                  </a:extLst>
                </p:cNvPr>
                <p:cNvSpPr/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9" name="Freeform 20">
                  <a:extLst>
                    <a:ext uri="{FF2B5EF4-FFF2-40B4-BE49-F238E27FC236}">
                      <a16:creationId xmlns:a16="http://schemas.microsoft.com/office/drawing/2014/main" id="{DD832FED-F025-19AE-FAD0-FD7565743118}"/>
                    </a:ext>
                  </a:extLst>
                </p:cNvPr>
                <p:cNvSpPr/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30" name="Freeform 21">
                  <a:extLst>
                    <a:ext uri="{FF2B5EF4-FFF2-40B4-BE49-F238E27FC236}">
                      <a16:creationId xmlns:a16="http://schemas.microsoft.com/office/drawing/2014/main" id="{55874C37-8FB5-35F3-6F3F-2CBD1A583FF1}"/>
                    </a:ext>
                  </a:extLst>
                </p:cNvPr>
                <p:cNvSpPr/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</p:grpSp>
          <p:sp>
            <p:nvSpPr>
              <p:cNvPr id="20" name="Freeform 25">
                <a:extLst>
                  <a:ext uri="{FF2B5EF4-FFF2-40B4-BE49-F238E27FC236}">
                    <a16:creationId xmlns:a16="http://schemas.microsoft.com/office/drawing/2014/main" id="{5B9F8BFD-0794-EE48-7FAB-DCE8E5AFCDE9}"/>
                  </a:ext>
                </a:extLst>
              </p:cNvPr>
              <p:cNvSpPr/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 extrusionOk="0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21" name="Oval 6">
                <a:extLst>
                  <a:ext uri="{FF2B5EF4-FFF2-40B4-BE49-F238E27FC236}">
                    <a16:creationId xmlns:a16="http://schemas.microsoft.com/office/drawing/2014/main" id="{CE8E2707-012E-7613-185D-D655CB1D2427}"/>
                  </a:ext>
                </a:extLst>
              </p:cNvPr>
              <p:cNvSpPr/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</p:grp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FB9C079-F46C-9812-5271-C2FC1E585D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2057437" y="1816300"/>
              <a:ext cx="7754636" cy="3876525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1A2BF9A-CA73-9D96-CF91-C6D359C075B9}"/>
              </a:ext>
            </a:extLst>
          </p:cNvPr>
          <p:cNvGrpSpPr/>
          <p:nvPr/>
        </p:nvGrpSpPr>
        <p:grpSpPr>
          <a:xfrm>
            <a:off x="1335024" y="2450592"/>
            <a:ext cx="722413" cy="356616"/>
            <a:chOff x="1335024" y="2450592"/>
            <a:chExt cx="722413" cy="356616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DF806875-A311-95A9-EF7C-E5D110E3F26B}"/>
                </a:ext>
              </a:extLst>
            </p:cNvPr>
            <p:cNvCxnSpPr/>
            <p:nvPr/>
          </p:nvCxnSpPr>
          <p:spPr>
            <a:xfrm flipH="1">
              <a:off x="1636776" y="2807208"/>
              <a:ext cx="420661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719EB71-BBB8-C4B7-E020-A8C181C224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35024" y="2450592"/>
              <a:ext cx="301752" cy="356616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Заголовок 27">
            <a:extLst>
              <a:ext uri="{FF2B5EF4-FFF2-40B4-BE49-F238E27FC236}">
                <a16:creationId xmlns:a16="http://schemas.microsoft.com/office/drawing/2014/main" id="{BED98625-5EA9-3D52-2504-1995F65B39A6}"/>
              </a:ext>
            </a:extLst>
          </p:cNvPr>
          <p:cNvSpPr txBox="1">
            <a:spLocks/>
          </p:cNvSpPr>
          <p:nvPr/>
        </p:nvSpPr>
        <p:spPr bwMode="auto">
          <a:xfrm>
            <a:off x="406693" y="2058755"/>
            <a:ext cx="1649496" cy="42572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/>
              </a:defRPr>
            </a:lvl1pPr>
          </a:lstStyle>
          <a:p>
            <a:pPr algn="ctr">
              <a:defRPr/>
            </a:pPr>
            <a:r>
              <a:rPr lang="ru-RU" b="0" dirty="0">
                <a:solidFill>
                  <a:schemeClr val="accent5"/>
                </a:solidFill>
              </a:rPr>
              <a:t>техника</a:t>
            </a:r>
            <a:br>
              <a:rPr lang="ru-RU" b="0" dirty="0">
                <a:solidFill>
                  <a:schemeClr val="accent5"/>
                </a:solidFill>
              </a:rPr>
            </a:br>
            <a:r>
              <a:rPr lang="ru-RU" b="0" dirty="0">
                <a:solidFill>
                  <a:schemeClr val="accent5"/>
                </a:solidFill>
              </a:rPr>
              <a:t>на кадре</a:t>
            </a:r>
          </a:p>
        </p:txBody>
      </p:sp>
      <p:sp>
        <p:nvSpPr>
          <p:cNvPr id="18" name="Заголовок 27">
            <a:extLst>
              <a:ext uri="{FF2B5EF4-FFF2-40B4-BE49-F238E27FC236}">
                <a16:creationId xmlns:a16="http://schemas.microsoft.com/office/drawing/2014/main" id="{BED98625-5EA9-3D52-2504-1995F65B39A6}"/>
              </a:ext>
            </a:extLst>
          </p:cNvPr>
          <p:cNvSpPr txBox="1">
            <a:spLocks/>
          </p:cNvSpPr>
          <p:nvPr/>
        </p:nvSpPr>
        <p:spPr bwMode="auto">
          <a:xfrm>
            <a:off x="2057437" y="5930000"/>
            <a:ext cx="7754636" cy="520000"/>
          </a:xfrm>
          <a:prstGeom prst="rect">
            <a:avLst/>
          </a:prstGeom>
        </p:spPr>
        <p:txBody>
          <a:bodyPr vert="horz" lIns="91440" tIns="45720" rIns="91440" bIns="45720" rtlCol="0" anchor="b" anchorCtr="0" wrap="square">
            <a:noAutofit/>
          </a:bodyPr>
          <a:lstStyle>
            <a:lvl1pPr algn="l" defTabSz="578755" rtl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/>
              </a:defRPr>
            </a:lvl1pPr>
          </a:lstStyle>
          <a:p>
            <a:pPr algn="ctr">
              <a:defRPr/>
            </a:pPr>
            <a:r>
              <a:rPr lang="ru-RU" b="0" dirty="0" sz="1200">
                <a:solidFill>
                  <a:schemeClr val="accent5"/>
                </a:solidFill>
              </a:rPr>
              <a:t>Детектор находит технику и людей. У каждой машины — участок и состояние: стоит на месте или сдвинулась с прошлого окна.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365920140" name="Скругленный прямоугольник 1">
            <a:extLst>
              <a:ext uri="{FF2B5EF4-FFF2-40B4-BE49-F238E27FC236}">
                <a16:creationId xmlns:a16="http://schemas.microsoft.com/office/drawing/2014/main" id="{A2896616-099A-7A75-2BB1-F1C452A3518A}"/>
              </a:ext>
            </a:extLst>
          </p:cNvPr>
          <p:cNvSpPr/>
          <p:nvPr/>
        </p:nvSpPr>
        <p:spPr bwMode="auto">
          <a:xfrm>
            <a:off x="346075" y="324562"/>
            <a:ext cx="5476817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598502126" name="Номер слайда 6">
            <a:extLst>
              <a:ext uri="{FF2B5EF4-FFF2-40B4-BE49-F238E27FC236}">
                <a16:creationId xmlns:a16="http://schemas.microsoft.com/office/drawing/2014/main" id="{F36DE4B1-1538-40F6-1960-D016DA3715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10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548536300" name="Заголовок 13">
            <a:extLst>
              <a:ext uri="{FF2B5EF4-FFF2-40B4-BE49-F238E27FC236}">
                <a16:creationId xmlns:a16="http://schemas.microsoft.com/office/drawing/2014/main" id="{06182070-1D05-43F0-45F4-8FA12018693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5326817" cy="376138"/>
          </a:xfrm>
        </p:spPr>
        <p:txBody>
          <a:bodyPr/>
          <a:lstStyle/>
          <a:p>
            <a:pPr>
              <a:defRPr/>
            </a:pPr>
            <a:r>
              <a:rPr lang="ru-RU" dirty="0"/>
              <a:t>ШАГ 2 · ПРЕДУПРЕЖДЕНИЕ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9ACF152-CEEF-4662-9614-8AFC5625DBAE}"/>
              </a:ext>
            </a:extLst>
          </p:cNvPr>
          <p:cNvGrpSpPr/>
          <p:nvPr/>
        </p:nvGrpSpPr>
        <p:grpSpPr>
          <a:xfrm>
            <a:off x="2057437" y="1042144"/>
            <a:ext cx="7757132" cy="4806563"/>
            <a:chOff x="2057437" y="1042144"/>
            <a:chExt cx="7757132" cy="4806563"/>
          </a:xfrm>
        </p:grpSpPr>
        <p:grpSp>
          <p:nvGrpSpPr>
            <p:cNvPr id="9" name="Group 83">
              <a:extLst>
                <a:ext uri="{FF2B5EF4-FFF2-40B4-BE49-F238E27FC236}">
                  <a16:creationId xmlns:a16="http://schemas.microsoft.com/office/drawing/2014/main" id="{94E30DC1-8178-5947-5DB3-C19372CFEFFE}"/>
                </a:ext>
              </a:extLst>
            </p:cNvPr>
            <p:cNvGrpSpPr/>
            <p:nvPr/>
          </p:nvGrpSpPr>
          <p:grpSpPr bwMode="auto">
            <a:xfrm>
              <a:off x="2057437" y="1042144"/>
              <a:ext cx="7757132" cy="4806563"/>
              <a:chOff x="1027152" y="2693983"/>
              <a:chExt cx="6796849" cy="4462905"/>
            </a:xfrm>
          </p:grpSpPr>
          <p:sp>
            <p:nvSpPr>
              <p:cNvPr id="12" name="AutoShape 1">
                <a:extLst>
                  <a:ext uri="{FF2B5EF4-FFF2-40B4-BE49-F238E27FC236}">
                    <a16:creationId xmlns:a16="http://schemas.microsoft.com/office/drawing/2014/main" id="{08D97072-A55B-EE0C-10E2-8CE3BF80E9B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3" name="Rectangle 2">
                <a:extLst>
                  <a:ext uri="{FF2B5EF4-FFF2-40B4-BE49-F238E27FC236}">
                    <a16:creationId xmlns:a16="http://schemas.microsoft.com/office/drawing/2014/main" id="{4A46D859-2D11-296D-E53F-D6679853D729}"/>
                  </a:ext>
                </a:extLst>
              </p:cNvPr>
              <p:cNvSpPr/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4" name="AutoShape 3">
                <a:extLst>
                  <a:ext uri="{FF2B5EF4-FFF2-40B4-BE49-F238E27FC236}">
                    <a16:creationId xmlns:a16="http://schemas.microsoft.com/office/drawing/2014/main" id="{76BE853F-1323-5A8F-56A3-F7F7B1B51E17}"/>
                  </a:ext>
                </a:extLst>
              </p:cNvPr>
              <p:cNvSpPr/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5" name="Oval 4">
                <a:extLst>
                  <a:ext uri="{FF2B5EF4-FFF2-40B4-BE49-F238E27FC236}">
                    <a16:creationId xmlns:a16="http://schemas.microsoft.com/office/drawing/2014/main" id="{C51E5813-E2B3-C6BD-243F-DDB172626BB8}"/>
                  </a:ext>
                </a:extLst>
              </p:cNvPr>
              <p:cNvSpPr/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6" name="Oval 5">
                <a:extLst>
                  <a:ext uri="{FF2B5EF4-FFF2-40B4-BE49-F238E27FC236}">
                    <a16:creationId xmlns:a16="http://schemas.microsoft.com/office/drawing/2014/main" id="{BD82CFD7-8DDC-7B50-DDC1-20BA4372A3A9}"/>
                  </a:ext>
                </a:extLst>
              </p:cNvPr>
              <p:cNvSpPr/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7" name="Oval 6">
                <a:extLst>
                  <a:ext uri="{FF2B5EF4-FFF2-40B4-BE49-F238E27FC236}">
                    <a16:creationId xmlns:a16="http://schemas.microsoft.com/office/drawing/2014/main" id="{DB656046-28F1-D81C-B0F2-015726AC32B3}"/>
                  </a:ext>
                </a:extLst>
              </p:cNvPr>
              <p:cNvSpPr/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grpSp>
            <p:nvGrpSpPr>
              <p:cNvPr id="19" name="Group 93">
                <a:extLst>
                  <a:ext uri="{FF2B5EF4-FFF2-40B4-BE49-F238E27FC236}">
                    <a16:creationId xmlns:a16="http://schemas.microsoft.com/office/drawing/2014/main" id="{7C79FEA1-7C2E-16A6-791A-436CC93E8A8A}"/>
                  </a:ext>
                </a:extLst>
              </p:cNvPr>
              <p:cNvGrpSpPr/>
              <p:nvPr/>
            </p:nvGrpSpPr>
            <p:grpSpPr bwMode="auto">
              <a:xfrm>
                <a:off x="7494380" y="2779230"/>
                <a:ext cx="155357" cy="155271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22" name="Freeform 13">
                  <a:extLst>
                    <a:ext uri="{FF2B5EF4-FFF2-40B4-BE49-F238E27FC236}">
                      <a16:creationId xmlns:a16="http://schemas.microsoft.com/office/drawing/2014/main" id="{6765572F-A40A-4204-D9D6-DD466B243FA3}"/>
                    </a:ext>
                  </a:extLst>
                </p:cNvPr>
                <p:cNvSpPr/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3" name="Freeform 14">
                  <a:extLst>
                    <a:ext uri="{FF2B5EF4-FFF2-40B4-BE49-F238E27FC236}">
                      <a16:creationId xmlns:a16="http://schemas.microsoft.com/office/drawing/2014/main" id="{AB0CA85B-8E22-E677-2DF5-567F748E32EB}"/>
                    </a:ext>
                  </a:extLst>
                </p:cNvPr>
                <p:cNvSpPr/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4" name="Freeform 15">
                  <a:extLst>
                    <a:ext uri="{FF2B5EF4-FFF2-40B4-BE49-F238E27FC236}">
                      <a16:creationId xmlns:a16="http://schemas.microsoft.com/office/drawing/2014/main" id="{9C65AC97-91A8-5C57-E0D6-2DBA758C866F}"/>
                    </a:ext>
                  </a:extLst>
                </p:cNvPr>
                <p:cNvSpPr/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5" name="Freeform 16">
                  <a:extLst>
                    <a:ext uri="{FF2B5EF4-FFF2-40B4-BE49-F238E27FC236}">
                      <a16:creationId xmlns:a16="http://schemas.microsoft.com/office/drawing/2014/main" id="{9CE1E1B1-7C8F-D112-5D1C-07012CFC0525}"/>
                    </a:ext>
                  </a:extLst>
                </p:cNvPr>
                <p:cNvSpPr/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6" name="Freeform 17">
                  <a:extLst>
                    <a:ext uri="{FF2B5EF4-FFF2-40B4-BE49-F238E27FC236}">
                      <a16:creationId xmlns:a16="http://schemas.microsoft.com/office/drawing/2014/main" id="{A9BEA9BC-489B-C1D0-06E6-2DFBF8A812BE}"/>
                    </a:ext>
                  </a:extLst>
                </p:cNvPr>
                <p:cNvSpPr/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7" name="Freeform 18">
                  <a:extLst>
                    <a:ext uri="{FF2B5EF4-FFF2-40B4-BE49-F238E27FC236}">
                      <a16:creationId xmlns:a16="http://schemas.microsoft.com/office/drawing/2014/main" id="{E3DEEC0A-45E8-2C67-D412-B92BD2EB405E}"/>
                    </a:ext>
                  </a:extLst>
                </p:cNvPr>
                <p:cNvSpPr/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8" name="Freeform 19">
                  <a:extLst>
                    <a:ext uri="{FF2B5EF4-FFF2-40B4-BE49-F238E27FC236}">
                      <a16:creationId xmlns:a16="http://schemas.microsoft.com/office/drawing/2014/main" id="{727D2A13-DDB6-9714-C7D8-02320B473F2E}"/>
                    </a:ext>
                  </a:extLst>
                </p:cNvPr>
                <p:cNvSpPr/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9" name="Freeform 20">
                  <a:extLst>
                    <a:ext uri="{FF2B5EF4-FFF2-40B4-BE49-F238E27FC236}">
                      <a16:creationId xmlns:a16="http://schemas.microsoft.com/office/drawing/2014/main" id="{DD832FED-F025-19AE-FAD0-FD7565743118}"/>
                    </a:ext>
                  </a:extLst>
                </p:cNvPr>
                <p:cNvSpPr/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30" name="Freeform 21">
                  <a:extLst>
                    <a:ext uri="{FF2B5EF4-FFF2-40B4-BE49-F238E27FC236}">
                      <a16:creationId xmlns:a16="http://schemas.microsoft.com/office/drawing/2014/main" id="{55874C37-8FB5-35F3-6F3F-2CBD1A583FF1}"/>
                    </a:ext>
                  </a:extLst>
                </p:cNvPr>
                <p:cNvSpPr/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</p:grpSp>
          <p:sp>
            <p:nvSpPr>
              <p:cNvPr id="20" name="Freeform 25">
                <a:extLst>
                  <a:ext uri="{FF2B5EF4-FFF2-40B4-BE49-F238E27FC236}">
                    <a16:creationId xmlns:a16="http://schemas.microsoft.com/office/drawing/2014/main" id="{5B9F8BFD-0794-EE48-7FAB-DCE8E5AFCDE9}"/>
                  </a:ext>
                </a:extLst>
              </p:cNvPr>
              <p:cNvSpPr/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 extrusionOk="0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21" name="Oval 6">
                <a:extLst>
                  <a:ext uri="{FF2B5EF4-FFF2-40B4-BE49-F238E27FC236}">
                    <a16:creationId xmlns:a16="http://schemas.microsoft.com/office/drawing/2014/main" id="{CE8E2707-012E-7613-185D-D655CB1D2427}"/>
                  </a:ext>
                </a:extLst>
              </p:cNvPr>
              <p:cNvSpPr/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</p:grp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FB9C079-F46C-9812-5271-C2FC1E585D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2057437" y="1816300"/>
              <a:ext cx="7754636" cy="3876525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1A2BF9A-CA73-9D96-CF91-C6D359C075B9}"/>
              </a:ext>
            </a:extLst>
          </p:cNvPr>
          <p:cNvGrpSpPr/>
          <p:nvPr/>
        </p:nvGrpSpPr>
        <p:grpSpPr>
          <a:xfrm>
            <a:off x="1335024" y="2450592"/>
            <a:ext cx="722413" cy="356616"/>
            <a:chOff x="1335024" y="2450592"/>
            <a:chExt cx="722413" cy="356616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DF806875-A311-95A9-EF7C-E5D110E3F26B}"/>
                </a:ext>
              </a:extLst>
            </p:cNvPr>
            <p:cNvCxnSpPr/>
            <p:nvPr/>
          </p:nvCxnSpPr>
          <p:spPr>
            <a:xfrm flipH="1">
              <a:off x="1636776" y="2807208"/>
              <a:ext cx="420661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719EB71-BBB8-C4B7-E020-A8C181C224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35024" y="2450592"/>
              <a:ext cx="301752" cy="356616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Заголовок 27">
            <a:extLst>
              <a:ext uri="{FF2B5EF4-FFF2-40B4-BE49-F238E27FC236}">
                <a16:creationId xmlns:a16="http://schemas.microsoft.com/office/drawing/2014/main" id="{BED98625-5EA9-3D52-2504-1995F65B39A6}"/>
              </a:ext>
            </a:extLst>
          </p:cNvPr>
          <p:cNvSpPr txBox="1">
            <a:spLocks/>
          </p:cNvSpPr>
          <p:nvPr/>
        </p:nvSpPr>
        <p:spPr bwMode="auto">
          <a:xfrm>
            <a:off x="406693" y="2058755"/>
            <a:ext cx="1649496" cy="42572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/>
              </a:defRPr>
            </a:lvl1pPr>
          </a:lstStyle>
          <a:p>
            <a:pPr algn="ctr">
              <a:defRPr/>
            </a:pPr>
            <a:r>
              <a:rPr lang="ru-RU" b="0" dirty="0">
                <a:solidFill>
                  <a:schemeClr val="accent5"/>
                </a:solidFill>
              </a:rPr>
              <a:t>числа</a:t>
            </a:r>
            <a:br>
              <a:rPr lang="ru-RU" b="0" dirty="0">
                <a:solidFill>
                  <a:schemeClr val="accent5"/>
                </a:solidFill>
              </a:rPr>
            </a:br>
            <a:r>
              <a:rPr lang="ru-RU" b="0" dirty="0">
                <a:solidFill>
                  <a:schemeClr val="accent5"/>
                </a:solidFill>
              </a:rPr>
              <a:t>и снимок</a:t>
            </a:r>
          </a:p>
        </p:txBody>
      </p:sp>
      <p:sp>
        <p:nvSpPr>
          <p:cNvPr id="18" name="Заголовок 27">
            <a:extLst>
              <a:ext uri="{FF2B5EF4-FFF2-40B4-BE49-F238E27FC236}">
                <a16:creationId xmlns:a16="http://schemas.microsoft.com/office/drawing/2014/main" id="{BED98625-5EA9-3D52-2504-1995F65B39A6}"/>
              </a:ext>
            </a:extLst>
          </p:cNvPr>
          <p:cNvSpPr txBox="1">
            <a:spLocks/>
          </p:cNvSpPr>
          <p:nvPr/>
        </p:nvSpPr>
        <p:spPr bwMode="auto">
          <a:xfrm>
            <a:off x="2057437" y="5930000"/>
            <a:ext cx="7754636" cy="520000"/>
          </a:xfrm>
          <a:prstGeom prst="rect">
            <a:avLst/>
          </a:prstGeom>
        </p:spPr>
        <p:txBody>
          <a:bodyPr vert="horz" lIns="91440" tIns="45720" rIns="91440" bIns="45720" rtlCol="0" anchor="b" anchorCtr="0" wrap="square">
            <a:noAutofit/>
          </a:bodyPr>
          <a:lstStyle>
            <a:lvl1pPr algn="l" defTabSz="578755" rtl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/>
              </a:defRPr>
            </a:lvl1pPr>
          </a:lstStyle>
          <a:p>
            <a:pPr algn="ctr">
              <a:defRPr/>
            </a:pPr>
            <a:r>
              <a:rPr lang="ru-RU" b="0" dirty="0" sz="1200">
                <a:solidFill>
                  <a:schemeClr val="accent5"/>
                </a:solidFill>
              </a:rPr>
              <a:t>D10: склад 8 сессий подряд не виден ни одной камерой. Вывод — «проверить вручную», а не «пусто». Оператор ставит вердикт.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365920140" name="Скругленный прямоугольник 1">
            <a:extLst>
              <a:ext uri="{FF2B5EF4-FFF2-40B4-BE49-F238E27FC236}">
                <a16:creationId xmlns:a16="http://schemas.microsoft.com/office/drawing/2014/main" id="{A2896616-099A-7A75-2BB1-F1C452A3518A}"/>
              </a:ext>
            </a:extLst>
          </p:cNvPr>
          <p:cNvSpPr/>
          <p:nvPr/>
        </p:nvSpPr>
        <p:spPr bwMode="auto">
          <a:xfrm>
            <a:off x="346075" y="324562"/>
            <a:ext cx="3485247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598502126" name="Номер слайда 6">
            <a:extLst>
              <a:ext uri="{FF2B5EF4-FFF2-40B4-BE49-F238E27FC236}">
                <a16:creationId xmlns:a16="http://schemas.microsoft.com/office/drawing/2014/main" id="{F36DE4B1-1538-40F6-1960-D016DA3715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10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548536300" name="Заголовок 13">
            <a:extLst>
              <a:ext uri="{FF2B5EF4-FFF2-40B4-BE49-F238E27FC236}">
                <a16:creationId xmlns:a16="http://schemas.microsoft.com/office/drawing/2014/main" id="{06182070-1D05-43F0-45F4-8FA12018693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3335247" cy="376138"/>
          </a:xfrm>
        </p:spPr>
        <p:txBody>
          <a:bodyPr/>
          <a:lstStyle/>
          <a:p>
            <a:pPr>
              <a:defRPr/>
            </a:pPr>
            <a:r>
              <a:rPr lang="ru-RU" dirty="0"/>
              <a:t>ШАГ 3 · СВОДКА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9ACF152-CEEF-4662-9614-8AFC5625DBAE}"/>
              </a:ext>
            </a:extLst>
          </p:cNvPr>
          <p:cNvGrpSpPr/>
          <p:nvPr/>
        </p:nvGrpSpPr>
        <p:grpSpPr>
          <a:xfrm>
            <a:off x="2057437" y="1042144"/>
            <a:ext cx="7757132" cy="4806563"/>
            <a:chOff x="2057437" y="1042144"/>
            <a:chExt cx="7757132" cy="4806563"/>
          </a:xfrm>
        </p:grpSpPr>
        <p:grpSp>
          <p:nvGrpSpPr>
            <p:cNvPr id="9" name="Group 83">
              <a:extLst>
                <a:ext uri="{FF2B5EF4-FFF2-40B4-BE49-F238E27FC236}">
                  <a16:creationId xmlns:a16="http://schemas.microsoft.com/office/drawing/2014/main" id="{94E30DC1-8178-5947-5DB3-C19372CFEFFE}"/>
                </a:ext>
              </a:extLst>
            </p:cNvPr>
            <p:cNvGrpSpPr/>
            <p:nvPr/>
          </p:nvGrpSpPr>
          <p:grpSpPr bwMode="auto">
            <a:xfrm>
              <a:off x="2057437" y="1042144"/>
              <a:ext cx="7757132" cy="4806563"/>
              <a:chOff x="1027152" y="2693983"/>
              <a:chExt cx="6796849" cy="4462905"/>
            </a:xfrm>
          </p:grpSpPr>
          <p:sp>
            <p:nvSpPr>
              <p:cNvPr id="12" name="AutoShape 1">
                <a:extLst>
                  <a:ext uri="{FF2B5EF4-FFF2-40B4-BE49-F238E27FC236}">
                    <a16:creationId xmlns:a16="http://schemas.microsoft.com/office/drawing/2014/main" id="{08D97072-A55B-EE0C-10E2-8CE3BF80E9B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3" name="Rectangle 2">
                <a:extLst>
                  <a:ext uri="{FF2B5EF4-FFF2-40B4-BE49-F238E27FC236}">
                    <a16:creationId xmlns:a16="http://schemas.microsoft.com/office/drawing/2014/main" id="{4A46D859-2D11-296D-E53F-D6679853D729}"/>
                  </a:ext>
                </a:extLst>
              </p:cNvPr>
              <p:cNvSpPr/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4" name="AutoShape 3">
                <a:extLst>
                  <a:ext uri="{FF2B5EF4-FFF2-40B4-BE49-F238E27FC236}">
                    <a16:creationId xmlns:a16="http://schemas.microsoft.com/office/drawing/2014/main" id="{76BE853F-1323-5A8F-56A3-F7F7B1B51E17}"/>
                  </a:ext>
                </a:extLst>
              </p:cNvPr>
              <p:cNvSpPr/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5" name="Oval 4">
                <a:extLst>
                  <a:ext uri="{FF2B5EF4-FFF2-40B4-BE49-F238E27FC236}">
                    <a16:creationId xmlns:a16="http://schemas.microsoft.com/office/drawing/2014/main" id="{C51E5813-E2B3-C6BD-243F-DDB172626BB8}"/>
                  </a:ext>
                </a:extLst>
              </p:cNvPr>
              <p:cNvSpPr/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6" name="Oval 5">
                <a:extLst>
                  <a:ext uri="{FF2B5EF4-FFF2-40B4-BE49-F238E27FC236}">
                    <a16:creationId xmlns:a16="http://schemas.microsoft.com/office/drawing/2014/main" id="{BD82CFD7-8DDC-7B50-DDC1-20BA4372A3A9}"/>
                  </a:ext>
                </a:extLst>
              </p:cNvPr>
              <p:cNvSpPr/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7" name="Oval 6">
                <a:extLst>
                  <a:ext uri="{FF2B5EF4-FFF2-40B4-BE49-F238E27FC236}">
                    <a16:creationId xmlns:a16="http://schemas.microsoft.com/office/drawing/2014/main" id="{DB656046-28F1-D81C-B0F2-015726AC32B3}"/>
                  </a:ext>
                </a:extLst>
              </p:cNvPr>
              <p:cNvSpPr/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grpSp>
            <p:nvGrpSpPr>
              <p:cNvPr id="19" name="Group 93">
                <a:extLst>
                  <a:ext uri="{FF2B5EF4-FFF2-40B4-BE49-F238E27FC236}">
                    <a16:creationId xmlns:a16="http://schemas.microsoft.com/office/drawing/2014/main" id="{7C79FEA1-7C2E-16A6-791A-436CC93E8A8A}"/>
                  </a:ext>
                </a:extLst>
              </p:cNvPr>
              <p:cNvGrpSpPr/>
              <p:nvPr/>
            </p:nvGrpSpPr>
            <p:grpSpPr bwMode="auto">
              <a:xfrm>
                <a:off x="7494380" y="2779230"/>
                <a:ext cx="155357" cy="155271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22" name="Freeform 13">
                  <a:extLst>
                    <a:ext uri="{FF2B5EF4-FFF2-40B4-BE49-F238E27FC236}">
                      <a16:creationId xmlns:a16="http://schemas.microsoft.com/office/drawing/2014/main" id="{6765572F-A40A-4204-D9D6-DD466B243FA3}"/>
                    </a:ext>
                  </a:extLst>
                </p:cNvPr>
                <p:cNvSpPr/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3" name="Freeform 14">
                  <a:extLst>
                    <a:ext uri="{FF2B5EF4-FFF2-40B4-BE49-F238E27FC236}">
                      <a16:creationId xmlns:a16="http://schemas.microsoft.com/office/drawing/2014/main" id="{AB0CA85B-8E22-E677-2DF5-567F748E32EB}"/>
                    </a:ext>
                  </a:extLst>
                </p:cNvPr>
                <p:cNvSpPr/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4" name="Freeform 15">
                  <a:extLst>
                    <a:ext uri="{FF2B5EF4-FFF2-40B4-BE49-F238E27FC236}">
                      <a16:creationId xmlns:a16="http://schemas.microsoft.com/office/drawing/2014/main" id="{9C65AC97-91A8-5C57-E0D6-2DBA758C866F}"/>
                    </a:ext>
                  </a:extLst>
                </p:cNvPr>
                <p:cNvSpPr/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5" name="Freeform 16">
                  <a:extLst>
                    <a:ext uri="{FF2B5EF4-FFF2-40B4-BE49-F238E27FC236}">
                      <a16:creationId xmlns:a16="http://schemas.microsoft.com/office/drawing/2014/main" id="{9CE1E1B1-7C8F-D112-5D1C-07012CFC0525}"/>
                    </a:ext>
                  </a:extLst>
                </p:cNvPr>
                <p:cNvSpPr/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6" name="Freeform 17">
                  <a:extLst>
                    <a:ext uri="{FF2B5EF4-FFF2-40B4-BE49-F238E27FC236}">
                      <a16:creationId xmlns:a16="http://schemas.microsoft.com/office/drawing/2014/main" id="{A9BEA9BC-489B-C1D0-06E6-2DFBF8A812BE}"/>
                    </a:ext>
                  </a:extLst>
                </p:cNvPr>
                <p:cNvSpPr/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7" name="Freeform 18">
                  <a:extLst>
                    <a:ext uri="{FF2B5EF4-FFF2-40B4-BE49-F238E27FC236}">
                      <a16:creationId xmlns:a16="http://schemas.microsoft.com/office/drawing/2014/main" id="{E3DEEC0A-45E8-2C67-D412-B92BD2EB405E}"/>
                    </a:ext>
                  </a:extLst>
                </p:cNvPr>
                <p:cNvSpPr/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8" name="Freeform 19">
                  <a:extLst>
                    <a:ext uri="{FF2B5EF4-FFF2-40B4-BE49-F238E27FC236}">
                      <a16:creationId xmlns:a16="http://schemas.microsoft.com/office/drawing/2014/main" id="{727D2A13-DDB6-9714-C7D8-02320B473F2E}"/>
                    </a:ext>
                  </a:extLst>
                </p:cNvPr>
                <p:cNvSpPr/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9" name="Freeform 20">
                  <a:extLst>
                    <a:ext uri="{FF2B5EF4-FFF2-40B4-BE49-F238E27FC236}">
                      <a16:creationId xmlns:a16="http://schemas.microsoft.com/office/drawing/2014/main" id="{DD832FED-F025-19AE-FAD0-FD7565743118}"/>
                    </a:ext>
                  </a:extLst>
                </p:cNvPr>
                <p:cNvSpPr/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30" name="Freeform 21">
                  <a:extLst>
                    <a:ext uri="{FF2B5EF4-FFF2-40B4-BE49-F238E27FC236}">
                      <a16:creationId xmlns:a16="http://schemas.microsoft.com/office/drawing/2014/main" id="{55874C37-8FB5-35F3-6F3F-2CBD1A583FF1}"/>
                    </a:ext>
                  </a:extLst>
                </p:cNvPr>
                <p:cNvSpPr/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</p:grpSp>
          <p:sp>
            <p:nvSpPr>
              <p:cNvPr id="20" name="Freeform 25">
                <a:extLst>
                  <a:ext uri="{FF2B5EF4-FFF2-40B4-BE49-F238E27FC236}">
                    <a16:creationId xmlns:a16="http://schemas.microsoft.com/office/drawing/2014/main" id="{5B9F8BFD-0794-EE48-7FAB-DCE8E5AFCDE9}"/>
                  </a:ext>
                </a:extLst>
              </p:cNvPr>
              <p:cNvSpPr/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 extrusionOk="0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21" name="Oval 6">
                <a:extLst>
                  <a:ext uri="{FF2B5EF4-FFF2-40B4-BE49-F238E27FC236}">
                    <a16:creationId xmlns:a16="http://schemas.microsoft.com/office/drawing/2014/main" id="{CE8E2707-012E-7613-185D-D655CB1D2427}"/>
                  </a:ext>
                </a:extLst>
              </p:cNvPr>
              <p:cNvSpPr/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</p:grp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FB9C079-F46C-9812-5271-C2FC1E585D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2057437" y="1816300"/>
              <a:ext cx="7754636" cy="3876525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1A2BF9A-CA73-9D96-CF91-C6D359C075B9}"/>
              </a:ext>
            </a:extLst>
          </p:cNvPr>
          <p:cNvGrpSpPr/>
          <p:nvPr/>
        </p:nvGrpSpPr>
        <p:grpSpPr>
          <a:xfrm>
            <a:off x="1335024" y="2450592"/>
            <a:ext cx="722413" cy="356616"/>
            <a:chOff x="1335024" y="2450592"/>
            <a:chExt cx="722413" cy="356616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DF806875-A311-95A9-EF7C-E5D110E3F26B}"/>
                </a:ext>
              </a:extLst>
            </p:cNvPr>
            <p:cNvCxnSpPr/>
            <p:nvPr/>
          </p:nvCxnSpPr>
          <p:spPr>
            <a:xfrm flipH="1">
              <a:off x="1636776" y="2807208"/>
              <a:ext cx="420661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719EB71-BBB8-C4B7-E020-A8C181C224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35024" y="2450592"/>
              <a:ext cx="301752" cy="356616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Заголовок 27">
            <a:extLst>
              <a:ext uri="{FF2B5EF4-FFF2-40B4-BE49-F238E27FC236}">
                <a16:creationId xmlns:a16="http://schemas.microsoft.com/office/drawing/2014/main" id="{BED98625-5EA9-3D52-2504-1995F65B39A6}"/>
              </a:ext>
            </a:extLst>
          </p:cNvPr>
          <p:cNvSpPr txBox="1">
            <a:spLocks/>
          </p:cNvSpPr>
          <p:nvPr/>
        </p:nvSpPr>
        <p:spPr bwMode="auto">
          <a:xfrm>
            <a:off x="406693" y="2058755"/>
            <a:ext cx="1649496" cy="42572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/>
              </a:defRPr>
            </a:lvl1pPr>
          </a:lstStyle>
          <a:p>
            <a:pPr algn="ctr">
              <a:defRPr/>
            </a:pPr>
            <a:r>
              <a:rPr lang="ru-RU" b="0" dirty="0">
                <a:solidFill>
                  <a:schemeClr val="accent5"/>
                </a:solidFill>
              </a:rPr>
              <a:t>статус</a:t>
            </a:r>
            <a:br>
              <a:rPr lang="ru-RU" b="0" dirty="0">
                <a:solidFill>
                  <a:schemeClr val="accent5"/>
                </a:solidFill>
              </a:rPr>
            </a:br>
            <a:r>
              <a:rPr lang="ru-RU" b="0" dirty="0">
                <a:solidFill>
                  <a:schemeClr val="accent5"/>
                </a:solidFill>
              </a:rPr>
              <a:t>объекта</a:t>
            </a:r>
          </a:p>
        </p:txBody>
      </p:sp>
      <p:sp>
        <p:nvSpPr>
          <p:cNvPr id="18" name="Заголовок 27">
            <a:extLst>
              <a:ext uri="{FF2B5EF4-FFF2-40B4-BE49-F238E27FC236}">
                <a16:creationId xmlns:a16="http://schemas.microsoft.com/office/drawing/2014/main" id="{BED98625-5EA9-3D52-2504-1995F65B39A6}"/>
              </a:ext>
            </a:extLst>
          </p:cNvPr>
          <p:cNvSpPr txBox="1">
            <a:spLocks/>
          </p:cNvSpPr>
          <p:nvPr/>
        </p:nvSpPr>
        <p:spPr bwMode="auto">
          <a:xfrm>
            <a:off x="2057437" y="5930000"/>
            <a:ext cx="7754636" cy="520000"/>
          </a:xfrm>
          <a:prstGeom prst="rect">
            <a:avLst/>
          </a:prstGeom>
        </p:spPr>
        <p:txBody>
          <a:bodyPr vert="horz" lIns="91440" tIns="45720" rIns="91440" bIns="45720" rtlCol="0" anchor="b" anchorCtr="0" wrap="square">
            <a:noAutofit/>
          </a:bodyPr>
          <a:lstStyle>
            <a:lvl1pPr algn="l" defTabSz="578755" rtl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/>
              </a:defRPr>
            </a:lvl1pPr>
          </a:lstStyle>
          <a:p>
            <a:pPr algn="ctr">
              <a:defRPr/>
            </a:pPr>
            <a:r>
              <a:rPr lang="ru-RU" b="0" dirty="0" sz="1200">
                <a:solidFill>
                  <a:schemeClr val="accent5"/>
                </a:solidFill>
              </a:rPr>
              <a:t>SPI 0,98, видимость участков 92 %, 4 дня наблюдений: объект в графике, открытых предупреждений нет.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365920140" name="Скругленный прямоугольник 1">
            <a:extLst>
              <a:ext uri="{FF2B5EF4-FFF2-40B4-BE49-F238E27FC236}">
                <a16:creationId xmlns:a16="http://schemas.microsoft.com/office/drawing/2014/main" id="{A2896616-099A-7A75-2BB1-F1C452A3518A}"/>
              </a:ext>
            </a:extLst>
          </p:cNvPr>
          <p:cNvSpPr/>
          <p:nvPr/>
        </p:nvSpPr>
        <p:spPr bwMode="auto">
          <a:xfrm>
            <a:off x="346075" y="324562"/>
            <a:ext cx="3734193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598502126" name="Номер слайда 6">
            <a:extLst>
              <a:ext uri="{FF2B5EF4-FFF2-40B4-BE49-F238E27FC236}">
                <a16:creationId xmlns:a16="http://schemas.microsoft.com/office/drawing/2014/main" id="{F36DE4B1-1538-40F6-1960-D016DA3715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10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548536300" name="Заголовок 13">
            <a:extLst>
              <a:ext uri="{FF2B5EF4-FFF2-40B4-BE49-F238E27FC236}">
                <a16:creationId xmlns:a16="http://schemas.microsoft.com/office/drawing/2014/main" id="{06182070-1D05-43F0-45F4-8FA12018693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3584193" cy="376138"/>
          </a:xfrm>
        </p:spPr>
        <p:txBody>
          <a:bodyPr/>
          <a:lstStyle/>
          <a:p>
            <a:pPr>
              <a:defRPr/>
            </a:pPr>
            <a:r>
              <a:rPr lang="ru-RU" dirty="0"/>
              <a:t>ШАГ 4 · ПРОГНОЗ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9ACF152-CEEF-4662-9614-8AFC5625DBAE}"/>
              </a:ext>
            </a:extLst>
          </p:cNvPr>
          <p:cNvGrpSpPr/>
          <p:nvPr/>
        </p:nvGrpSpPr>
        <p:grpSpPr>
          <a:xfrm>
            <a:off x="2057437" y="1042144"/>
            <a:ext cx="7757132" cy="4806563"/>
            <a:chOff x="2057437" y="1042144"/>
            <a:chExt cx="7757132" cy="4806563"/>
          </a:xfrm>
        </p:grpSpPr>
        <p:grpSp>
          <p:nvGrpSpPr>
            <p:cNvPr id="9" name="Group 83">
              <a:extLst>
                <a:ext uri="{FF2B5EF4-FFF2-40B4-BE49-F238E27FC236}">
                  <a16:creationId xmlns:a16="http://schemas.microsoft.com/office/drawing/2014/main" id="{94E30DC1-8178-5947-5DB3-C19372CFEFFE}"/>
                </a:ext>
              </a:extLst>
            </p:cNvPr>
            <p:cNvGrpSpPr/>
            <p:nvPr/>
          </p:nvGrpSpPr>
          <p:grpSpPr bwMode="auto">
            <a:xfrm>
              <a:off x="2057437" y="1042144"/>
              <a:ext cx="7757132" cy="4806563"/>
              <a:chOff x="1027152" y="2693983"/>
              <a:chExt cx="6796849" cy="4462905"/>
            </a:xfrm>
          </p:grpSpPr>
          <p:sp>
            <p:nvSpPr>
              <p:cNvPr id="12" name="AutoShape 1">
                <a:extLst>
                  <a:ext uri="{FF2B5EF4-FFF2-40B4-BE49-F238E27FC236}">
                    <a16:creationId xmlns:a16="http://schemas.microsoft.com/office/drawing/2014/main" id="{08D97072-A55B-EE0C-10E2-8CE3BF80E9B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3" name="Rectangle 2">
                <a:extLst>
                  <a:ext uri="{FF2B5EF4-FFF2-40B4-BE49-F238E27FC236}">
                    <a16:creationId xmlns:a16="http://schemas.microsoft.com/office/drawing/2014/main" id="{4A46D859-2D11-296D-E53F-D6679853D729}"/>
                  </a:ext>
                </a:extLst>
              </p:cNvPr>
              <p:cNvSpPr/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4" name="AutoShape 3">
                <a:extLst>
                  <a:ext uri="{FF2B5EF4-FFF2-40B4-BE49-F238E27FC236}">
                    <a16:creationId xmlns:a16="http://schemas.microsoft.com/office/drawing/2014/main" id="{76BE853F-1323-5A8F-56A3-F7F7B1B51E17}"/>
                  </a:ext>
                </a:extLst>
              </p:cNvPr>
              <p:cNvSpPr/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5" name="Oval 4">
                <a:extLst>
                  <a:ext uri="{FF2B5EF4-FFF2-40B4-BE49-F238E27FC236}">
                    <a16:creationId xmlns:a16="http://schemas.microsoft.com/office/drawing/2014/main" id="{C51E5813-E2B3-C6BD-243F-DDB172626BB8}"/>
                  </a:ext>
                </a:extLst>
              </p:cNvPr>
              <p:cNvSpPr/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6" name="Oval 5">
                <a:extLst>
                  <a:ext uri="{FF2B5EF4-FFF2-40B4-BE49-F238E27FC236}">
                    <a16:creationId xmlns:a16="http://schemas.microsoft.com/office/drawing/2014/main" id="{BD82CFD7-8DDC-7B50-DDC1-20BA4372A3A9}"/>
                  </a:ext>
                </a:extLst>
              </p:cNvPr>
              <p:cNvSpPr/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7" name="Oval 6">
                <a:extLst>
                  <a:ext uri="{FF2B5EF4-FFF2-40B4-BE49-F238E27FC236}">
                    <a16:creationId xmlns:a16="http://schemas.microsoft.com/office/drawing/2014/main" id="{DB656046-28F1-D81C-B0F2-015726AC32B3}"/>
                  </a:ext>
                </a:extLst>
              </p:cNvPr>
              <p:cNvSpPr/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grpSp>
            <p:nvGrpSpPr>
              <p:cNvPr id="19" name="Group 93">
                <a:extLst>
                  <a:ext uri="{FF2B5EF4-FFF2-40B4-BE49-F238E27FC236}">
                    <a16:creationId xmlns:a16="http://schemas.microsoft.com/office/drawing/2014/main" id="{7C79FEA1-7C2E-16A6-791A-436CC93E8A8A}"/>
                  </a:ext>
                </a:extLst>
              </p:cNvPr>
              <p:cNvGrpSpPr/>
              <p:nvPr/>
            </p:nvGrpSpPr>
            <p:grpSpPr bwMode="auto">
              <a:xfrm>
                <a:off x="7494380" y="2779230"/>
                <a:ext cx="155357" cy="155271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22" name="Freeform 13">
                  <a:extLst>
                    <a:ext uri="{FF2B5EF4-FFF2-40B4-BE49-F238E27FC236}">
                      <a16:creationId xmlns:a16="http://schemas.microsoft.com/office/drawing/2014/main" id="{6765572F-A40A-4204-D9D6-DD466B243FA3}"/>
                    </a:ext>
                  </a:extLst>
                </p:cNvPr>
                <p:cNvSpPr/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3" name="Freeform 14">
                  <a:extLst>
                    <a:ext uri="{FF2B5EF4-FFF2-40B4-BE49-F238E27FC236}">
                      <a16:creationId xmlns:a16="http://schemas.microsoft.com/office/drawing/2014/main" id="{AB0CA85B-8E22-E677-2DF5-567F748E32EB}"/>
                    </a:ext>
                  </a:extLst>
                </p:cNvPr>
                <p:cNvSpPr/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4" name="Freeform 15">
                  <a:extLst>
                    <a:ext uri="{FF2B5EF4-FFF2-40B4-BE49-F238E27FC236}">
                      <a16:creationId xmlns:a16="http://schemas.microsoft.com/office/drawing/2014/main" id="{9C65AC97-91A8-5C57-E0D6-2DBA758C866F}"/>
                    </a:ext>
                  </a:extLst>
                </p:cNvPr>
                <p:cNvSpPr/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5" name="Freeform 16">
                  <a:extLst>
                    <a:ext uri="{FF2B5EF4-FFF2-40B4-BE49-F238E27FC236}">
                      <a16:creationId xmlns:a16="http://schemas.microsoft.com/office/drawing/2014/main" id="{9CE1E1B1-7C8F-D112-5D1C-07012CFC0525}"/>
                    </a:ext>
                  </a:extLst>
                </p:cNvPr>
                <p:cNvSpPr/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6" name="Freeform 17">
                  <a:extLst>
                    <a:ext uri="{FF2B5EF4-FFF2-40B4-BE49-F238E27FC236}">
                      <a16:creationId xmlns:a16="http://schemas.microsoft.com/office/drawing/2014/main" id="{A9BEA9BC-489B-C1D0-06E6-2DFBF8A812BE}"/>
                    </a:ext>
                  </a:extLst>
                </p:cNvPr>
                <p:cNvSpPr/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7" name="Freeform 18">
                  <a:extLst>
                    <a:ext uri="{FF2B5EF4-FFF2-40B4-BE49-F238E27FC236}">
                      <a16:creationId xmlns:a16="http://schemas.microsoft.com/office/drawing/2014/main" id="{E3DEEC0A-45E8-2C67-D412-B92BD2EB405E}"/>
                    </a:ext>
                  </a:extLst>
                </p:cNvPr>
                <p:cNvSpPr/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8" name="Freeform 19">
                  <a:extLst>
                    <a:ext uri="{FF2B5EF4-FFF2-40B4-BE49-F238E27FC236}">
                      <a16:creationId xmlns:a16="http://schemas.microsoft.com/office/drawing/2014/main" id="{727D2A13-DDB6-9714-C7D8-02320B473F2E}"/>
                    </a:ext>
                  </a:extLst>
                </p:cNvPr>
                <p:cNvSpPr/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9" name="Freeform 20">
                  <a:extLst>
                    <a:ext uri="{FF2B5EF4-FFF2-40B4-BE49-F238E27FC236}">
                      <a16:creationId xmlns:a16="http://schemas.microsoft.com/office/drawing/2014/main" id="{DD832FED-F025-19AE-FAD0-FD7565743118}"/>
                    </a:ext>
                  </a:extLst>
                </p:cNvPr>
                <p:cNvSpPr/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30" name="Freeform 21">
                  <a:extLst>
                    <a:ext uri="{FF2B5EF4-FFF2-40B4-BE49-F238E27FC236}">
                      <a16:creationId xmlns:a16="http://schemas.microsoft.com/office/drawing/2014/main" id="{55874C37-8FB5-35F3-6F3F-2CBD1A583FF1}"/>
                    </a:ext>
                  </a:extLst>
                </p:cNvPr>
                <p:cNvSpPr/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</p:grpSp>
          <p:sp>
            <p:nvSpPr>
              <p:cNvPr id="20" name="Freeform 25">
                <a:extLst>
                  <a:ext uri="{FF2B5EF4-FFF2-40B4-BE49-F238E27FC236}">
                    <a16:creationId xmlns:a16="http://schemas.microsoft.com/office/drawing/2014/main" id="{5B9F8BFD-0794-EE48-7FAB-DCE8E5AFCDE9}"/>
                  </a:ext>
                </a:extLst>
              </p:cNvPr>
              <p:cNvSpPr/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 extrusionOk="0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21" name="Oval 6">
                <a:extLst>
                  <a:ext uri="{FF2B5EF4-FFF2-40B4-BE49-F238E27FC236}">
                    <a16:creationId xmlns:a16="http://schemas.microsoft.com/office/drawing/2014/main" id="{CE8E2707-012E-7613-185D-D655CB1D2427}"/>
                  </a:ext>
                </a:extLst>
              </p:cNvPr>
              <p:cNvSpPr/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</p:grp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FB9C079-F46C-9812-5271-C2FC1E585D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2057437" y="1816300"/>
              <a:ext cx="7754636" cy="3876525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1A2BF9A-CA73-9D96-CF91-C6D359C075B9}"/>
              </a:ext>
            </a:extLst>
          </p:cNvPr>
          <p:cNvGrpSpPr/>
          <p:nvPr/>
        </p:nvGrpSpPr>
        <p:grpSpPr>
          <a:xfrm>
            <a:off x="1335024" y="2450592"/>
            <a:ext cx="722413" cy="356616"/>
            <a:chOff x="1335024" y="2450592"/>
            <a:chExt cx="722413" cy="356616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DF806875-A311-95A9-EF7C-E5D110E3F26B}"/>
                </a:ext>
              </a:extLst>
            </p:cNvPr>
            <p:cNvCxnSpPr/>
            <p:nvPr/>
          </p:nvCxnSpPr>
          <p:spPr>
            <a:xfrm flipH="1">
              <a:off x="1636776" y="2807208"/>
              <a:ext cx="420661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719EB71-BBB8-C4B7-E020-A8C181C224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35024" y="2450592"/>
              <a:ext cx="301752" cy="356616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Заголовок 27">
            <a:extLst>
              <a:ext uri="{FF2B5EF4-FFF2-40B4-BE49-F238E27FC236}">
                <a16:creationId xmlns:a16="http://schemas.microsoft.com/office/drawing/2014/main" id="{BED98625-5EA9-3D52-2504-1995F65B39A6}"/>
              </a:ext>
            </a:extLst>
          </p:cNvPr>
          <p:cNvSpPr txBox="1">
            <a:spLocks/>
          </p:cNvSpPr>
          <p:nvPr/>
        </p:nvSpPr>
        <p:spPr bwMode="auto">
          <a:xfrm>
            <a:off x="406693" y="2058755"/>
            <a:ext cx="1649496" cy="42572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/>
              </a:defRPr>
            </a:lvl1pPr>
          </a:lstStyle>
          <a:p>
            <a:pPr algn="ctr">
              <a:defRPr/>
            </a:pPr>
            <a:r>
              <a:rPr lang="ru-RU" b="0" dirty="0">
                <a:solidFill>
                  <a:schemeClr val="accent5"/>
                </a:solidFill>
              </a:rPr>
              <a:t>риск</a:t>
            </a:r>
            <a:br>
              <a:rPr lang="ru-RU" b="0" dirty="0">
                <a:solidFill>
                  <a:schemeClr val="accent5"/>
                </a:solidFill>
              </a:rPr>
            </a:br>
            <a:r>
              <a:rPr lang="ru-RU" b="0" dirty="0">
                <a:solidFill>
                  <a:schemeClr val="accent5"/>
                </a:solidFill>
              </a:rPr>
              <a:t>по срокам</a:t>
            </a:r>
          </a:p>
        </p:txBody>
      </p:sp>
      <p:sp>
        <p:nvSpPr>
          <p:cNvPr id="18" name="Заголовок 27">
            <a:extLst>
              <a:ext uri="{FF2B5EF4-FFF2-40B4-BE49-F238E27FC236}">
                <a16:creationId xmlns:a16="http://schemas.microsoft.com/office/drawing/2014/main" id="{BED98625-5EA9-3D52-2504-1995F65B39A6}"/>
              </a:ext>
            </a:extLst>
          </p:cNvPr>
          <p:cNvSpPr txBox="1">
            <a:spLocks/>
          </p:cNvSpPr>
          <p:nvPr/>
        </p:nvSpPr>
        <p:spPr bwMode="auto">
          <a:xfrm>
            <a:off x="2057437" y="5930000"/>
            <a:ext cx="7754636" cy="520000"/>
          </a:xfrm>
          <a:prstGeom prst="rect">
            <a:avLst/>
          </a:prstGeom>
        </p:spPr>
        <p:txBody>
          <a:bodyPr vert="horz" lIns="91440" tIns="45720" rIns="91440" bIns="45720" rtlCol="0" anchor="b" anchorCtr="0" wrap="square">
            <a:noAutofit/>
          </a:bodyPr>
          <a:lstStyle>
            <a:lvl1pPr algn="l" defTabSz="578755" rtl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/>
              </a:defRPr>
            </a:lvl1pPr>
          </a:lstStyle>
          <a:p>
            <a:pPr algn="ctr">
              <a:defRPr/>
            </a:pPr>
            <a:r>
              <a:rPr lang="ru-RU" b="0" dirty="0" sz="1200">
                <a:solidFill>
                  <a:schemeClr val="accent5"/>
                </a:solidFill>
              </a:rPr>
              <a:t>Объект с отставанием: +24 раб. дн. по критическому пути, SPI 0,71. Этапы в риске — с плановой и прогнозной датой.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365920140" name="Скругленный прямоугольник 1">
            <a:extLst>
              <a:ext uri="{FF2B5EF4-FFF2-40B4-BE49-F238E27FC236}">
                <a16:creationId xmlns:a16="http://schemas.microsoft.com/office/drawing/2014/main" id="{A2896616-099A-7A75-2BB1-F1C452A3518A}"/>
              </a:ext>
            </a:extLst>
          </p:cNvPr>
          <p:cNvSpPr/>
          <p:nvPr/>
        </p:nvSpPr>
        <p:spPr bwMode="auto">
          <a:xfrm>
            <a:off x="346075" y="324562"/>
            <a:ext cx="3236301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598502126" name="Номер слайда 6">
            <a:extLst>
              <a:ext uri="{FF2B5EF4-FFF2-40B4-BE49-F238E27FC236}">
                <a16:creationId xmlns:a16="http://schemas.microsoft.com/office/drawing/2014/main" id="{F36DE4B1-1538-40F6-1960-D016DA3715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10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548536300" name="Заголовок 13">
            <a:extLst>
              <a:ext uri="{FF2B5EF4-FFF2-40B4-BE49-F238E27FC236}">
                <a16:creationId xmlns:a16="http://schemas.microsoft.com/office/drawing/2014/main" id="{06182070-1D05-43F0-45F4-8FA12018693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3086301" cy="376138"/>
          </a:xfrm>
        </p:spPr>
        <p:txBody>
          <a:bodyPr/>
          <a:lstStyle/>
          <a:p>
            <a:pPr>
              <a:defRPr/>
            </a:pPr>
            <a:r>
              <a:rPr lang="ru-RU" dirty="0"/>
              <a:t>ШАГ 5 · ОТЧЁТ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9ACF152-CEEF-4662-9614-8AFC5625DBAE}"/>
              </a:ext>
            </a:extLst>
          </p:cNvPr>
          <p:cNvGrpSpPr/>
          <p:nvPr/>
        </p:nvGrpSpPr>
        <p:grpSpPr>
          <a:xfrm>
            <a:off x="2057437" y="1042144"/>
            <a:ext cx="7757132" cy="4806563"/>
            <a:chOff x="2057437" y="1042144"/>
            <a:chExt cx="7757132" cy="4806563"/>
          </a:xfrm>
        </p:grpSpPr>
        <p:grpSp>
          <p:nvGrpSpPr>
            <p:cNvPr id="9" name="Group 83">
              <a:extLst>
                <a:ext uri="{FF2B5EF4-FFF2-40B4-BE49-F238E27FC236}">
                  <a16:creationId xmlns:a16="http://schemas.microsoft.com/office/drawing/2014/main" id="{94E30DC1-8178-5947-5DB3-C19372CFEFFE}"/>
                </a:ext>
              </a:extLst>
            </p:cNvPr>
            <p:cNvGrpSpPr/>
            <p:nvPr/>
          </p:nvGrpSpPr>
          <p:grpSpPr bwMode="auto">
            <a:xfrm>
              <a:off x="2057437" y="1042144"/>
              <a:ext cx="7757132" cy="4806563"/>
              <a:chOff x="1027152" y="2693983"/>
              <a:chExt cx="6796849" cy="4462905"/>
            </a:xfrm>
          </p:grpSpPr>
          <p:sp>
            <p:nvSpPr>
              <p:cNvPr id="12" name="AutoShape 1">
                <a:extLst>
                  <a:ext uri="{FF2B5EF4-FFF2-40B4-BE49-F238E27FC236}">
                    <a16:creationId xmlns:a16="http://schemas.microsoft.com/office/drawing/2014/main" id="{08D97072-A55B-EE0C-10E2-8CE3BF80E9B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3" name="Rectangle 2">
                <a:extLst>
                  <a:ext uri="{FF2B5EF4-FFF2-40B4-BE49-F238E27FC236}">
                    <a16:creationId xmlns:a16="http://schemas.microsoft.com/office/drawing/2014/main" id="{4A46D859-2D11-296D-E53F-D6679853D729}"/>
                  </a:ext>
                </a:extLst>
              </p:cNvPr>
              <p:cNvSpPr/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4" name="AutoShape 3">
                <a:extLst>
                  <a:ext uri="{FF2B5EF4-FFF2-40B4-BE49-F238E27FC236}">
                    <a16:creationId xmlns:a16="http://schemas.microsoft.com/office/drawing/2014/main" id="{76BE853F-1323-5A8F-56A3-F7F7B1B51E17}"/>
                  </a:ext>
                </a:extLst>
              </p:cNvPr>
              <p:cNvSpPr/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5" name="Oval 4">
                <a:extLst>
                  <a:ext uri="{FF2B5EF4-FFF2-40B4-BE49-F238E27FC236}">
                    <a16:creationId xmlns:a16="http://schemas.microsoft.com/office/drawing/2014/main" id="{C51E5813-E2B3-C6BD-243F-DDB172626BB8}"/>
                  </a:ext>
                </a:extLst>
              </p:cNvPr>
              <p:cNvSpPr/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6" name="Oval 5">
                <a:extLst>
                  <a:ext uri="{FF2B5EF4-FFF2-40B4-BE49-F238E27FC236}">
                    <a16:creationId xmlns:a16="http://schemas.microsoft.com/office/drawing/2014/main" id="{BD82CFD7-8DDC-7B50-DDC1-20BA4372A3A9}"/>
                  </a:ext>
                </a:extLst>
              </p:cNvPr>
              <p:cNvSpPr/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7" name="Oval 6">
                <a:extLst>
                  <a:ext uri="{FF2B5EF4-FFF2-40B4-BE49-F238E27FC236}">
                    <a16:creationId xmlns:a16="http://schemas.microsoft.com/office/drawing/2014/main" id="{DB656046-28F1-D81C-B0F2-015726AC32B3}"/>
                  </a:ext>
                </a:extLst>
              </p:cNvPr>
              <p:cNvSpPr/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grpSp>
            <p:nvGrpSpPr>
              <p:cNvPr id="19" name="Group 93">
                <a:extLst>
                  <a:ext uri="{FF2B5EF4-FFF2-40B4-BE49-F238E27FC236}">
                    <a16:creationId xmlns:a16="http://schemas.microsoft.com/office/drawing/2014/main" id="{7C79FEA1-7C2E-16A6-791A-436CC93E8A8A}"/>
                  </a:ext>
                </a:extLst>
              </p:cNvPr>
              <p:cNvGrpSpPr/>
              <p:nvPr/>
            </p:nvGrpSpPr>
            <p:grpSpPr bwMode="auto">
              <a:xfrm>
                <a:off x="7494380" y="2779230"/>
                <a:ext cx="155357" cy="155271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22" name="Freeform 13">
                  <a:extLst>
                    <a:ext uri="{FF2B5EF4-FFF2-40B4-BE49-F238E27FC236}">
                      <a16:creationId xmlns:a16="http://schemas.microsoft.com/office/drawing/2014/main" id="{6765572F-A40A-4204-D9D6-DD466B243FA3}"/>
                    </a:ext>
                  </a:extLst>
                </p:cNvPr>
                <p:cNvSpPr/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3" name="Freeform 14">
                  <a:extLst>
                    <a:ext uri="{FF2B5EF4-FFF2-40B4-BE49-F238E27FC236}">
                      <a16:creationId xmlns:a16="http://schemas.microsoft.com/office/drawing/2014/main" id="{AB0CA85B-8E22-E677-2DF5-567F748E32EB}"/>
                    </a:ext>
                  </a:extLst>
                </p:cNvPr>
                <p:cNvSpPr/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4" name="Freeform 15">
                  <a:extLst>
                    <a:ext uri="{FF2B5EF4-FFF2-40B4-BE49-F238E27FC236}">
                      <a16:creationId xmlns:a16="http://schemas.microsoft.com/office/drawing/2014/main" id="{9C65AC97-91A8-5C57-E0D6-2DBA758C866F}"/>
                    </a:ext>
                  </a:extLst>
                </p:cNvPr>
                <p:cNvSpPr/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5" name="Freeform 16">
                  <a:extLst>
                    <a:ext uri="{FF2B5EF4-FFF2-40B4-BE49-F238E27FC236}">
                      <a16:creationId xmlns:a16="http://schemas.microsoft.com/office/drawing/2014/main" id="{9CE1E1B1-7C8F-D112-5D1C-07012CFC0525}"/>
                    </a:ext>
                  </a:extLst>
                </p:cNvPr>
                <p:cNvSpPr/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6" name="Freeform 17">
                  <a:extLst>
                    <a:ext uri="{FF2B5EF4-FFF2-40B4-BE49-F238E27FC236}">
                      <a16:creationId xmlns:a16="http://schemas.microsoft.com/office/drawing/2014/main" id="{A9BEA9BC-489B-C1D0-06E6-2DFBF8A812BE}"/>
                    </a:ext>
                  </a:extLst>
                </p:cNvPr>
                <p:cNvSpPr/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7" name="Freeform 18">
                  <a:extLst>
                    <a:ext uri="{FF2B5EF4-FFF2-40B4-BE49-F238E27FC236}">
                      <a16:creationId xmlns:a16="http://schemas.microsoft.com/office/drawing/2014/main" id="{E3DEEC0A-45E8-2C67-D412-B92BD2EB405E}"/>
                    </a:ext>
                  </a:extLst>
                </p:cNvPr>
                <p:cNvSpPr/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8" name="Freeform 19">
                  <a:extLst>
                    <a:ext uri="{FF2B5EF4-FFF2-40B4-BE49-F238E27FC236}">
                      <a16:creationId xmlns:a16="http://schemas.microsoft.com/office/drawing/2014/main" id="{727D2A13-DDB6-9714-C7D8-02320B473F2E}"/>
                    </a:ext>
                  </a:extLst>
                </p:cNvPr>
                <p:cNvSpPr/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9" name="Freeform 20">
                  <a:extLst>
                    <a:ext uri="{FF2B5EF4-FFF2-40B4-BE49-F238E27FC236}">
                      <a16:creationId xmlns:a16="http://schemas.microsoft.com/office/drawing/2014/main" id="{DD832FED-F025-19AE-FAD0-FD7565743118}"/>
                    </a:ext>
                  </a:extLst>
                </p:cNvPr>
                <p:cNvSpPr/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30" name="Freeform 21">
                  <a:extLst>
                    <a:ext uri="{FF2B5EF4-FFF2-40B4-BE49-F238E27FC236}">
                      <a16:creationId xmlns:a16="http://schemas.microsoft.com/office/drawing/2014/main" id="{55874C37-8FB5-35F3-6F3F-2CBD1A583FF1}"/>
                    </a:ext>
                  </a:extLst>
                </p:cNvPr>
                <p:cNvSpPr/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</p:grpSp>
          <p:sp>
            <p:nvSpPr>
              <p:cNvPr id="20" name="Freeform 25">
                <a:extLst>
                  <a:ext uri="{FF2B5EF4-FFF2-40B4-BE49-F238E27FC236}">
                    <a16:creationId xmlns:a16="http://schemas.microsoft.com/office/drawing/2014/main" id="{5B9F8BFD-0794-EE48-7FAB-DCE8E5AFCDE9}"/>
                  </a:ext>
                </a:extLst>
              </p:cNvPr>
              <p:cNvSpPr/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 extrusionOk="0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21" name="Oval 6">
                <a:extLst>
                  <a:ext uri="{FF2B5EF4-FFF2-40B4-BE49-F238E27FC236}">
                    <a16:creationId xmlns:a16="http://schemas.microsoft.com/office/drawing/2014/main" id="{CE8E2707-012E-7613-185D-D655CB1D2427}"/>
                  </a:ext>
                </a:extLst>
              </p:cNvPr>
              <p:cNvSpPr/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</p:grp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FB9C079-F46C-9812-5271-C2FC1E585D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2057437" y="1816300"/>
              <a:ext cx="7754636" cy="3876525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1A2BF9A-CA73-9D96-CF91-C6D359C075B9}"/>
              </a:ext>
            </a:extLst>
          </p:cNvPr>
          <p:cNvGrpSpPr/>
          <p:nvPr/>
        </p:nvGrpSpPr>
        <p:grpSpPr>
          <a:xfrm>
            <a:off x="1335024" y="2450592"/>
            <a:ext cx="722413" cy="356616"/>
            <a:chOff x="1335024" y="2450592"/>
            <a:chExt cx="722413" cy="356616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DF806875-A311-95A9-EF7C-E5D110E3F26B}"/>
                </a:ext>
              </a:extLst>
            </p:cNvPr>
            <p:cNvCxnSpPr/>
            <p:nvPr/>
          </p:nvCxnSpPr>
          <p:spPr>
            <a:xfrm flipH="1">
              <a:off x="1636776" y="2807208"/>
              <a:ext cx="420661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719EB71-BBB8-C4B7-E020-A8C181C224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35024" y="2450592"/>
              <a:ext cx="301752" cy="356616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Заголовок 27">
            <a:extLst>
              <a:ext uri="{FF2B5EF4-FFF2-40B4-BE49-F238E27FC236}">
                <a16:creationId xmlns:a16="http://schemas.microsoft.com/office/drawing/2014/main" id="{BED98625-5EA9-3D52-2504-1995F65B39A6}"/>
              </a:ext>
            </a:extLst>
          </p:cNvPr>
          <p:cNvSpPr txBox="1">
            <a:spLocks/>
          </p:cNvSpPr>
          <p:nvPr/>
        </p:nvSpPr>
        <p:spPr bwMode="auto">
          <a:xfrm>
            <a:off x="406693" y="2058755"/>
            <a:ext cx="1649496" cy="42572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/>
              </a:defRPr>
            </a:lvl1pPr>
          </a:lstStyle>
          <a:p>
            <a:pPr algn="ctr">
              <a:defRPr/>
            </a:pPr>
            <a:r>
              <a:rPr lang="ru-RU" b="0" dirty="0">
                <a:solidFill>
                  <a:schemeClr val="accent5"/>
                </a:solidFill>
              </a:rPr>
              <a:t>резюме</a:t>
            </a:r>
            <a:br>
              <a:rPr lang="ru-RU" b="0" dirty="0">
                <a:solidFill>
                  <a:schemeClr val="accent5"/>
                </a:solidFill>
              </a:rPr>
            </a:br>
            <a:r>
              <a:rPr lang="ru-RU" b="0" dirty="0">
                <a:solidFill>
                  <a:schemeClr val="accent5"/>
                </a:solidFill>
              </a:rPr>
              <a:t>нейросети</a:t>
            </a:r>
          </a:p>
        </p:txBody>
      </p:sp>
      <p:sp>
        <p:nvSpPr>
          <p:cNvPr id="18" name="Заголовок 27">
            <a:extLst>
              <a:ext uri="{FF2B5EF4-FFF2-40B4-BE49-F238E27FC236}">
                <a16:creationId xmlns:a16="http://schemas.microsoft.com/office/drawing/2014/main" id="{BED98625-5EA9-3D52-2504-1995F65B39A6}"/>
              </a:ext>
            </a:extLst>
          </p:cNvPr>
          <p:cNvSpPr txBox="1">
            <a:spLocks/>
          </p:cNvSpPr>
          <p:nvPr/>
        </p:nvSpPr>
        <p:spPr bwMode="auto">
          <a:xfrm>
            <a:off x="2057437" y="5930000"/>
            <a:ext cx="7754636" cy="520000"/>
          </a:xfrm>
          <a:prstGeom prst="rect">
            <a:avLst/>
          </a:prstGeom>
        </p:spPr>
        <p:txBody>
          <a:bodyPr vert="horz" lIns="91440" tIns="45720" rIns="91440" bIns="45720" rtlCol="0" anchor="b" anchorCtr="0" wrap="square">
            <a:noAutofit/>
          </a:bodyPr>
          <a:lstStyle>
            <a:lvl1pPr algn="l" defTabSz="578755" rtl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/>
              </a:defRPr>
            </a:lvl1pPr>
          </a:lstStyle>
          <a:p>
            <a:pPr algn="ctr">
              <a:defRPr/>
            </a:pPr>
            <a:r>
              <a:rPr lang="ru-RU" b="0" dirty="0" sz="1200">
                <a:solidFill>
                  <a:schemeClr val="accent5"/>
                </a:solidFill>
              </a:rPr>
              <a:t>Отчёт за период одной кнопкой. Резюме пишет нейросеть по готовым фактам; каждое число сверено с отчётом, ссылки ведут на отклонения.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365920140" name="Скругленный прямоугольник 1">
            <a:extLst>
              <a:ext uri="{FF2B5EF4-FFF2-40B4-BE49-F238E27FC236}">
                <a16:creationId xmlns:a16="http://schemas.microsoft.com/office/drawing/2014/main" id="{A2896616-099A-7A75-2BB1-F1C452A3518A}"/>
              </a:ext>
            </a:extLst>
          </p:cNvPr>
          <p:cNvSpPr/>
          <p:nvPr/>
        </p:nvSpPr>
        <p:spPr bwMode="auto"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598502126" name="Номер слайда 6">
            <a:extLst>
              <a:ext uri="{FF2B5EF4-FFF2-40B4-BE49-F238E27FC236}">
                <a16:creationId xmlns:a16="http://schemas.microsoft.com/office/drawing/2014/main" id="{F36DE4B1-1538-40F6-1960-D016DA3715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10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548536300" name="Заголовок 13">
            <a:extLst>
              <a:ext uri="{FF2B5EF4-FFF2-40B4-BE49-F238E27FC236}">
                <a16:creationId xmlns:a16="http://schemas.microsoft.com/office/drawing/2014/main" id="{06182070-1D05-43F0-45F4-8FA12018693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2961828" cy="376138"/>
          </a:xfrm>
        </p:spPr>
        <p:txBody>
          <a:bodyPr/>
          <a:lstStyle/>
          <a:p>
            <a:pPr>
              <a:defRPr/>
            </a:pPr>
            <a:r>
              <a:rPr lang="ru-RU" dirty="0"/>
              <a:t>ШАГ 6 · PDF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9ACF152-CEEF-4662-9614-8AFC5625DBAE}"/>
              </a:ext>
            </a:extLst>
          </p:cNvPr>
          <p:cNvGrpSpPr/>
          <p:nvPr/>
        </p:nvGrpSpPr>
        <p:grpSpPr>
          <a:xfrm>
            <a:off x="2057437" y="1042144"/>
            <a:ext cx="7757132" cy="4806563"/>
            <a:chOff x="2057437" y="1042144"/>
            <a:chExt cx="7757132" cy="4806563"/>
          </a:xfrm>
        </p:grpSpPr>
        <p:grpSp>
          <p:nvGrpSpPr>
            <p:cNvPr id="9" name="Group 83">
              <a:extLst>
                <a:ext uri="{FF2B5EF4-FFF2-40B4-BE49-F238E27FC236}">
                  <a16:creationId xmlns:a16="http://schemas.microsoft.com/office/drawing/2014/main" id="{94E30DC1-8178-5947-5DB3-C19372CFEFFE}"/>
                </a:ext>
              </a:extLst>
            </p:cNvPr>
            <p:cNvGrpSpPr/>
            <p:nvPr/>
          </p:nvGrpSpPr>
          <p:grpSpPr bwMode="auto">
            <a:xfrm>
              <a:off x="2057437" y="1042144"/>
              <a:ext cx="7757132" cy="4806563"/>
              <a:chOff x="1027152" y="2693983"/>
              <a:chExt cx="6796849" cy="4462905"/>
            </a:xfrm>
          </p:grpSpPr>
          <p:sp>
            <p:nvSpPr>
              <p:cNvPr id="12" name="AutoShape 1">
                <a:extLst>
                  <a:ext uri="{FF2B5EF4-FFF2-40B4-BE49-F238E27FC236}">
                    <a16:creationId xmlns:a16="http://schemas.microsoft.com/office/drawing/2014/main" id="{08D97072-A55B-EE0C-10E2-8CE3BF80E9B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3" name="Rectangle 2">
                <a:extLst>
                  <a:ext uri="{FF2B5EF4-FFF2-40B4-BE49-F238E27FC236}">
                    <a16:creationId xmlns:a16="http://schemas.microsoft.com/office/drawing/2014/main" id="{4A46D859-2D11-296D-E53F-D6679853D729}"/>
                  </a:ext>
                </a:extLst>
              </p:cNvPr>
              <p:cNvSpPr/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4" name="AutoShape 3">
                <a:extLst>
                  <a:ext uri="{FF2B5EF4-FFF2-40B4-BE49-F238E27FC236}">
                    <a16:creationId xmlns:a16="http://schemas.microsoft.com/office/drawing/2014/main" id="{76BE853F-1323-5A8F-56A3-F7F7B1B51E17}"/>
                  </a:ext>
                </a:extLst>
              </p:cNvPr>
              <p:cNvSpPr/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5" name="Oval 4">
                <a:extLst>
                  <a:ext uri="{FF2B5EF4-FFF2-40B4-BE49-F238E27FC236}">
                    <a16:creationId xmlns:a16="http://schemas.microsoft.com/office/drawing/2014/main" id="{C51E5813-E2B3-C6BD-243F-DDB172626BB8}"/>
                  </a:ext>
                </a:extLst>
              </p:cNvPr>
              <p:cNvSpPr/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6" name="Oval 5">
                <a:extLst>
                  <a:ext uri="{FF2B5EF4-FFF2-40B4-BE49-F238E27FC236}">
                    <a16:creationId xmlns:a16="http://schemas.microsoft.com/office/drawing/2014/main" id="{BD82CFD7-8DDC-7B50-DDC1-20BA4372A3A9}"/>
                  </a:ext>
                </a:extLst>
              </p:cNvPr>
              <p:cNvSpPr/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7" name="Oval 6">
                <a:extLst>
                  <a:ext uri="{FF2B5EF4-FFF2-40B4-BE49-F238E27FC236}">
                    <a16:creationId xmlns:a16="http://schemas.microsoft.com/office/drawing/2014/main" id="{DB656046-28F1-D81C-B0F2-015726AC32B3}"/>
                  </a:ext>
                </a:extLst>
              </p:cNvPr>
              <p:cNvSpPr/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grpSp>
            <p:nvGrpSpPr>
              <p:cNvPr id="19" name="Group 93">
                <a:extLst>
                  <a:ext uri="{FF2B5EF4-FFF2-40B4-BE49-F238E27FC236}">
                    <a16:creationId xmlns:a16="http://schemas.microsoft.com/office/drawing/2014/main" id="{7C79FEA1-7C2E-16A6-791A-436CC93E8A8A}"/>
                  </a:ext>
                </a:extLst>
              </p:cNvPr>
              <p:cNvGrpSpPr/>
              <p:nvPr/>
            </p:nvGrpSpPr>
            <p:grpSpPr bwMode="auto">
              <a:xfrm>
                <a:off x="7494380" y="2779230"/>
                <a:ext cx="155357" cy="155271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22" name="Freeform 13">
                  <a:extLst>
                    <a:ext uri="{FF2B5EF4-FFF2-40B4-BE49-F238E27FC236}">
                      <a16:creationId xmlns:a16="http://schemas.microsoft.com/office/drawing/2014/main" id="{6765572F-A40A-4204-D9D6-DD466B243FA3}"/>
                    </a:ext>
                  </a:extLst>
                </p:cNvPr>
                <p:cNvSpPr/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3" name="Freeform 14">
                  <a:extLst>
                    <a:ext uri="{FF2B5EF4-FFF2-40B4-BE49-F238E27FC236}">
                      <a16:creationId xmlns:a16="http://schemas.microsoft.com/office/drawing/2014/main" id="{AB0CA85B-8E22-E677-2DF5-567F748E32EB}"/>
                    </a:ext>
                  </a:extLst>
                </p:cNvPr>
                <p:cNvSpPr/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4" name="Freeform 15">
                  <a:extLst>
                    <a:ext uri="{FF2B5EF4-FFF2-40B4-BE49-F238E27FC236}">
                      <a16:creationId xmlns:a16="http://schemas.microsoft.com/office/drawing/2014/main" id="{9C65AC97-91A8-5C57-E0D6-2DBA758C866F}"/>
                    </a:ext>
                  </a:extLst>
                </p:cNvPr>
                <p:cNvSpPr/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5" name="Freeform 16">
                  <a:extLst>
                    <a:ext uri="{FF2B5EF4-FFF2-40B4-BE49-F238E27FC236}">
                      <a16:creationId xmlns:a16="http://schemas.microsoft.com/office/drawing/2014/main" id="{9CE1E1B1-7C8F-D112-5D1C-07012CFC0525}"/>
                    </a:ext>
                  </a:extLst>
                </p:cNvPr>
                <p:cNvSpPr/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6" name="Freeform 17">
                  <a:extLst>
                    <a:ext uri="{FF2B5EF4-FFF2-40B4-BE49-F238E27FC236}">
                      <a16:creationId xmlns:a16="http://schemas.microsoft.com/office/drawing/2014/main" id="{A9BEA9BC-489B-C1D0-06E6-2DFBF8A812BE}"/>
                    </a:ext>
                  </a:extLst>
                </p:cNvPr>
                <p:cNvSpPr/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7" name="Freeform 18">
                  <a:extLst>
                    <a:ext uri="{FF2B5EF4-FFF2-40B4-BE49-F238E27FC236}">
                      <a16:creationId xmlns:a16="http://schemas.microsoft.com/office/drawing/2014/main" id="{E3DEEC0A-45E8-2C67-D412-B92BD2EB405E}"/>
                    </a:ext>
                  </a:extLst>
                </p:cNvPr>
                <p:cNvSpPr/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8" name="Freeform 19">
                  <a:extLst>
                    <a:ext uri="{FF2B5EF4-FFF2-40B4-BE49-F238E27FC236}">
                      <a16:creationId xmlns:a16="http://schemas.microsoft.com/office/drawing/2014/main" id="{727D2A13-DDB6-9714-C7D8-02320B473F2E}"/>
                    </a:ext>
                  </a:extLst>
                </p:cNvPr>
                <p:cNvSpPr/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9" name="Freeform 20">
                  <a:extLst>
                    <a:ext uri="{FF2B5EF4-FFF2-40B4-BE49-F238E27FC236}">
                      <a16:creationId xmlns:a16="http://schemas.microsoft.com/office/drawing/2014/main" id="{DD832FED-F025-19AE-FAD0-FD7565743118}"/>
                    </a:ext>
                  </a:extLst>
                </p:cNvPr>
                <p:cNvSpPr/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30" name="Freeform 21">
                  <a:extLst>
                    <a:ext uri="{FF2B5EF4-FFF2-40B4-BE49-F238E27FC236}">
                      <a16:creationId xmlns:a16="http://schemas.microsoft.com/office/drawing/2014/main" id="{55874C37-8FB5-35F3-6F3F-2CBD1A583FF1}"/>
                    </a:ext>
                  </a:extLst>
                </p:cNvPr>
                <p:cNvSpPr/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</p:grpSp>
          <p:sp>
            <p:nvSpPr>
              <p:cNvPr id="20" name="Freeform 25">
                <a:extLst>
                  <a:ext uri="{FF2B5EF4-FFF2-40B4-BE49-F238E27FC236}">
                    <a16:creationId xmlns:a16="http://schemas.microsoft.com/office/drawing/2014/main" id="{5B9F8BFD-0794-EE48-7FAB-DCE8E5AFCDE9}"/>
                  </a:ext>
                </a:extLst>
              </p:cNvPr>
              <p:cNvSpPr/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 extrusionOk="0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21" name="Oval 6">
                <a:extLst>
                  <a:ext uri="{FF2B5EF4-FFF2-40B4-BE49-F238E27FC236}">
                    <a16:creationId xmlns:a16="http://schemas.microsoft.com/office/drawing/2014/main" id="{CE8E2707-012E-7613-185D-D655CB1D2427}"/>
                  </a:ext>
                </a:extLst>
              </p:cNvPr>
              <p:cNvSpPr/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</p:grp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FB9C079-F46C-9812-5271-C2FC1E585D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2057437" y="1816300"/>
              <a:ext cx="7754636" cy="3876525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1A2BF9A-CA73-9D96-CF91-C6D359C075B9}"/>
              </a:ext>
            </a:extLst>
          </p:cNvPr>
          <p:cNvGrpSpPr/>
          <p:nvPr/>
        </p:nvGrpSpPr>
        <p:grpSpPr>
          <a:xfrm>
            <a:off x="1335024" y="2450592"/>
            <a:ext cx="722413" cy="356616"/>
            <a:chOff x="1335024" y="2450592"/>
            <a:chExt cx="722413" cy="356616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DF806875-A311-95A9-EF7C-E5D110E3F26B}"/>
                </a:ext>
              </a:extLst>
            </p:cNvPr>
            <p:cNvCxnSpPr/>
            <p:nvPr/>
          </p:nvCxnSpPr>
          <p:spPr>
            <a:xfrm flipH="1">
              <a:off x="1636776" y="2807208"/>
              <a:ext cx="420661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719EB71-BBB8-C4B7-E020-A8C181C224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35024" y="2450592"/>
              <a:ext cx="301752" cy="356616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Заголовок 27">
            <a:extLst>
              <a:ext uri="{FF2B5EF4-FFF2-40B4-BE49-F238E27FC236}">
                <a16:creationId xmlns:a16="http://schemas.microsoft.com/office/drawing/2014/main" id="{BED98625-5EA9-3D52-2504-1995F65B39A6}"/>
              </a:ext>
            </a:extLst>
          </p:cNvPr>
          <p:cNvSpPr txBox="1">
            <a:spLocks/>
          </p:cNvSpPr>
          <p:nvPr/>
        </p:nvSpPr>
        <p:spPr bwMode="auto">
          <a:xfrm>
            <a:off x="406693" y="2058755"/>
            <a:ext cx="1649496" cy="42572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/>
              </a:defRPr>
            </a:lvl1pPr>
          </a:lstStyle>
          <a:p>
            <a:pPr algn="ctr">
              <a:defRPr/>
            </a:pPr>
            <a:r>
              <a:rPr lang="ru-RU" b="0" dirty="0">
                <a:solidFill>
                  <a:schemeClr val="accent5"/>
                </a:solidFill>
              </a:rPr>
              <a:t>отчёт</a:t>
            </a:r>
            <a:br>
              <a:rPr lang="ru-RU" b="0" dirty="0">
                <a:solidFill>
                  <a:schemeClr val="accent5"/>
                </a:solidFill>
              </a:rPr>
            </a:br>
            <a:r>
              <a:rPr lang="ru-RU" b="0" dirty="0">
                <a:solidFill>
                  <a:schemeClr val="accent5"/>
                </a:solidFill>
              </a:rPr>
              <a:t>план-факт</a:t>
            </a:r>
          </a:p>
        </p:txBody>
      </p:sp>
      <p:sp>
        <p:nvSpPr>
          <p:cNvPr id="18" name="Заголовок 27">
            <a:extLst>
              <a:ext uri="{FF2B5EF4-FFF2-40B4-BE49-F238E27FC236}">
                <a16:creationId xmlns:a16="http://schemas.microsoft.com/office/drawing/2014/main" id="{BED98625-5EA9-3D52-2504-1995F65B39A6}"/>
              </a:ext>
            </a:extLst>
          </p:cNvPr>
          <p:cNvSpPr txBox="1">
            <a:spLocks/>
          </p:cNvSpPr>
          <p:nvPr/>
        </p:nvSpPr>
        <p:spPr bwMode="auto">
          <a:xfrm>
            <a:off x="2057437" y="5930000"/>
            <a:ext cx="7754636" cy="520000"/>
          </a:xfrm>
          <a:prstGeom prst="rect">
            <a:avLst/>
          </a:prstGeom>
        </p:spPr>
        <p:txBody>
          <a:bodyPr vert="horz" lIns="91440" tIns="45720" rIns="91440" bIns="45720" rtlCol="0" anchor="b" anchorCtr="0" wrap="square">
            <a:noAutofit/>
          </a:bodyPr>
          <a:lstStyle>
            <a:lvl1pPr algn="l" defTabSz="578755" rtl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/>
              </a:defRPr>
            </a:lvl1pPr>
          </a:lstStyle>
          <a:p>
            <a:pPr algn="ctr">
              <a:defRPr/>
            </a:pPr>
            <a:r>
              <a:rPr lang="ru-RU" b="0" dirty="0" sz="1200">
                <a:solidFill>
                  <a:schemeClr val="accent5"/>
                </a:solidFill>
              </a:rPr>
              <a:t>PDF: статус и SPI, прогресс по фазам, этапы в риске, отклонения со снимками-доказательствами и раздел «Ограничения».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CB96DE-42B5-C482-522D-5399513453F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812294" name="Скругленный прямоугольник 2">
            <a:extLst>
              <a:ext uri="{FF2B5EF4-FFF2-40B4-BE49-F238E27FC236}">
                <a16:creationId xmlns:a16="http://schemas.microsoft.com/office/drawing/2014/main" id="{0935B526-6572-9F62-FAD7-170CE8FD11D0}"/>
              </a:ext>
            </a:extLst>
          </p:cNvPr>
          <p:cNvSpPr/>
          <p:nvPr/>
        </p:nvSpPr>
        <p:spPr bwMode="auto"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00372309" name="Номер слайда 6">
            <a:extLst>
              <a:ext uri="{FF2B5EF4-FFF2-40B4-BE49-F238E27FC236}">
                <a16:creationId xmlns:a16="http://schemas.microsoft.com/office/drawing/2014/main" id="{254E12BA-0303-871B-0BA4-5E614F67FC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11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920462955" name="Текст 3">
            <a:extLst>
              <a:ext uri="{FF2B5EF4-FFF2-40B4-BE49-F238E27FC236}">
                <a16:creationId xmlns:a16="http://schemas.microsoft.com/office/drawing/2014/main" id="{CDA7A03A-1920-4EEB-0A1C-614FA18F1D6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auto">
          <a:xfrm>
            <a:off x="8292891" y="1105718"/>
            <a:ext cx="3626835" cy="5008871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b="1" dirty="0">
                <a:solidFill>
                  <a:schemeClr val="accent1"/>
                </a:solidFill>
              </a:rPr>
              <a:t>Обязательная техника</a:t>
            </a:r>
          </a:p>
          <a:p>
            <a:pPr lvl="1">
              <a:defRPr/>
            </a:pPr>
            <a:r>
              <a:rPr lang="en-US" sz="1450" dirty="0" err="1">
                <a:solidFill>
                  <a:schemeClr val="tx1"/>
                </a:solidFill>
              </a:rPr>
              <a:t>Группы классов с минимальным числом машин. Нет ни одной группы — D1, собрана только часть — D2</a:t>
            </a:r>
            <a:endParaRPr lang="ru-RU" sz="145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b="1" dirty="0">
                <a:solidFill>
                  <a:schemeClr val="accent1"/>
                </a:solidFill>
              </a:rPr>
              <a:t>Допустимая техника</a:t>
            </a:r>
          </a:p>
          <a:p>
            <a:pPr lvl="1">
              <a:defRPr/>
            </a:pPr>
            <a:r>
              <a:rPr lang="en-US" sz="1450" dirty="0" err="1">
                <a:solidFill>
                  <a:schemeClr val="tx1"/>
                </a:solidFill>
              </a:rPr>
              <a:t>Классы, которые могут работать на этапе, но не требуются. Всё остальное — D3 «техника не по этапу»</a:t>
            </a:r>
          </a:p>
          <a:p>
            <a:pPr>
              <a:defRPr/>
            </a:pPr>
            <a:r>
              <a:rPr lang="ru-RU" b="1" dirty="0">
                <a:solidFill>
                  <a:schemeClr val="accent1"/>
                </a:solidFill>
              </a:rPr>
              <a:t>Признак старта</a:t>
            </a:r>
          </a:p>
          <a:p>
            <a:pPr lvl="1">
              <a:defRPr/>
            </a:pPr>
            <a:r>
              <a:rPr lang="en-US" sz="1450" dirty="0" err="1">
                <a:solidFill>
                  <a:schemeClr val="tx1"/>
                </a:solidFill>
              </a:rPr>
              <a:t>Какие классы вместе означают начало этапа: по нему система находит фактический старт</a:t>
            </a:r>
            <a:endParaRPr lang="ru-RU" sz="145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b="1" dirty="0">
                <a:solidFill>
                  <a:schemeClr val="accent1"/>
                </a:solidFill>
              </a:rPr>
              <a:t>Устойчивость</a:t>
            </a:r>
          </a:p>
          <a:p>
            <a:pPr lvl="1">
              <a:defRPr/>
            </a:pPr>
            <a:r>
              <a:rPr lang="ru-RU" sz="1450" dirty="0">
                <a:solidFill>
                  <a:schemeClr val="tx1"/>
                </a:solidFill>
              </a:rPr>
              <a:t>Условие должно держаться несколько сессий подряд — одна случайная машина не даёт тревоги</a:t>
            </a:r>
            <a:endParaRPr lang="ru-RU" sz="1450" dirty="0">
              <a:solidFill>
                <a:schemeClr val="tx1"/>
              </a:solidFill>
            </a:endParaRPr>
          </a:p>
        </p:txBody>
      </p:sp>
      <p:sp>
        <p:nvSpPr>
          <p:cNvPr id="320200776" name="Заголовок 13">
            <a:extLst>
              <a:ext uri="{FF2B5EF4-FFF2-40B4-BE49-F238E27FC236}">
                <a16:creationId xmlns:a16="http://schemas.microsoft.com/office/drawing/2014/main" id="{2A26B42A-75D5-4CD7-B5A0-D3EF03F71C0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dirty="0"/>
              <a:t>ЭТАП </a:t>
            </a:r>
            <a:r>
              <a:rPr lang="en-US" dirty="0"/>
              <a:t>→ </a:t>
            </a:r>
            <a:r>
              <a:rPr lang="ru-RU" dirty="0"/>
              <a:t>ТЕХНИКА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71AF724-D960-0C69-650F-400A12D68D4A}"/>
              </a:ext>
            </a:extLst>
          </p:cNvPr>
          <p:cNvGrpSpPr/>
          <p:nvPr/>
        </p:nvGrpSpPr>
        <p:grpSpPr>
          <a:xfrm>
            <a:off x="267284" y="1206873"/>
            <a:ext cx="7759626" cy="4806563"/>
            <a:chOff x="267284" y="1206873"/>
            <a:chExt cx="7759626" cy="4806563"/>
          </a:xfrm>
        </p:grpSpPr>
        <p:grpSp>
          <p:nvGrpSpPr>
            <p:cNvPr id="11" name="Group 83">
              <a:extLst>
                <a:ext uri="{FF2B5EF4-FFF2-40B4-BE49-F238E27FC236}">
                  <a16:creationId xmlns:a16="http://schemas.microsoft.com/office/drawing/2014/main" id="{24629891-711E-A87D-F209-A3318EC9252F}"/>
                </a:ext>
              </a:extLst>
            </p:cNvPr>
            <p:cNvGrpSpPr/>
            <p:nvPr/>
          </p:nvGrpSpPr>
          <p:grpSpPr bwMode="auto">
            <a:xfrm>
              <a:off x="269778" y="1206873"/>
              <a:ext cx="7757132" cy="4806563"/>
              <a:chOff x="1027152" y="2693983"/>
              <a:chExt cx="6796849" cy="4462905"/>
            </a:xfrm>
          </p:grpSpPr>
          <p:sp>
            <p:nvSpPr>
              <p:cNvPr id="13" name="AutoShape 1">
                <a:extLst>
                  <a:ext uri="{FF2B5EF4-FFF2-40B4-BE49-F238E27FC236}">
                    <a16:creationId xmlns:a16="http://schemas.microsoft.com/office/drawing/2014/main" id="{C7B85541-967C-329B-37B2-E0F36FA5F6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4" name="Rectangle 2">
                <a:extLst>
                  <a:ext uri="{FF2B5EF4-FFF2-40B4-BE49-F238E27FC236}">
                    <a16:creationId xmlns:a16="http://schemas.microsoft.com/office/drawing/2014/main" id="{56A350E0-2215-B3D7-835F-2AD5E4A17BFE}"/>
                  </a:ext>
                </a:extLst>
              </p:cNvPr>
              <p:cNvSpPr/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5" name="AutoShape 3">
                <a:extLst>
                  <a:ext uri="{FF2B5EF4-FFF2-40B4-BE49-F238E27FC236}">
                    <a16:creationId xmlns:a16="http://schemas.microsoft.com/office/drawing/2014/main" id="{88A3707E-5D2C-1E8A-9C6F-5BA49253539A}"/>
                  </a:ext>
                </a:extLst>
              </p:cNvPr>
              <p:cNvSpPr/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6" name="Oval 4">
                <a:extLst>
                  <a:ext uri="{FF2B5EF4-FFF2-40B4-BE49-F238E27FC236}">
                    <a16:creationId xmlns:a16="http://schemas.microsoft.com/office/drawing/2014/main" id="{746FC7D9-15FF-AAA2-5C0B-A0E13057E574}"/>
                  </a:ext>
                </a:extLst>
              </p:cNvPr>
              <p:cNvSpPr/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7" name="Oval 5">
                <a:extLst>
                  <a:ext uri="{FF2B5EF4-FFF2-40B4-BE49-F238E27FC236}">
                    <a16:creationId xmlns:a16="http://schemas.microsoft.com/office/drawing/2014/main" id="{A06E5E10-1469-22D7-58F5-AE2AC244CED1}"/>
                  </a:ext>
                </a:extLst>
              </p:cNvPr>
              <p:cNvSpPr/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8" name="Oval 6">
                <a:extLst>
                  <a:ext uri="{FF2B5EF4-FFF2-40B4-BE49-F238E27FC236}">
                    <a16:creationId xmlns:a16="http://schemas.microsoft.com/office/drawing/2014/main" id="{FF0AE1BF-89C4-0762-0DC8-46B2DDD6FDD3}"/>
                  </a:ext>
                </a:extLst>
              </p:cNvPr>
              <p:cNvSpPr/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grpSp>
            <p:nvGrpSpPr>
              <p:cNvPr id="19" name="Group 93">
                <a:extLst>
                  <a:ext uri="{FF2B5EF4-FFF2-40B4-BE49-F238E27FC236}">
                    <a16:creationId xmlns:a16="http://schemas.microsoft.com/office/drawing/2014/main" id="{07AD0B4E-28FA-A190-1993-3648D7BEC2A0}"/>
                  </a:ext>
                </a:extLst>
              </p:cNvPr>
              <p:cNvGrpSpPr/>
              <p:nvPr/>
            </p:nvGrpSpPr>
            <p:grpSpPr bwMode="auto">
              <a:xfrm>
                <a:off x="7494380" y="2779230"/>
                <a:ext cx="155357" cy="155271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22" name="Freeform 13">
                  <a:extLst>
                    <a:ext uri="{FF2B5EF4-FFF2-40B4-BE49-F238E27FC236}">
                      <a16:creationId xmlns:a16="http://schemas.microsoft.com/office/drawing/2014/main" id="{ACA41B05-9F49-38DF-A1D8-ADD78F567C2A}"/>
                    </a:ext>
                  </a:extLst>
                </p:cNvPr>
                <p:cNvSpPr/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3" name="Freeform 14">
                  <a:extLst>
                    <a:ext uri="{FF2B5EF4-FFF2-40B4-BE49-F238E27FC236}">
                      <a16:creationId xmlns:a16="http://schemas.microsoft.com/office/drawing/2014/main" id="{B414A41D-2999-A268-0F40-819FA8F982EF}"/>
                    </a:ext>
                  </a:extLst>
                </p:cNvPr>
                <p:cNvSpPr/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4" name="Freeform 15">
                  <a:extLst>
                    <a:ext uri="{FF2B5EF4-FFF2-40B4-BE49-F238E27FC236}">
                      <a16:creationId xmlns:a16="http://schemas.microsoft.com/office/drawing/2014/main" id="{9DB6C1B4-6C35-8FDB-0CD1-7C6BFFE3094E}"/>
                    </a:ext>
                  </a:extLst>
                </p:cNvPr>
                <p:cNvSpPr/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5" name="Freeform 16">
                  <a:extLst>
                    <a:ext uri="{FF2B5EF4-FFF2-40B4-BE49-F238E27FC236}">
                      <a16:creationId xmlns:a16="http://schemas.microsoft.com/office/drawing/2014/main" id="{C7D8B99D-63D5-A8DD-32AA-CE4C41366A33}"/>
                    </a:ext>
                  </a:extLst>
                </p:cNvPr>
                <p:cNvSpPr/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6" name="Freeform 17">
                  <a:extLst>
                    <a:ext uri="{FF2B5EF4-FFF2-40B4-BE49-F238E27FC236}">
                      <a16:creationId xmlns:a16="http://schemas.microsoft.com/office/drawing/2014/main" id="{62F2555B-B73A-4B2C-7286-D04C9CDAA5DE}"/>
                    </a:ext>
                  </a:extLst>
                </p:cNvPr>
                <p:cNvSpPr/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7" name="Freeform 18">
                  <a:extLst>
                    <a:ext uri="{FF2B5EF4-FFF2-40B4-BE49-F238E27FC236}">
                      <a16:creationId xmlns:a16="http://schemas.microsoft.com/office/drawing/2014/main" id="{2DA11E19-AE12-5E31-DB0F-7C32CFE3C133}"/>
                    </a:ext>
                  </a:extLst>
                </p:cNvPr>
                <p:cNvSpPr/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8" name="Freeform 19">
                  <a:extLst>
                    <a:ext uri="{FF2B5EF4-FFF2-40B4-BE49-F238E27FC236}">
                      <a16:creationId xmlns:a16="http://schemas.microsoft.com/office/drawing/2014/main" id="{B075CC1B-8D52-735B-80FA-01CBDA58D8D7}"/>
                    </a:ext>
                  </a:extLst>
                </p:cNvPr>
                <p:cNvSpPr/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9" name="Freeform 20">
                  <a:extLst>
                    <a:ext uri="{FF2B5EF4-FFF2-40B4-BE49-F238E27FC236}">
                      <a16:creationId xmlns:a16="http://schemas.microsoft.com/office/drawing/2014/main" id="{C917E5CC-CBB6-E91D-5EC3-A28824F688C9}"/>
                    </a:ext>
                  </a:extLst>
                </p:cNvPr>
                <p:cNvSpPr/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30" name="Freeform 21">
                  <a:extLst>
                    <a:ext uri="{FF2B5EF4-FFF2-40B4-BE49-F238E27FC236}">
                      <a16:creationId xmlns:a16="http://schemas.microsoft.com/office/drawing/2014/main" id="{E0F344A6-987A-55AE-B96B-FFFE56EDD500}"/>
                    </a:ext>
                  </a:extLst>
                </p:cNvPr>
                <p:cNvSpPr/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</p:grpSp>
          <p:sp>
            <p:nvSpPr>
              <p:cNvPr id="20" name="Freeform 25">
                <a:extLst>
                  <a:ext uri="{FF2B5EF4-FFF2-40B4-BE49-F238E27FC236}">
                    <a16:creationId xmlns:a16="http://schemas.microsoft.com/office/drawing/2014/main" id="{9CB43ACC-5212-F9D5-4D58-96C907D3B532}"/>
                  </a:ext>
                </a:extLst>
              </p:cNvPr>
              <p:cNvSpPr/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 extrusionOk="0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21" name="Oval 6">
                <a:extLst>
                  <a:ext uri="{FF2B5EF4-FFF2-40B4-BE49-F238E27FC236}">
                    <a16:creationId xmlns:a16="http://schemas.microsoft.com/office/drawing/2014/main" id="{94066B1A-278F-6DFD-1F0B-22002ABE14FB}"/>
                  </a:ext>
                </a:extLst>
              </p:cNvPr>
              <p:cNvSpPr/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</p:grp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14088A7-BF04-B718-6981-9DD9498AB3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7284" y="1903556"/>
              <a:ext cx="7754636" cy="38834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178335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767918" name="Скругленный прямоугольник 8"/>
          <p:cNvSpPr/>
          <p:nvPr/>
        </p:nvSpPr>
        <p:spPr bwMode="auto">
          <a:xfrm>
            <a:off x="281611" y="887375"/>
            <a:ext cx="4375367" cy="5295060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17194336" name="Номер слайда 1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12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458568974" name="Заголовок 2"/>
          <p:cNvSpPr>
            <a:spLocks noGrp="1"/>
          </p:cNvSpPr>
          <p:nvPr>
            <p:ph type="title"/>
          </p:nvPr>
        </p:nvSpPr>
        <p:spPr bwMode="auto">
          <a:xfrm>
            <a:off x="505009" y="1029610"/>
            <a:ext cx="3906828" cy="395228"/>
          </a:xfrm>
        </p:spPr>
        <p:txBody>
          <a:bodyPr/>
          <a:lstStyle/>
          <a:p>
            <a:pPr>
              <a:defRPr/>
            </a:pPr>
            <a:r>
              <a:rPr lang="ru-RU" sz="2000" dirty="0">
                <a:solidFill>
                  <a:schemeClr val="accent5"/>
                </a:solidFill>
              </a:rPr>
              <a:t>ПРЕДУПРЕЖДЕНИЯ</a:t>
            </a:r>
          </a:p>
        </p:txBody>
      </p:sp>
      <p:sp>
        <p:nvSpPr>
          <p:cNvPr id="1933660009" name="Текст 6"/>
          <p:cNvSpPr>
            <a:spLocks noGrp="1"/>
          </p:cNvSpPr>
          <p:nvPr>
            <p:ph type="body" sz="quarter" idx="14"/>
          </p:nvPr>
        </p:nvSpPr>
        <p:spPr bwMode="auto">
          <a:xfrm>
            <a:off x="505009" y="1567072"/>
            <a:ext cx="3928569" cy="4482614"/>
          </a:xfrm>
        </p:spPr>
        <p:txBody>
          <a:bodyPr/>
          <a:lstStyle/>
          <a:p>
            <a:pPr>
              <a:defRPr/>
            </a:pPr>
            <a:r>
              <a:rPr lang="en-US" dirty="0" err="1">
                <a:solidFill>
                  <a:schemeClr val="tx1"/>
                </a:solidFill>
              </a:rPr>
              <a:t>Каждый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элемент</a:t>
            </a:r>
            <a:r>
              <a:rPr lang="en-US" dirty="0">
                <a:solidFill>
                  <a:schemeClr val="tx1"/>
                </a:solidFill>
              </a:rPr>
              <a:t> — </a:t>
            </a:r>
            <a:r>
              <a:rPr lang="en-US" b="1" dirty="0" err="1">
                <a:solidFill>
                  <a:schemeClr val="accent1"/>
                </a:solidFill>
              </a:rPr>
              <a:t>код</a:t>
            </a:r>
            <a:r>
              <a:rPr lang="en-US" b="1" dirty="0">
                <a:solidFill>
                  <a:schemeClr val="accent1"/>
                </a:solidFill>
              </a:rPr>
              <a:t> </a:t>
            </a:r>
            <a:r>
              <a:rPr lang="en-US" b="1" dirty="0" err="1">
                <a:solidFill>
                  <a:schemeClr val="accent1"/>
                </a:solidFill>
              </a:rPr>
              <a:t>отклонения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серьёзность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временное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окно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статус</a:t>
            </a:r>
            <a:r>
              <a:rPr lang="en-US" dirty="0">
                <a:solidFill>
                  <a:schemeClr val="tx1"/>
                </a:solidFill>
              </a:rPr>
              <a:t>. </a:t>
            </a:r>
            <a:r>
              <a:rPr lang="en-US" dirty="0" err="1">
                <a:solidFill>
                  <a:schemeClr val="tx1"/>
                </a:solidFill>
              </a:rPr>
              <a:t>День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за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днём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видно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где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объект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шёл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чисто</a:t>
            </a:r>
            <a:r>
              <a:rPr lang="en-US" dirty="0">
                <a:solidFill>
                  <a:schemeClr val="tx1"/>
                </a:solidFill>
              </a:rPr>
              <a:t>, а </a:t>
            </a:r>
            <a:r>
              <a:rPr lang="en-US" dirty="0" err="1">
                <a:solidFill>
                  <a:schemeClr val="tx1"/>
                </a:solidFill>
              </a:rPr>
              <a:t>где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правила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не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сошлись</a:t>
            </a:r>
            <a:r>
              <a:rPr lang="en-US" dirty="0">
                <a:solidFill>
                  <a:schemeClr val="tx1"/>
                </a:solidFill>
              </a:rPr>
              <a:t> с </a:t>
            </a:r>
            <a:r>
              <a:rPr lang="en-US" dirty="0" err="1">
                <a:solidFill>
                  <a:schemeClr val="tx1"/>
                </a:solidFill>
              </a:rPr>
              <a:t>фактом</a:t>
            </a:r>
            <a:endParaRPr lang="ru-RU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b="1" dirty="0" err="1">
                <a:solidFill>
                  <a:schemeClr val="accent1"/>
                </a:solidFill>
              </a:rPr>
              <a:t>Фильтры</a:t>
            </a:r>
            <a:r>
              <a:rPr lang="en-US" b="1" dirty="0">
                <a:solidFill>
                  <a:schemeClr val="accent1"/>
                </a:solidFill>
              </a:rPr>
              <a:t>: </a:t>
            </a:r>
            <a:r>
              <a:rPr lang="en-US" dirty="0" err="1">
                <a:solidFill>
                  <a:schemeClr val="tx1"/>
                </a:solidFill>
              </a:rPr>
              <a:t>открытые</a:t>
            </a:r>
            <a:r>
              <a:rPr lang="en-US" dirty="0">
                <a:solidFill>
                  <a:schemeClr val="tx1"/>
                </a:solidFill>
              </a:rPr>
              <a:t> / </a:t>
            </a:r>
            <a:r>
              <a:rPr lang="en-US" dirty="0" err="1">
                <a:solidFill>
                  <a:schemeClr val="tx1"/>
                </a:solidFill>
              </a:rPr>
              <a:t>закрытые</a:t>
            </a:r>
            <a:r>
              <a:rPr lang="en-US" dirty="0">
                <a:solidFill>
                  <a:schemeClr val="tx1"/>
                </a:solidFill>
              </a:rPr>
              <a:t> / </a:t>
            </a:r>
            <a:r>
              <a:rPr lang="en-US" dirty="0" err="1">
                <a:solidFill>
                  <a:schemeClr val="tx1"/>
                </a:solidFill>
              </a:rPr>
              <a:t>ложные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серьёзность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коды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период</a:t>
            </a:r>
            <a:r>
              <a:rPr lang="en-US" dirty="0">
                <a:solidFill>
                  <a:schemeClr val="tx1"/>
                </a:solidFill>
              </a:rPr>
              <a:t> — </a:t>
            </a:r>
            <a:r>
              <a:rPr lang="en-US" dirty="0" err="1">
                <a:solidFill>
                  <a:schemeClr val="tx1"/>
                </a:solidFill>
              </a:rPr>
              <a:t>оператор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смотрит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только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то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что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нужно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сейчас</a:t>
            </a:r>
            <a:endParaRPr lang="ru-RU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b="1" dirty="0">
                <a:solidFill>
                  <a:schemeClr val="accent1"/>
                </a:solidFill>
              </a:rPr>
              <a:t>Решение оператора (подтвердить / ложное) сохраняется и видно в отчёте; отклонение закрывается само, когда условие больше не выполняется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4" name="Picture Placeholder 2">
            <a:extLst>
              <a:ext uri="{FF2B5EF4-FFF2-40B4-BE49-F238E27FC236}">
                <a16:creationId xmlns:a16="http://schemas.microsoft.com/office/drawing/2014/main" id="{C9C2BACB-4AEE-17E3-6F43-BE305D6E603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032" r="14032"/>
          <a:stretch/>
        </p:blipFill>
        <p:spPr bwMode="auto">
          <a:xfrm>
            <a:off x="4832581" y="1029610"/>
            <a:ext cx="7077808" cy="4945526"/>
          </a:xfrm>
          <a:prstGeom prst="roundRect">
            <a:avLst>
              <a:gd name="adj" fmla="val 6127"/>
            </a:avLst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812294" name="Скругленный прямоугольник 2"/>
          <p:cNvSpPr/>
          <p:nvPr/>
        </p:nvSpPr>
        <p:spPr bwMode="auto"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00372309" name="Номер слайда 6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13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920462955" name="Текст 3"/>
          <p:cNvSpPr>
            <a:spLocks noGrp="1"/>
          </p:cNvSpPr>
          <p:nvPr>
            <p:ph type="body" sz="quarter" idx="15"/>
          </p:nvPr>
        </p:nvSpPr>
        <p:spPr bwMode="auto">
          <a:xfrm>
            <a:off x="308684" y="1470269"/>
            <a:ext cx="3626835" cy="416040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b="1" dirty="0">
                <a:solidFill>
                  <a:schemeClr val="accent1"/>
                </a:solidFill>
              </a:rPr>
              <a:t>Факт-старт</a:t>
            </a:r>
          </a:p>
          <a:p>
            <a:pPr lvl="1">
              <a:defRPr/>
            </a:pPr>
            <a:r>
              <a:rPr lang="en-US" sz="1450" dirty="0" err="1">
                <a:solidFill>
                  <a:schemeClr val="tx1"/>
                </a:solidFill>
              </a:rPr>
              <a:t>Система находит его сама: первая сессия, где на участке собран признак старта этапа</a:t>
            </a:r>
            <a:endParaRPr lang="ru-RU" sz="145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b="1" dirty="0">
                <a:solidFill>
                  <a:schemeClr val="accent1"/>
                </a:solidFill>
              </a:rPr>
              <a:t>Прогноз и перенос</a:t>
            </a:r>
          </a:p>
          <a:p>
            <a:pPr lvl="1">
              <a:defRPr/>
            </a:pPr>
            <a:r>
              <a:rPr lang="en-US" sz="1450" dirty="0" err="1">
                <a:solidFill>
                  <a:schemeClr val="tx1"/>
                </a:solidFill>
              </a:rPr>
              <a:t>Прогноз — по темпу работы техники за последние дни; зависимые этапы сдвигаются по связям графика</a:t>
            </a:r>
            <a:endParaRPr lang="ru-RU" sz="145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b="1" dirty="0">
                <a:solidFill>
                  <a:schemeClr val="accent1"/>
                </a:solidFill>
              </a:rPr>
              <a:t>«Этап выполнен»</a:t>
            </a:r>
          </a:p>
          <a:p>
            <a:pPr lvl="1">
              <a:defRPr/>
            </a:pPr>
            <a:r>
              <a:rPr lang="en-US" sz="1450" dirty="0" err="1">
                <a:solidFill>
                  <a:schemeClr val="tx1"/>
                </a:solidFill>
              </a:rPr>
              <a:t>Отметка</a:t>
            </a:r>
            <a:r>
              <a:rPr lang="en-US" sz="1450" dirty="0">
                <a:solidFill>
                  <a:schemeClr val="tx1"/>
                </a:solidFill>
              </a:rPr>
              <a:t> </a:t>
            </a:r>
            <a:r>
              <a:rPr lang="en-US" sz="1450" dirty="0" err="1">
                <a:solidFill>
                  <a:schemeClr val="tx1"/>
                </a:solidFill>
              </a:rPr>
              <a:t>оператора</a:t>
            </a:r>
            <a:r>
              <a:rPr lang="en-US" sz="1450" dirty="0">
                <a:solidFill>
                  <a:schemeClr val="tx1"/>
                </a:solidFill>
              </a:rPr>
              <a:t>: </a:t>
            </a:r>
            <a:r>
              <a:rPr lang="en-US" sz="1450" dirty="0" err="1">
                <a:solidFill>
                  <a:schemeClr val="tx1"/>
                </a:solidFill>
              </a:rPr>
              <a:t>пересчёт</a:t>
            </a:r>
            <a:r>
              <a:rPr lang="en-US" sz="1450" dirty="0">
                <a:solidFill>
                  <a:schemeClr val="tx1"/>
                </a:solidFill>
              </a:rPr>
              <a:t> «</a:t>
            </a:r>
            <a:r>
              <a:rPr lang="en-US" sz="1450" dirty="0" err="1">
                <a:solidFill>
                  <a:schemeClr val="tx1"/>
                </a:solidFill>
              </a:rPr>
              <a:t>было</a:t>
            </a:r>
            <a:r>
              <a:rPr lang="en-US" sz="1450" dirty="0">
                <a:solidFill>
                  <a:schemeClr val="tx1"/>
                </a:solidFill>
              </a:rPr>
              <a:t> → </a:t>
            </a:r>
            <a:r>
              <a:rPr lang="en-US" sz="1450" dirty="0" err="1">
                <a:solidFill>
                  <a:schemeClr val="tx1"/>
                </a:solidFill>
              </a:rPr>
              <a:t>стало</a:t>
            </a:r>
            <a:r>
              <a:rPr lang="en-US" sz="1450" dirty="0">
                <a:solidFill>
                  <a:schemeClr val="tx1"/>
                </a:solidFill>
              </a:rPr>
              <a:t>»; </a:t>
            </a:r>
            <a:r>
              <a:rPr lang="en-US" sz="1450" dirty="0" err="1">
                <a:solidFill>
                  <a:schemeClr val="tx1"/>
                </a:solidFill>
              </a:rPr>
              <a:t>снятие</a:t>
            </a:r>
            <a:r>
              <a:rPr lang="en-US" sz="1450" dirty="0">
                <a:solidFill>
                  <a:schemeClr val="tx1"/>
                </a:solidFill>
              </a:rPr>
              <a:t> </a:t>
            </a:r>
            <a:r>
              <a:rPr lang="en-US" sz="1450" dirty="0" err="1">
                <a:solidFill>
                  <a:schemeClr val="tx1"/>
                </a:solidFill>
              </a:rPr>
              <a:t>отметки</a:t>
            </a:r>
            <a:r>
              <a:rPr lang="en-US" sz="1450" dirty="0">
                <a:solidFill>
                  <a:schemeClr val="tx1"/>
                </a:solidFill>
              </a:rPr>
              <a:t> </a:t>
            </a:r>
            <a:r>
              <a:rPr lang="en-US" sz="1450" dirty="0" err="1">
                <a:solidFill>
                  <a:schemeClr val="tx1"/>
                </a:solidFill>
              </a:rPr>
              <a:t>возвращает</a:t>
            </a:r>
            <a:r>
              <a:rPr lang="en-US" sz="1450" dirty="0">
                <a:solidFill>
                  <a:schemeClr val="tx1"/>
                </a:solidFill>
              </a:rPr>
              <a:t> </a:t>
            </a:r>
            <a:r>
              <a:rPr lang="en-US" sz="1450" dirty="0" err="1">
                <a:solidFill>
                  <a:schemeClr val="tx1"/>
                </a:solidFill>
              </a:rPr>
              <a:t>всё</a:t>
            </a:r>
            <a:r>
              <a:rPr lang="en-US" sz="1450" dirty="0">
                <a:solidFill>
                  <a:schemeClr val="tx1"/>
                </a:solidFill>
              </a:rPr>
              <a:t> </a:t>
            </a:r>
            <a:r>
              <a:rPr lang="en-US" sz="1450" dirty="0" err="1">
                <a:solidFill>
                  <a:schemeClr val="tx1"/>
                </a:solidFill>
              </a:rPr>
              <a:t>назад</a:t>
            </a:r>
            <a:endParaRPr lang="ru-RU" sz="145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b="1" dirty="0">
                <a:solidFill>
                  <a:schemeClr val="accent1"/>
                </a:solidFill>
              </a:rPr>
              <a:t>Критический путь</a:t>
            </a:r>
          </a:p>
          <a:p>
            <a:pPr lvl="1">
              <a:defRPr/>
            </a:pPr>
            <a:r>
              <a:rPr lang="en-US" sz="1450" dirty="0" err="1">
                <a:solidFill>
                  <a:schemeClr val="tx1"/>
                </a:solidFill>
              </a:rPr>
              <a:t>Подсвечен</a:t>
            </a:r>
            <a:r>
              <a:rPr lang="en-US" sz="1450" dirty="0">
                <a:solidFill>
                  <a:schemeClr val="tx1"/>
                </a:solidFill>
              </a:rPr>
              <a:t> </a:t>
            </a:r>
            <a:r>
              <a:rPr lang="en-US" sz="1450" dirty="0" err="1">
                <a:solidFill>
                  <a:schemeClr val="tx1"/>
                </a:solidFill>
              </a:rPr>
              <a:t>на</a:t>
            </a:r>
            <a:r>
              <a:rPr lang="en-US" sz="1450" dirty="0">
                <a:solidFill>
                  <a:schemeClr val="tx1"/>
                </a:solidFill>
              </a:rPr>
              <a:t> </a:t>
            </a:r>
            <a:r>
              <a:rPr lang="en-US" sz="1450" dirty="0" err="1">
                <a:solidFill>
                  <a:schemeClr val="tx1"/>
                </a:solidFill>
              </a:rPr>
              <a:t>диаграмме</a:t>
            </a:r>
            <a:r>
              <a:rPr lang="en-US" sz="1450" dirty="0">
                <a:solidFill>
                  <a:schemeClr val="tx1"/>
                </a:solidFill>
              </a:rPr>
              <a:t>; </a:t>
            </a:r>
            <a:r>
              <a:rPr lang="en-US" sz="1450" dirty="0" err="1">
                <a:solidFill>
                  <a:schemeClr val="tx1"/>
                </a:solidFill>
              </a:rPr>
              <a:t>задержка</a:t>
            </a:r>
            <a:r>
              <a:rPr lang="en-US" sz="1450" dirty="0">
                <a:solidFill>
                  <a:schemeClr val="tx1"/>
                </a:solidFill>
              </a:rPr>
              <a:t> </a:t>
            </a:r>
            <a:r>
              <a:rPr lang="en-US" sz="1450" dirty="0" err="1">
                <a:solidFill>
                  <a:schemeClr val="tx1"/>
                </a:solidFill>
              </a:rPr>
              <a:t>на</a:t>
            </a:r>
            <a:r>
              <a:rPr lang="en-US" sz="1450" dirty="0">
                <a:solidFill>
                  <a:schemeClr val="tx1"/>
                </a:solidFill>
              </a:rPr>
              <a:t> </a:t>
            </a:r>
            <a:r>
              <a:rPr lang="en-US" sz="1450" dirty="0" err="1">
                <a:solidFill>
                  <a:schemeClr val="tx1"/>
                </a:solidFill>
              </a:rPr>
              <a:t>нём</a:t>
            </a:r>
            <a:r>
              <a:rPr lang="en-US" sz="1450" dirty="0">
                <a:solidFill>
                  <a:schemeClr val="tx1"/>
                </a:solidFill>
              </a:rPr>
              <a:t> </a:t>
            </a:r>
            <a:r>
              <a:rPr lang="en-US" sz="1450" dirty="0" err="1">
                <a:solidFill>
                  <a:schemeClr val="tx1"/>
                </a:solidFill>
              </a:rPr>
              <a:t>сразу</a:t>
            </a:r>
            <a:r>
              <a:rPr lang="en-US" sz="1450" dirty="0">
                <a:solidFill>
                  <a:schemeClr val="tx1"/>
                </a:solidFill>
              </a:rPr>
              <a:t> </a:t>
            </a:r>
            <a:r>
              <a:rPr lang="en-US" sz="1450" dirty="0" err="1">
                <a:solidFill>
                  <a:schemeClr val="tx1"/>
                </a:solidFill>
              </a:rPr>
              <a:t>видна</a:t>
            </a:r>
            <a:r>
              <a:rPr lang="en-US" sz="1450" dirty="0">
                <a:solidFill>
                  <a:schemeClr val="tx1"/>
                </a:solidFill>
              </a:rPr>
              <a:t> в </a:t>
            </a:r>
            <a:r>
              <a:rPr lang="en-US" sz="1450" dirty="0" err="1">
                <a:solidFill>
                  <a:schemeClr val="tx1"/>
                </a:solidFill>
              </a:rPr>
              <a:t>дате</a:t>
            </a:r>
            <a:r>
              <a:rPr lang="en-US" sz="1450" dirty="0">
                <a:solidFill>
                  <a:schemeClr val="tx1"/>
                </a:solidFill>
              </a:rPr>
              <a:t> </a:t>
            </a:r>
            <a:r>
              <a:rPr lang="en-US" sz="1450" dirty="0" err="1">
                <a:solidFill>
                  <a:schemeClr val="tx1"/>
                </a:solidFill>
              </a:rPr>
              <a:t>окончания</a:t>
            </a:r>
            <a:endParaRPr lang="ru-RU" sz="1450" dirty="0">
              <a:solidFill>
                <a:schemeClr val="tx1"/>
              </a:solidFill>
            </a:endParaRPr>
          </a:p>
        </p:txBody>
      </p:sp>
      <p:sp>
        <p:nvSpPr>
          <p:cNvPr id="320200776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dirty="0"/>
              <a:t>ГАНТ И ПРОГНОЗ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48367BB-FCDF-EA76-DFEC-E6F1EE34AC10}"/>
              </a:ext>
            </a:extLst>
          </p:cNvPr>
          <p:cNvGrpSpPr/>
          <p:nvPr/>
        </p:nvGrpSpPr>
        <p:grpSpPr>
          <a:xfrm>
            <a:off x="4099906" y="1025718"/>
            <a:ext cx="7757132" cy="4806563"/>
            <a:chOff x="2057437" y="1042144"/>
            <a:chExt cx="7757132" cy="4806563"/>
          </a:xfrm>
        </p:grpSpPr>
        <p:grpSp>
          <p:nvGrpSpPr>
            <p:cNvPr id="11" name="Group 83">
              <a:extLst>
                <a:ext uri="{FF2B5EF4-FFF2-40B4-BE49-F238E27FC236}">
                  <a16:creationId xmlns:a16="http://schemas.microsoft.com/office/drawing/2014/main" id="{759B3D19-6E33-F082-4925-90DD78CA1906}"/>
                </a:ext>
              </a:extLst>
            </p:cNvPr>
            <p:cNvGrpSpPr/>
            <p:nvPr/>
          </p:nvGrpSpPr>
          <p:grpSpPr bwMode="auto">
            <a:xfrm>
              <a:off x="2057437" y="1042144"/>
              <a:ext cx="7757132" cy="4806563"/>
              <a:chOff x="1027152" y="2693983"/>
              <a:chExt cx="6796849" cy="4462905"/>
            </a:xfrm>
          </p:grpSpPr>
          <p:sp>
            <p:nvSpPr>
              <p:cNvPr id="13" name="AutoShape 1">
                <a:extLst>
                  <a:ext uri="{FF2B5EF4-FFF2-40B4-BE49-F238E27FC236}">
                    <a16:creationId xmlns:a16="http://schemas.microsoft.com/office/drawing/2014/main" id="{B1C904A4-3ADE-FD0E-BF6A-A048866EFE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4" name="Rectangle 2">
                <a:extLst>
                  <a:ext uri="{FF2B5EF4-FFF2-40B4-BE49-F238E27FC236}">
                    <a16:creationId xmlns:a16="http://schemas.microsoft.com/office/drawing/2014/main" id="{8AF3DA00-4500-BC01-C2F7-B3DAD8C321C6}"/>
                  </a:ext>
                </a:extLst>
              </p:cNvPr>
              <p:cNvSpPr/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5" name="AutoShape 3">
                <a:extLst>
                  <a:ext uri="{FF2B5EF4-FFF2-40B4-BE49-F238E27FC236}">
                    <a16:creationId xmlns:a16="http://schemas.microsoft.com/office/drawing/2014/main" id="{16710499-6685-AB47-96AF-13330181B802}"/>
                  </a:ext>
                </a:extLst>
              </p:cNvPr>
              <p:cNvSpPr/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6" name="Oval 4">
                <a:extLst>
                  <a:ext uri="{FF2B5EF4-FFF2-40B4-BE49-F238E27FC236}">
                    <a16:creationId xmlns:a16="http://schemas.microsoft.com/office/drawing/2014/main" id="{56ACA19C-20B6-DF80-31F6-31079F669B55}"/>
                  </a:ext>
                </a:extLst>
              </p:cNvPr>
              <p:cNvSpPr/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7" name="Oval 5">
                <a:extLst>
                  <a:ext uri="{FF2B5EF4-FFF2-40B4-BE49-F238E27FC236}">
                    <a16:creationId xmlns:a16="http://schemas.microsoft.com/office/drawing/2014/main" id="{8E06B126-0983-8BCD-1758-C6C5D7F9CBDA}"/>
                  </a:ext>
                </a:extLst>
              </p:cNvPr>
              <p:cNvSpPr/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18" name="Oval 6">
                <a:extLst>
                  <a:ext uri="{FF2B5EF4-FFF2-40B4-BE49-F238E27FC236}">
                    <a16:creationId xmlns:a16="http://schemas.microsoft.com/office/drawing/2014/main" id="{FC095A73-1D5E-7494-DDED-871A2DBDF4DD}"/>
                  </a:ext>
                </a:extLst>
              </p:cNvPr>
              <p:cNvSpPr/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grpSp>
            <p:nvGrpSpPr>
              <p:cNvPr id="19" name="Group 93">
                <a:extLst>
                  <a:ext uri="{FF2B5EF4-FFF2-40B4-BE49-F238E27FC236}">
                    <a16:creationId xmlns:a16="http://schemas.microsoft.com/office/drawing/2014/main" id="{343320B1-E31F-FCDF-B5BE-077166A1CDAF}"/>
                  </a:ext>
                </a:extLst>
              </p:cNvPr>
              <p:cNvGrpSpPr/>
              <p:nvPr/>
            </p:nvGrpSpPr>
            <p:grpSpPr bwMode="auto">
              <a:xfrm>
                <a:off x="7494380" y="2779230"/>
                <a:ext cx="155357" cy="155271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22" name="Freeform 13">
                  <a:extLst>
                    <a:ext uri="{FF2B5EF4-FFF2-40B4-BE49-F238E27FC236}">
                      <a16:creationId xmlns:a16="http://schemas.microsoft.com/office/drawing/2014/main" id="{E8981878-C992-8B81-6E9A-6C74F0D49F5F}"/>
                    </a:ext>
                  </a:extLst>
                </p:cNvPr>
                <p:cNvSpPr/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3" name="Freeform 14">
                  <a:extLst>
                    <a:ext uri="{FF2B5EF4-FFF2-40B4-BE49-F238E27FC236}">
                      <a16:creationId xmlns:a16="http://schemas.microsoft.com/office/drawing/2014/main" id="{D49D5031-C424-1354-C698-A4DD2F6B9F6A}"/>
                    </a:ext>
                  </a:extLst>
                </p:cNvPr>
                <p:cNvSpPr/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4" name="Freeform 15">
                  <a:extLst>
                    <a:ext uri="{FF2B5EF4-FFF2-40B4-BE49-F238E27FC236}">
                      <a16:creationId xmlns:a16="http://schemas.microsoft.com/office/drawing/2014/main" id="{C5979040-D996-0AA1-916F-E307D39AD425}"/>
                    </a:ext>
                  </a:extLst>
                </p:cNvPr>
                <p:cNvSpPr/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5" name="Freeform 16">
                  <a:extLst>
                    <a:ext uri="{FF2B5EF4-FFF2-40B4-BE49-F238E27FC236}">
                      <a16:creationId xmlns:a16="http://schemas.microsoft.com/office/drawing/2014/main" id="{2625A7E6-2F2D-7875-1E1B-7FF68EFFC9BF}"/>
                    </a:ext>
                  </a:extLst>
                </p:cNvPr>
                <p:cNvSpPr/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6" name="Freeform 17">
                  <a:extLst>
                    <a:ext uri="{FF2B5EF4-FFF2-40B4-BE49-F238E27FC236}">
                      <a16:creationId xmlns:a16="http://schemas.microsoft.com/office/drawing/2014/main" id="{D72A0A22-BD0E-0641-6424-C1B1743D3540}"/>
                    </a:ext>
                  </a:extLst>
                </p:cNvPr>
                <p:cNvSpPr/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7" name="Freeform 18">
                  <a:extLst>
                    <a:ext uri="{FF2B5EF4-FFF2-40B4-BE49-F238E27FC236}">
                      <a16:creationId xmlns:a16="http://schemas.microsoft.com/office/drawing/2014/main" id="{23E6344D-0DF6-50A9-CE04-1C825156AFE1}"/>
                    </a:ext>
                  </a:extLst>
                </p:cNvPr>
                <p:cNvSpPr/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8" name="Freeform 19">
                  <a:extLst>
                    <a:ext uri="{FF2B5EF4-FFF2-40B4-BE49-F238E27FC236}">
                      <a16:creationId xmlns:a16="http://schemas.microsoft.com/office/drawing/2014/main" id="{F55BDF03-CCD5-A7B3-2FD6-E9E9667F6132}"/>
                    </a:ext>
                  </a:extLst>
                </p:cNvPr>
                <p:cNvSpPr/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29" name="Freeform 20">
                  <a:extLst>
                    <a:ext uri="{FF2B5EF4-FFF2-40B4-BE49-F238E27FC236}">
                      <a16:creationId xmlns:a16="http://schemas.microsoft.com/office/drawing/2014/main" id="{6AFD7E96-7F8C-062D-FD55-48D7B97DA0BE}"/>
                    </a:ext>
                  </a:extLst>
                </p:cNvPr>
                <p:cNvSpPr/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  <p:sp>
              <p:nvSpPr>
                <p:cNvPr id="30" name="Freeform 21">
                  <a:extLst>
                    <a:ext uri="{FF2B5EF4-FFF2-40B4-BE49-F238E27FC236}">
                      <a16:creationId xmlns:a16="http://schemas.microsoft.com/office/drawing/2014/main" id="{65C5DE58-FF0A-F878-BB53-E004FA4A193A}"/>
                    </a:ext>
                  </a:extLst>
                </p:cNvPr>
                <p:cNvSpPr/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 extrusionOk="0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id-ID">
                    <a:latin typeface="Lato Light"/>
                  </a:endParaRPr>
                </a:p>
              </p:txBody>
            </p:sp>
          </p:grpSp>
          <p:sp>
            <p:nvSpPr>
              <p:cNvPr id="20" name="Freeform 25">
                <a:extLst>
                  <a:ext uri="{FF2B5EF4-FFF2-40B4-BE49-F238E27FC236}">
                    <a16:creationId xmlns:a16="http://schemas.microsoft.com/office/drawing/2014/main" id="{AA354CD4-37DB-5B8E-0357-A6E05CB487F0}"/>
                  </a:ext>
                </a:extLst>
              </p:cNvPr>
              <p:cNvSpPr/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 extrusionOk="0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  <p:sp>
            <p:nvSpPr>
              <p:cNvPr id="21" name="Oval 6">
                <a:extLst>
                  <a:ext uri="{FF2B5EF4-FFF2-40B4-BE49-F238E27FC236}">
                    <a16:creationId xmlns:a16="http://schemas.microsoft.com/office/drawing/2014/main" id="{48A4ACC4-102A-A65C-F5D3-7626E9663761}"/>
                  </a:ext>
                </a:extLst>
              </p:cNvPr>
              <p:cNvSpPr/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pPr>
                  <a:defRPr/>
                </a:pPr>
                <a:endParaRPr lang="id-ID">
                  <a:latin typeface="Lato Light"/>
                </a:endParaRPr>
              </a:p>
            </p:txBody>
          </p:sp>
        </p:grp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40083BF-E96D-DA41-323B-24A4A4CBE5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57437" y="1816301"/>
              <a:ext cx="7754636" cy="383079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11268687" name="Заголовок 5"/>
          <p:cNvSpPr>
            <a:spLocks noGrp="1"/>
          </p:cNvSpPr>
          <p:nvPr>
            <p:ph type="title"/>
          </p:nvPr>
        </p:nvSpPr>
        <p:spPr bwMode="auto">
          <a:xfrm>
            <a:off x="533490" y="370426"/>
            <a:ext cx="5562510" cy="442374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chemeClr val="accent5"/>
                </a:solidFill>
              </a:rPr>
              <a:t>КАЧЕСТВО РАСПОЗНАВАНИЯ И СКОРОСТЬ</a:t>
            </a:r>
            <a:endParaRPr lang="ru-RU" sz="2000" dirty="0">
              <a:solidFill>
                <a:schemeClr val="accent5"/>
              </a:solidFill>
            </a:endParaRPr>
          </a:p>
        </p:txBody>
      </p:sp>
      <p:sp>
        <p:nvSpPr>
          <p:cNvPr id="1484418242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521132" y="1695025"/>
            <a:ext cx="6903795" cy="712587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b="1" dirty="0">
                <a:solidFill>
                  <a:schemeClr val="accent1"/>
                </a:solidFill>
              </a:rPr>
              <a:t>mAP50 0,81 на тесте Лимы</a:t>
            </a:r>
            <a:endParaRPr lang="ru-RU" b="1" dirty="0">
              <a:solidFill>
                <a:schemeClr val="accent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Против 0,07 у zero-shot. 264 отложенных кадра, 4 945 рамок: самосвал, погрузчик, миксер, насос, кран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022034793" name="Текст 8"/>
          <p:cNvSpPr>
            <a:spLocks noGrp="1"/>
          </p:cNvSpPr>
          <p:nvPr>
            <p:ph type="body" sz="quarter" idx="16"/>
          </p:nvPr>
        </p:nvSpPr>
        <p:spPr bwMode="auto">
          <a:xfrm>
            <a:off x="521133" y="2552035"/>
            <a:ext cx="4902200" cy="712587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b="1" dirty="0" err="1">
                <a:solidFill>
                  <a:schemeClr val="accent1"/>
                </a:solidFill>
              </a:rPr>
              <a:t>Чужие объекты — честно</a:t>
            </a:r>
            <a:endParaRPr lang="ru-RU" b="1" dirty="0">
              <a:solidFill>
                <a:schemeClr val="accent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100 снимков организаторов, 600 машин: при рабочем пороге 83 верно и 18 ложных. Zero-shot — 59 верно и 521 ложная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31907780" name="Текст 9"/>
          <p:cNvSpPr>
            <a:spLocks noGrp="1"/>
          </p:cNvSpPr>
          <p:nvPr>
            <p:ph type="body" sz="quarter" idx="17"/>
          </p:nvPr>
        </p:nvSpPr>
        <p:spPr bwMode="auto">
          <a:xfrm>
            <a:off x="521133" y="3409044"/>
            <a:ext cx="4902200" cy="712587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b="1" dirty="0" err="1">
                <a:solidFill>
                  <a:schemeClr val="accent1"/>
                </a:solidFill>
              </a:rPr>
              <a:t>29 мс на снимок</a:t>
            </a:r>
            <a:endParaRPr lang="ru-RU" b="1" dirty="0">
              <a:solidFill>
                <a:schemeClr val="accent1"/>
              </a:solidFill>
            </a:endParaRPr>
          </a:p>
          <a:p>
            <a:pPr>
              <a:defRPr/>
            </a:pPr>
            <a:r>
              <a:rPr lang="en-US" dirty="0" err="1">
                <a:solidFill>
                  <a:schemeClr val="tx1"/>
                </a:solidFill>
              </a:rPr>
              <a:t>Медиана на RTX 3060 Laptop, p90 — 58 мс. Требование ТЗ — до 100 мс. Без GPU — около 1 с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43334351" name="Текст 10"/>
          <p:cNvSpPr>
            <a:spLocks noGrp="1"/>
          </p:cNvSpPr>
          <p:nvPr>
            <p:ph type="body" sz="quarter" idx="18"/>
          </p:nvPr>
        </p:nvSpPr>
        <p:spPr bwMode="auto">
          <a:xfrm>
            <a:off x="521133" y="4266053"/>
            <a:ext cx="4902200" cy="712587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b="1" dirty="0" err="1">
                <a:solidFill>
                  <a:schemeClr val="accent1"/>
                </a:solidFill>
              </a:rPr>
              <a:t>Снимок → анализ за ~1 с</a:t>
            </a:r>
            <a:endParaRPr lang="ru-RU" b="1" dirty="0">
              <a:solidFill>
                <a:schemeClr val="accent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После распознавания факт окна пересчитывается сразу. Стек поднимается одной командой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730022883" name="Текст 11"/>
          <p:cNvSpPr>
            <a:spLocks noGrp="1"/>
          </p:cNvSpPr>
          <p:nvPr>
            <p:ph type="body" sz="quarter" idx="19"/>
          </p:nvPr>
        </p:nvSpPr>
        <p:spPr bwMode="auto">
          <a:xfrm>
            <a:off x="521132" y="5123063"/>
            <a:ext cx="6080835" cy="71258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chemeClr val="accent1"/>
                </a:solidFill>
              </a:rPr>
              <a:t>Что не измерено</a:t>
            </a:r>
            <a:endParaRPr lang="ru-RU" b="1" dirty="0">
              <a:solidFill>
                <a:schemeClr val="accent1"/>
              </a:solidFill>
            </a:endParaRPr>
          </a:p>
          <a:p>
            <a:pPr>
              <a:defRPr/>
            </a:pPr>
            <a:r>
              <a:rPr lang="en-US" dirty="0" err="1">
                <a:solidFill>
                  <a:schemeClr val="tx1"/>
                </a:solidFill>
              </a:rPr>
              <a:t>Ночь, зима, стадия по фото. Узкое место — назвать машину, а не найти её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785097449" name="Номер слайда 2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441475" y="6356350"/>
            <a:ext cx="558800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7</a:t>
            </a:fld>
            <a:endParaRPr lang="ru-RU">
              <a:solidFill>
                <a:schemeClr val="accent5"/>
              </a:solidFill>
            </a:endParaRPr>
          </a:p>
        </p:txBody>
      </p:sp>
      <p:cxnSp>
        <p:nvCxnSpPr>
          <p:cNvPr id="941653181" name="Прямая соединительная линия 1"/>
          <p:cNvCxnSpPr/>
          <p:nvPr/>
        </p:nvCxnSpPr>
        <p:spPr bwMode="auto">
          <a:xfrm>
            <a:off x="521133" y="1604660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55020351" name="Прямая соединительная линия 3"/>
          <p:cNvCxnSpPr/>
          <p:nvPr/>
        </p:nvCxnSpPr>
        <p:spPr bwMode="auto">
          <a:xfrm>
            <a:off x="521133" y="246553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98580274" name="Прямая соединительная линия 12"/>
          <p:cNvCxnSpPr/>
          <p:nvPr/>
        </p:nvCxnSpPr>
        <p:spPr bwMode="auto">
          <a:xfrm>
            <a:off x="521133" y="334286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98046321" name="Прямая соединительная линия 13"/>
          <p:cNvCxnSpPr/>
          <p:nvPr/>
        </p:nvCxnSpPr>
        <p:spPr bwMode="auto">
          <a:xfrm>
            <a:off x="521133" y="418312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96696805" name="Прямая соединительная линия 14"/>
          <p:cNvCxnSpPr/>
          <p:nvPr/>
        </p:nvCxnSpPr>
        <p:spPr bwMode="auto">
          <a:xfrm>
            <a:off x="521133" y="5048098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3183568" name="Скругленный прямоугольник 7"/>
          <p:cNvSpPr/>
          <p:nvPr/>
        </p:nvSpPr>
        <p:spPr bwMode="auto"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295246643" name="Скругленный прямоугольник 9"/>
          <p:cNvSpPr/>
          <p:nvPr/>
        </p:nvSpPr>
        <p:spPr bwMode="auto"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566709802" name="Скругленный прямоугольник 10"/>
          <p:cNvSpPr/>
          <p:nvPr/>
        </p:nvSpPr>
        <p:spPr bwMode="auto"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3486554" name="Скругленный прямоугольник 1"/>
          <p:cNvSpPr/>
          <p:nvPr/>
        </p:nvSpPr>
        <p:spPr bwMode="auto">
          <a:xfrm>
            <a:off x="346074" y="324562"/>
            <a:ext cx="42750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9171090" name="Скругленный прямоугольник 16"/>
          <p:cNvSpPr/>
          <p:nvPr/>
        </p:nvSpPr>
        <p:spPr bwMode="auto">
          <a:xfrm>
            <a:off x="5340262" y="1366572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64567495" name="Скругленный прямоугольник 6"/>
          <p:cNvSpPr/>
          <p:nvPr/>
        </p:nvSpPr>
        <p:spPr bwMode="auto">
          <a:xfrm>
            <a:off x="1541018" y="1366572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828869434" name="Номер слайда 5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14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830935763" name="Текст 2"/>
          <p:cNvSpPr>
            <a:spLocks noGrp="1"/>
          </p:cNvSpPr>
          <p:nvPr>
            <p:ph type="body" sz="quarter" idx="26"/>
          </p:nvPr>
        </p:nvSpPr>
        <p:spPr bwMode="auto">
          <a:xfrm>
            <a:off x="627652" y="3547298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en-US" dirty="0" err="1">
                <a:solidFill>
                  <a:schemeClr val="tx1"/>
                </a:solidFill>
              </a:rPr>
              <a:t>Высота 10–15 м (мачта или башенный кран), вид на всё пятно застройки. Положение не меняется: зоны размечаются один раз на эталонном кадре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21543870" name="Текст 3"/>
          <p:cNvSpPr>
            <a:spLocks noGrp="1"/>
          </p:cNvSpPr>
          <p:nvPr>
            <p:ph type="body" sz="quarter" idx="31"/>
          </p:nvPr>
        </p:nvSpPr>
        <p:spPr bwMode="auto">
          <a:xfrm>
            <a:off x="4569889" y="3547297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en-US" dirty="0" err="1">
                <a:solidFill>
                  <a:schemeClr val="tx1"/>
                </a:solidFill>
              </a:rPr>
              <a:t>Отдельные камеры на въезде и выезде.</a:t>
            </a:r>
          </a:p>
          <a:p>
            <a:pPr>
              <a:defRPr/>
            </a:pPr>
            <a:r>
              <a:rPr lang="en-US" dirty="0" err="1">
                <a:solidFill>
                  <a:schemeClr val="tx1"/>
                </a:solidFill>
              </a:rPr>
              <a:t>Видят самосвалы и миксеры, которые на площадке недолго. Снимок раз в 20–30 минут, время — в EXIF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109396534" name="Текст 4"/>
          <p:cNvSpPr>
            <a:spLocks noGrp="1"/>
          </p:cNvSpPr>
          <p:nvPr>
            <p:ph type="body" sz="quarter" idx="32"/>
          </p:nvPr>
        </p:nvSpPr>
        <p:spPr bwMode="auto">
          <a:xfrm>
            <a:off x="8457248" y="354296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>
              <a:defRPr/>
            </a:pPr>
            <a:r>
              <a:rPr lang="en-US" dirty="0" err="1">
                <a:solidFill>
                  <a:schemeClr val="tx1"/>
                </a:solidFill>
              </a:rPr>
              <a:t>Видеть минимум двумя камерами.</a:t>
            </a:r>
            <a:endParaRPr lang="ru-RU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 err="1">
                <a:solidFill>
                  <a:schemeClr val="tx1"/>
                </a:solidFill>
              </a:rPr>
              <a:t>На демо склад видит только камера D3: когда она закрыта, система ставит D10 «участок вне контроля». Пятно застройки видят две камеры — контроль не теряется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400551615" name="Google Shape;2799;p94"/>
          <p:cNvCxnSpPr/>
          <p:nvPr/>
        </p:nvCxnSpPr>
        <p:spPr bwMode="auto"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3133576" name="Google Shape;2829;p94"/>
          <p:cNvGrpSpPr/>
          <p:nvPr/>
        </p:nvGrpSpPr>
        <p:grpSpPr bwMode="auto">
          <a:xfrm>
            <a:off x="1899087" y="1753233"/>
            <a:ext cx="738531" cy="687909"/>
            <a:chOff x="3385733" y="2233242"/>
            <a:chExt cx="340504" cy="319542"/>
          </a:xfrm>
        </p:grpSpPr>
        <p:sp>
          <p:nvSpPr>
            <p:cNvPr id="63" name="Google Shape;2830;p94"/>
            <p:cNvSpPr/>
            <p:nvPr/>
          </p:nvSpPr>
          <p:spPr bwMode="auto">
            <a:xfrm>
              <a:off x="3385733" y="2233242"/>
              <a:ext cx="340504" cy="319542"/>
            </a:xfrm>
            <a:custGeom>
              <a:avLst/>
              <a:gdLst/>
              <a:ahLst/>
              <a:cxnLst/>
              <a:rect l="l" t="t" r="r" b="b"/>
              <a:pathLst>
                <a:path w="10122" h="9289" extrusionOk="0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4" name="Google Shape;2831;p94"/>
            <p:cNvSpPr/>
            <p:nvPr/>
          </p:nvSpPr>
          <p:spPr bwMode="auto">
            <a:xfrm>
              <a:off x="3420988" y="2296022"/>
              <a:ext cx="143441" cy="113382"/>
            </a:xfrm>
            <a:custGeom>
              <a:avLst/>
              <a:gdLst/>
              <a:ahLst/>
              <a:cxnLst/>
              <a:rect l="l" t="t" r="r" b="b"/>
              <a:pathLst>
                <a:path w="4264" h="3296" extrusionOk="0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5" name="Google Shape;2832;p94"/>
            <p:cNvSpPr/>
            <p:nvPr/>
          </p:nvSpPr>
          <p:spPr bwMode="auto">
            <a:xfrm>
              <a:off x="3451433" y="2319276"/>
              <a:ext cx="9655" cy="13966"/>
            </a:xfrm>
            <a:custGeom>
              <a:avLst/>
              <a:gdLst/>
              <a:ahLst/>
              <a:cxnLst/>
              <a:rect l="l" t="t" r="r" b="b"/>
              <a:pathLst>
                <a:path w="287" h="406" extrusionOk="0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6" name="Google Shape;2833;p94"/>
            <p:cNvSpPr/>
            <p:nvPr/>
          </p:nvSpPr>
          <p:spPr bwMode="auto">
            <a:xfrm>
              <a:off x="3500312" y="2305344"/>
              <a:ext cx="10428" cy="13966"/>
            </a:xfrm>
            <a:custGeom>
              <a:avLst/>
              <a:gdLst/>
              <a:ahLst/>
              <a:cxnLst/>
              <a:rect l="l" t="t" r="r" b="b"/>
              <a:pathLst>
                <a:path w="310" h="40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7" name="Google Shape;2834;p94"/>
            <p:cNvSpPr/>
            <p:nvPr/>
          </p:nvSpPr>
          <p:spPr bwMode="auto">
            <a:xfrm>
              <a:off x="3546769" y="2275038"/>
              <a:ext cx="10462" cy="13966"/>
            </a:xfrm>
            <a:custGeom>
              <a:avLst/>
              <a:gdLst/>
              <a:ahLst/>
              <a:cxnLst/>
              <a:rect l="l" t="t" r="r" b="b"/>
              <a:pathLst>
                <a:path w="311" h="406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8" name="Google Shape;2835;p94"/>
            <p:cNvSpPr/>
            <p:nvPr/>
          </p:nvSpPr>
          <p:spPr bwMode="auto">
            <a:xfrm>
              <a:off x="3420988" y="2260280"/>
              <a:ext cx="27282" cy="9873"/>
            </a:xfrm>
            <a:custGeom>
              <a:avLst/>
              <a:gdLst/>
              <a:ahLst/>
              <a:cxnLst/>
              <a:rect l="l" t="t" r="r" b="b"/>
              <a:pathLst>
                <a:path w="811" h="287" extrusionOk="0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69" name="Google Shape;2836;p94"/>
            <p:cNvSpPr/>
            <p:nvPr/>
          </p:nvSpPr>
          <p:spPr bwMode="auto">
            <a:xfrm>
              <a:off x="3420988" y="2279131"/>
              <a:ext cx="47298" cy="10698"/>
            </a:xfrm>
            <a:custGeom>
              <a:avLst/>
              <a:gdLst/>
              <a:ahLst/>
              <a:cxnLst/>
              <a:rect l="l" t="t" r="r" b="b"/>
              <a:pathLst>
                <a:path w="1406" h="311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0" name="Google Shape;2837;p94"/>
            <p:cNvSpPr/>
            <p:nvPr/>
          </p:nvSpPr>
          <p:spPr bwMode="auto">
            <a:xfrm>
              <a:off x="3640490" y="2276689"/>
              <a:ext cx="31285" cy="54077"/>
            </a:xfrm>
            <a:custGeom>
              <a:avLst/>
              <a:gdLst/>
              <a:ahLst/>
              <a:cxnLst/>
              <a:rect l="l" t="t" r="r" b="b"/>
              <a:pathLst>
                <a:path w="930" h="1572" extrusionOk="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1" name="Google Shape;2838;p94"/>
            <p:cNvSpPr/>
            <p:nvPr/>
          </p:nvSpPr>
          <p:spPr bwMode="auto">
            <a:xfrm>
              <a:off x="3614049" y="2260280"/>
              <a:ext cx="84167" cy="86069"/>
            </a:xfrm>
            <a:custGeom>
              <a:avLst/>
              <a:gdLst/>
              <a:ahLst/>
              <a:cxnLst/>
              <a:rect l="l" t="t" r="r" b="b"/>
              <a:pathLst>
                <a:path w="2502" h="2502" extrusionOk="0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2" name="Google Shape;2839;p94"/>
            <p:cNvSpPr/>
            <p:nvPr/>
          </p:nvSpPr>
          <p:spPr bwMode="auto">
            <a:xfrm>
              <a:off x="3610046" y="2358595"/>
              <a:ext cx="45717" cy="10698"/>
            </a:xfrm>
            <a:custGeom>
              <a:avLst/>
              <a:gdLst/>
              <a:ahLst/>
              <a:cxnLst/>
              <a:rect l="l" t="t" r="r" b="b"/>
              <a:pathLst>
                <a:path w="1359" h="31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3" name="Google Shape;2840;p94"/>
            <p:cNvSpPr/>
            <p:nvPr/>
          </p:nvSpPr>
          <p:spPr bwMode="auto">
            <a:xfrm>
              <a:off x="3671742" y="2379063"/>
              <a:ext cx="25667" cy="9873"/>
            </a:xfrm>
            <a:custGeom>
              <a:avLst/>
              <a:gdLst/>
              <a:ahLst/>
              <a:cxnLst/>
              <a:rect l="l" t="t" r="r" b="b"/>
              <a:pathLst>
                <a:path w="763" h="287" extrusionOk="0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4" name="Google Shape;2841;p94"/>
            <p:cNvSpPr/>
            <p:nvPr/>
          </p:nvSpPr>
          <p:spPr bwMode="auto">
            <a:xfrm>
              <a:off x="3610046" y="2379063"/>
              <a:ext cx="28897" cy="9873"/>
            </a:xfrm>
            <a:custGeom>
              <a:avLst/>
              <a:gdLst/>
              <a:ahLst/>
              <a:cxnLst/>
              <a:rect l="l" t="t" r="r" b="b"/>
              <a:pathLst>
                <a:path w="859" h="287" extrusionOk="0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5" name="Google Shape;2842;p94"/>
            <p:cNvSpPr/>
            <p:nvPr/>
          </p:nvSpPr>
          <p:spPr bwMode="auto">
            <a:xfrm>
              <a:off x="3646108" y="2379063"/>
              <a:ext cx="19275" cy="9873"/>
            </a:xfrm>
            <a:custGeom>
              <a:avLst/>
              <a:gdLst/>
              <a:ahLst/>
              <a:cxnLst/>
              <a:rect l="l" t="t" r="r" b="b"/>
              <a:pathLst>
                <a:path w="573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76" name="Google Shape;2843;p94"/>
            <p:cNvSpPr/>
            <p:nvPr/>
          </p:nvSpPr>
          <p:spPr bwMode="auto">
            <a:xfrm>
              <a:off x="3610046" y="2398740"/>
              <a:ext cx="86556" cy="10664"/>
            </a:xfrm>
            <a:custGeom>
              <a:avLst/>
              <a:gdLst/>
              <a:ahLst/>
              <a:cxnLst/>
              <a:rect l="l" t="t" r="r" b="b"/>
              <a:pathLst>
                <a:path w="2573" h="310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grpSp>
        <p:nvGrpSpPr>
          <p:cNvPr id="1749588672" name="Google Shape;2818;p94"/>
          <p:cNvGrpSpPr/>
          <p:nvPr/>
        </p:nvGrpSpPr>
        <p:grpSpPr bwMode="auto"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84" name="Google Shape;2819;p94"/>
            <p:cNvSpPr/>
            <p:nvPr/>
          </p:nvSpPr>
          <p:spPr bwMode="auto">
            <a:xfrm>
              <a:off x="4267775" y="2311674"/>
              <a:ext cx="17661" cy="13382"/>
            </a:xfrm>
            <a:custGeom>
              <a:avLst/>
              <a:gdLst/>
              <a:ahLst/>
              <a:cxnLst/>
              <a:rect l="l" t="t" r="r" b="b"/>
              <a:pathLst>
                <a:path w="525" h="389" extrusionOk="0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5" name="Google Shape;2820;p94"/>
            <p:cNvSpPr/>
            <p:nvPr/>
          </p:nvSpPr>
          <p:spPr bwMode="auto">
            <a:xfrm>
              <a:off x="4257347" y="2292719"/>
              <a:ext cx="16080" cy="15927"/>
            </a:xfrm>
            <a:custGeom>
              <a:avLst/>
              <a:gdLst/>
              <a:ahLst/>
              <a:cxnLst/>
              <a:rect l="l" t="t" r="r" b="b"/>
              <a:pathLst>
                <a:path w="478" h="463" extrusionOk="0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6" name="Google Shape;2821;p94"/>
            <p:cNvSpPr/>
            <p:nvPr/>
          </p:nvSpPr>
          <p:spPr bwMode="auto">
            <a:xfrm>
              <a:off x="4271778" y="2333208"/>
              <a:ext cx="17661" cy="11490"/>
            </a:xfrm>
            <a:custGeom>
              <a:avLst/>
              <a:gdLst/>
              <a:ahLst/>
              <a:cxnLst/>
              <a:rect l="l" t="t" r="r" b="b"/>
              <a:pathLst>
                <a:path w="525" h="334" extrusionOk="0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7" name="Google Shape;2822;p94"/>
            <p:cNvSpPr/>
            <p:nvPr/>
          </p:nvSpPr>
          <p:spPr bwMode="auto">
            <a:xfrm>
              <a:off x="4078718" y="2222819"/>
              <a:ext cx="340504" cy="339803"/>
            </a:xfrm>
            <a:custGeom>
              <a:avLst/>
              <a:gdLst/>
              <a:ahLst/>
              <a:cxnLst/>
              <a:rect l="l" t="t" r="r" b="b"/>
              <a:pathLst>
                <a:path w="10122" h="9878" extrusionOk="0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8" name="Google Shape;2823;p94"/>
            <p:cNvSpPr/>
            <p:nvPr/>
          </p:nvSpPr>
          <p:spPr bwMode="auto">
            <a:xfrm>
              <a:off x="4123561" y="2296744"/>
              <a:ext cx="170689" cy="161818"/>
            </a:xfrm>
            <a:custGeom>
              <a:avLst/>
              <a:gdLst/>
              <a:ahLst/>
              <a:cxnLst/>
              <a:rect l="l" t="t" r="r" b="b"/>
              <a:pathLst>
                <a:path w="5074" h="4704" extrusionOk="0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89" name="Google Shape;2824;p94"/>
            <p:cNvSpPr/>
            <p:nvPr/>
          </p:nvSpPr>
          <p:spPr bwMode="auto">
            <a:xfrm>
              <a:off x="4130793" y="2276448"/>
              <a:ext cx="47298" cy="25662"/>
            </a:xfrm>
            <a:custGeom>
              <a:avLst/>
              <a:gdLst/>
              <a:ahLst/>
              <a:cxnLst/>
              <a:rect l="l" t="t" r="r" b="b"/>
              <a:pathLst>
                <a:path w="1406" h="746" extrusionOk="0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0" name="Google Shape;2825;p94"/>
            <p:cNvSpPr/>
            <p:nvPr/>
          </p:nvSpPr>
          <p:spPr bwMode="auto">
            <a:xfrm>
              <a:off x="4137992" y="2301423"/>
              <a:ext cx="25667" cy="16237"/>
            </a:xfrm>
            <a:custGeom>
              <a:avLst/>
              <a:gdLst/>
              <a:ahLst/>
              <a:cxnLst/>
              <a:rect l="l" t="t" r="r" b="b"/>
              <a:pathLst>
                <a:path w="763" h="472" extrusionOk="0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1" name="Google Shape;2826;p94"/>
            <p:cNvSpPr/>
            <p:nvPr/>
          </p:nvSpPr>
          <p:spPr bwMode="auto">
            <a:xfrm>
              <a:off x="4161237" y="2507685"/>
              <a:ext cx="35288" cy="9873"/>
            </a:xfrm>
            <a:custGeom>
              <a:avLst/>
              <a:gdLst/>
              <a:ahLst/>
              <a:cxnLst/>
              <a:rect l="l" t="t" r="r" b="b"/>
              <a:pathLst>
                <a:path w="1049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2" name="Google Shape;2827;p94"/>
            <p:cNvSpPr/>
            <p:nvPr/>
          </p:nvSpPr>
          <p:spPr bwMode="auto">
            <a:xfrm>
              <a:off x="4161237" y="2525711"/>
              <a:ext cx="81745" cy="10698"/>
            </a:xfrm>
            <a:custGeom>
              <a:avLst/>
              <a:gdLst/>
              <a:ahLst/>
              <a:cxnLst/>
              <a:rect l="l" t="t" r="r" b="b"/>
              <a:pathLst>
                <a:path w="2430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grpSp>
        <p:nvGrpSpPr>
          <p:cNvPr id="1197120625" name="Google Shape;2805;p94"/>
          <p:cNvGrpSpPr/>
          <p:nvPr/>
        </p:nvGrpSpPr>
        <p:grpSpPr bwMode="auto"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98" name="Google Shape;2806;p94"/>
            <p:cNvSpPr/>
            <p:nvPr/>
          </p:nvSpPr>
          <p:spPr bwMode="auto">
            <a:xfrm>
              <a:off x="4754041" y="2231625"/>
              <a:ext cx="340538" cy="322810"/>
            </a:xfrm>
            <a:custGeom>
              <a:avLst/>
              <a:gdLst/>
              <a:ahLst/>
              <a:cxnLst/>
              <a:rect l="l" t="t" r="r" b="b"/>
              <a:pathLst>
                <a:path w="10123" h="9384" extrusionOk="0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99" name="Google Shape;2807;p94"/>
            <p:cNvSpPr/>
            <p:nvPr/>
          </p:nvSpPr>
          <p:spPr bwMode="auto">
            <a:xfrm>
              <a:off x="5011219" y="2437234"/>
              <a:ext cx="45683" cy="9873"/>
            </a:xfrm>
            <a:custGeom>
              <a:avLst/>
              <a:gdLst/>
              <a:ahLst/>
              <a:cxnLst/>
              <a:rect l="l" t="t" r="r" b="b"/>
              <a:pathLst>
                <a:path w="1358" h="287" extrusionOk="0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0" name="Google Shape;2808;p94"/>
            <p:cNvSpPr/>
            <p:nvPr/>
          </p:nvSpPr>
          <p:spPr bwMode="auto">
            <a:xfrm>
              <a:off x="4976772" y="2455259"/>
              <a:ext cx="80130" cy="10698"/>
            </a:xfrm>
            <a:custGeom>
              <a:avLst/>
              <a:gdLst/>
              <a:ahLst/>
              <a:cxnLst/>
              <a:rect l="l" t="t" r="r" b="b"/>
              <a:pathLst>
                <a:path w="2382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1" name="Google Shape;2809;p94"/>
            <p:cNvSpPr/>
            <p:nvPr/>
          </p:nvSpPr>
          <p:spPr bwMode="auto">
            <a:xfrm>
              <a:off x="4976772" y="2302902"/>
              <a:ext cx="16854" cy="10664"/>
            </a:xfrm>
            <a:custGeom>
              <a:avLst/>
              <a:gdLst/>
              <a:ahLst/>
              <a:cxnLst/>
              <a:rect l="l" t="t" r="r" b="b"/>
              <a:pathLst>
                <a:path w="501" h="310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2" name="Google Shape;2810;p94"/>
            <p:cNvSpPr/>
            <p:nvPr/>
          </p:nvSpPr>
          <p:spPr bwMode="auto">
            <a:xfrm>
              <a:off x="5001598" y="2302902"/>
              <a:ext cx="55304" cy="10664"/>
            </a:xfrm>
            <a:custGeom>
              <a:avLst/>
              <a:gdLst/>
              <a:ahLst/>
              <a:cxnLst/>
              <a:rect l="l" t="t" r="r" b="b"/>
              <a:pathLst>
                <a:path w="1644" h="310" extrusionOk="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3" name="Google Shape;2811;p94"/>
            <p:cNvSpPr/>
            <p:nvPr/>
          </p:nvSpPr>
          <p:spPr bwMode="auto">
            <a:xfrm>
              <a:off x="4976772" y="2321719"/>
              <a:ext cx="80130" cy="9873"/>
            </a:xfrm>
            <a:custGeom>
              <a:avLst/>
              <a:gdLst/>
              <a:ahLst/>
              <a:cxnLst/>
              <a:rect l="l" t="t" r="r" b="b"/>
              <a:pathLst>
                <a:path w="2382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4" name="Google Shape;2812;p94"/>
            <p:cNvSpPr/>
            <p:nvPr/>
          </p:nvSpPr>
          <p:spPr bwMode="auto">
            <a:xfrm>
              <a:off x="4976772" y="2352025"/>
              <a:ext cx="80130" cy="65601"/>
            </a:xfrm>
            <a:custGeom>
              <a:avLst/>
              <a:gdLst/>
              <a:ahLst/>
              <a:cxnLst/>
              <a:rect l="l" t="t" r="r" b="b"/>
              <a:pathLst>
                <a:path w="2382" h="1907" extrusionOk="0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5" name="Google Shape;2813;p94"/>
            <p:cNvSpPr/>
            <p:nvPr/>
          </p:nvSpPr>
          <p:spPr bwMode="auto">
            <a:xfrm>
              <a:off x="4789296" y="2294680"/>
              <a:ext cx="168266" cy="172068"/>
            </a:xfrm>
            <a:custGeom>
              <a:avLst/>
              <a:gdLst/>
              <a:ahLst/>
              <a:cxnLst/>
              <a:rect l="l" t="t" r="r" b="b"/>
              <a:pathLst>
                <a:path w="5002" h="5002" extrusionOk="0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6" name="Google Shape;2814;p94"/>
            <p:cNvSpPr/>
            <p:nvPr/>
          </p:nvSpPr>
          <p:spPr bwMode="auto">
            <a:xfrm>
              <a:off x="4794107" y="2453402"/>
              <a:ext cx="24086" cy="17475"/>
            </a:xfrm>
            <a:custGeom>
              <a:avLst/>
              <a:gdLst/>
              <a:ahLst/>
              <a:cxnLst/>
              <a:rect l="l" t="t" r="r" b="b"/>
              <a:pathLst>
                <a:path w="716" h="508" extrusionOk="0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7" name="Google Shape;2815;p94"/>
            <p:cNvSpPr/>
            <p:nvPr/>
          </p:nvSpPr>
          <p:spPr bwMode="auto">
            <a:xfrm>
              <a:off x="4883051" y="2382744"/>
              <a:ext cx="24052" cy="16856"/>
            </a:xfrm>
            <a:custGeom>
              <a:avLst/>
              <a:gdLst/>
              <a:ahLst/>
              <a:cxnLst/>
              <a:rect l="l" t="t" r="r" b="b"/>
              <a:pathLst>
                <a:path w="715" h="490" extrusionOk="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  <p:sp>
          <p:nvSpPr>
            <p:cNvPr id="108" name="Google Shape;2816;p94"/>
            <p:cNvSpPr/>
            <p:nvPr/>
          </p:nvSpPr>
          <p:spPr bwMode="auto">
            <a:xfrm>
              <a:off x="4935899" y="2304106"/>
              <a:ext cx="24086" cy="16856"/>
            </a:xfrm>
            <a:custGeom>
              <a:avLst/>
              <a:gdLst/>
              <a:ahLst/>
              <a:cxnLst/>
              <a:rect l="l" t="t" r="r" b="b"/>
              <a:pathLst>
                <a:path w="716" h="490" extrusionOk="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400"/>
            </a:p>
          </p:txBody>
        </p:sp>
      </p:grpSp>
      <p:sp>
        <p:nvSpPr>
          <p:cNvPr id="1221184223" name="Скругленный прямоугольник 17"/>
          <p:cNvSpPr/>
          <p:nvPr/>
        </p:nvSpPr>
        <p:spPr bwMode="auto">
          <a:xfrm>
            <a:off x="9337010" y="1396603"/>
            <a:ext cx="1504594" cy="1401168"/>
          </a:xfrm>
          <a:prstGeom prst="roundRect">
            <a:avLst>
              <a:gd name="adj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957439397" name="Заголовок 13"/>
          <p:cNvSpPr>
            <a:spLocks noGrp="1"/>
          </p:cNvSpPr>
          <p:nvPr>
            <p:ph type="title"/>
          </p:nvPr>
        </p:nvSpPr>
        <p:spPr bwMode="auto">
          <a:xfrm>
            <a:off x="526074" y="421226"/>
            <a:ext cx="3975000" cy="376138"/>
          </a:xfrm>
        </p:spPr>
        <p:txBody>
          <a:bodyPr/>
          <a:lstStyle/>
          <a:p>
            <a:pPr>
              <a:defRPr/>
            </a:pPr>
            <a:r>
              <a:rPr lang="ru-RU" dirty="0"/>
              <a:t>УСТАНОВКА КАМЕР</a:t>
            </a:r>
          </a:p>
        </p:txBody>
      </p:sp>
      <p:cxnSp>
        <p:nvCxnSpPr>
          <p:cNvPr id="1633715086" name="Google Shape;2799;p94"/>
          <p:cNvCxnSpPr/>
          <p:nvPr/>
        </p:nvCxnSpPr>
        <p:spPr bwMode="auto"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FE889A6-2C88-5A32-656F-113401E60107}"/>
              </a:ext>
            </a:extLst>
          </p:cNvPr>
          <p:cNvSpPr txBox="1"/>
          <p:nvPr/>
        </p:nvSpPr>
        <p:spPr>
          <a:xfrm>
            <a:off x="718113" y="3052913"/>
            <a:ext cx="33000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600" b="1" i="0" dirty="0" err="1">
                <a:solidFill>
                  <a:schemeClr val="tx1"/>
                </a:solidFill>
                <a:effectLst/>
                <a:latin typeface="+mn-lt"/>
              </a:rPr>
              <a:t>Обзорные</a:t>
            </a:r>
            <a:r>
              <a:rPr lang="en-US" sz="1600" b="1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600" b="1" i="0" dirty="0" err="1">
                <a:solidFill>
                  <a:schemeClr val="tx1"/>
                </a:solidFill>
                <a:effectLst/>
                <a:latin typeface="+mn-lt"/>
              </a:rPr>
              <a:t>камеры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42779B-DA2A-2EE7-57B7-AC4B3F503E14}"/>
              </a:ext>
            </a:extLst>
          </p:cNvPr>
          <p:cNvSpPr txBox="1"/>
          <p:nvPr/>
        </p:nvSpPr>
        <p:spPr>
          <a:xfrm>
            <a:off x="4498375" y="3052913"/>
            <a:ext cx="33000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b="1" dirty="0" err="1" sz="1600"/>
              <a:t>Въезд</a:t>
            </a:r>
            <a:r>
              <a:rPr lang="en-US" b="1" dirty="0" sz="1600"/>
              <a:t> и </a:t>
            </a:r>
            <a:r>
              <a:rPr lang="en-US" b="1" dirty="0" err="1" sz="1600"/>
              <a:t>выезд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D7FEFC-520C-69D9-473F-CFB4BBCCF03A}"/>
              </a:ext>
            </a:extLst>
          </p:cNvPr>
          <p:cNvSpPr txBox="1"/>
          <p:nvPr/>
        </p:nvSpPr>
        <p:spPr>
          <a:xfrm>
            <a:off x="8548747" y="3043449"/>
            <a:ext cx="33000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b="1" dirty="0" err="1" sz="1600"/>
              <a:t>Критичный</a:t>
            </a:r>
            <a:r>
              <a:rPr lang="en-US" b="1" dirty="0" sz="1600"/>
              <a:t> </a:t>
            </a:r>
            <a:r>
              <a:rPr lang="en-US" b="1" dirty="0" err="1" sz="1600"/>
              <a:t>участок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2862613" name="Скругленный прямоугольник 1"/>
          <p:cNvSpPr/>
          <p:nvPr/>
        </p:nvSpPr>
        <p:spPr bwMode="auto">
          <a:xfrm>
            <a:off x="346074" y="324562"/>
            <a:ext cx="504000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982014152" name="Скругленный прямоугольник 16"/>
          <p:cNvSpPr/>
          <p:nvPr/>
        </p:nvSpPr>
        <p:spPr bwMode="auto"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91388613" name="Скругленный прямоугольник 17"/>
          <p:cNvSpPr/>
          <p:nvPr/>
        </p:nvSpPr>
        <p:spPr bwMode="auto"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633510201" name="Скругленный прямоугольник 18"/>
          <p:cNvSpPr/>
          <p:nvPr/>
        </p:nvSpPr>
        <p:spPr bwMode="auto"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2421930" name="Скругленный прямоугольник 22"/>
          <p:cNvSpPr/>
          <p:nvPr/>
        </p:nvSpPr>
        <p:spPr bwMode="auto"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666391307" name="Скругленный прямоугольник 23"/>
          <p:cNvSpPr/>
          <p:nvPr/>
        </p:nvSpPr>
        <p:spPr bwMode="auto"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871517961" name="Скругленный прямоугольник 14"/>
          <p:cNvSpPr/>
          <p:nvPr/>
        </p:nvSpPr>
        <p:spPr bwMode="auto">
          <a:xfrm>
            <a:off x="346076" y="1366423"/>
            <a:ext cx="5389562" cy="4834351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2068307345" name="Текст 3"/>
          <p:cNvSpPr>
            <a:spLocks noGrp="1"/>
          </p:cNvSpPr>
          <p:nvPr>
            <p:ph type="body" sz="quarter" idx="14"/>
          </p:nvPr>
        </p:nvSpPr>
        <p:spPr bwMode="auto">
          <a:xfrm>
            <a:off x="623887" y="1732103"/>
            <a:ext cx="4734174" cy="4139307"/>
          </a:xfrm>
          <a:prstGeom prst="rect">
            <a:avLst/>
          </a:prstGeom>
          <a:noFill/>
          <a:ln>
            <a:noFill/>
          </a:ln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ru-RU" sz="3600" dirty="0">
                <a:solidFill>
                  <a:schemeClr val="tx1"/>
                </a:solidFill>
              </a:rPr>
              <a:t>Архитектура готова к горизонтальному росту и подключению к инфраструктуре заказчика без правок кода сервисов</a:t>
            </a:r>
          </a:p>
        </p:txBody>
      </p:sp>
      <p:sp>
        <p:nvSpPr>
          <p:cNvPr id="90602484" name="Текст 4"/>
          <p:cNvSpPr>
            <a:spLocks noGrp="1"/>
          </p:cNvSpPr>
          <p:nvPr>
            <p:ph type="body" sz="quarter" idx="15"/>
          </p:nvPr>
        </p:nvSpPr>
        <p:spPr bwMode="auto">
          <a:xfrm>
            <a:off x="6172730" y="1445505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 sz="1500" dirty="0" err="1">
                <a:solidFill>
                  <a:schemeClr val="tx1"/>
                </a:solidFill>
              </a:rPr>
              <a:t>Много объектов — уже сейчас: объекты, камеры и графики — строки в базе. Воркеры распознавания масштабируются копиями (--scale site-worker=N)</a:t>
            </a: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2102025926" name="Текст 5"/>
          <p:cNvSpPr>
            <a:spLocks noGrp="1"/>
          </p:cNvSpPr>
          <p:nvPr>
            <p:ph type="body" sz="quarter" idx="16"/>
          </p:nvPr>
        </p:nvSpPr>
        <p:spPr bwMode="auto">
          <a:xfrm>
            <a:off x="6172730" y="247287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 sz="1500" dirty="0" err="1">
                <a:solidFill>
                  <a:schemeClr val="tx1"/>
                </a:solidFill>
              </a:rPr>
              <a:t>Гибрид: дообученный детектор + YOLOE + CLIP по вырезкам. Проверен офлайн: 112 найденных машин против 81 при том же числе ложных, 106 мс на снимок</a:t>
            </a: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1984634015" name="Текст 6"/>
          <p:cNvSpPr>
            <a:spLocks noGrp="1"/>
          </p:cNvSpPr>
          <p:nvPr>
            <p:ph type="body" sz="quarter" idx="17"/>
          </p:nvPr>
        </p:nvSpPr>
        <p:spPr bwMode="auto">
          <a:xfrm>
            <a:off x="6172730" y="348592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US" sz="1500" dirty="0" err="1">
                <a:solidFill>
                  <a:schemeClr val="tx1"/>
                </a:solidFill>
              </a:rPr>
              <a:t>Методика: техника, которая работает стоя (кран, насос), вне размеченных участков — чтобы не было ложного простоя D4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1065989968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6172730" y="4496593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>
              <a:defRPr/>
            </a:pPr>
            <a:r>
              <a:rPr lang="en-US" sz="1500" dirty="0" err="1">
                <a:solidFill>
                  <a:schemeClr val="tx1"/>
                </a:solidFill>
              </a:rPr>
              <a:t>Не</a:t>
            </a:r>
            <a:r>
              <a:rPr lang="en-US" sz="1500" dirty="0">
                <a:solidFill>
                  <a:schemeClr val="tx1"/>
                </a:solidFill>
              </a:rPr>
              <a:t> </a:t>
            </a:r>
            <a:r>
              <a:rPr lang="en-US" sz="1500" dirty="0" err="1">
                <a:solidFill>
                  <a:schemeClr val="tx1"/>
                </a:solidFill>
              </a:rPr>
              <a:t>только</a:t>
            </a:r>
            <a:r>
              <a:rPr lang="en-US" sz="1500" dirty="0">
                <a:solidFill>
                  <a:schemeClr val="tx1"/>
                </a:solidFill>
              </a:rPr>
              <a:t> </a:t>
            </a:r>
            <a:r>
              <a:rPr lang="en-US" sz="1500" dirty="0" err="1">
                <a:solidFill>
                  <a:schemeClr val="tx1"/>
                </a:solidFill>
              </a:rPr>
              <a:t>стройплощадки</a:t>
            </a:r>
            <a:r>
              <a:rPr lang="en-US" sz="1500" dirty="0">
                <a:solidFill>
                  <a:schemeClr val="tx1"/>
                </a:solidFill>
              </a:rPr>
              <a:t>: </a:t>
            </a:r>
            <a:r>
              <a:rPr lang="en-US" sz="1500" dirty="0" err="1">
                <a:solidFill>
                  <a:schemeClr val="tx1"/>
                </a:solidFill>
              </a:rPr>
              <a:t>логистические</a:t>
            </a:r>
            <a:r>
              <a:rPr lang="en-US" sz="1500" dirty="0">
                <a:solidFill>
                  <a:schemeClr val="tx1"/>
                </a:solidFill>
              </a:rPr>
              <a:t> </a:t>
            </a:r>
            <a:r>
              <a:rPr lang="en-US" sz="1500" dirty="0" err="1">
                <a:solidFill>
                  <a:schemeClr val="tx1"/>
                </a:solidFill>
              </a:rPr>
              <a:t>хабы</a:t>
            </a:r>
            <a:r>
              <a:rPr lang="en-US" sz="1500" dirty="0">
                <a:solidFill>
                  <a:schemeClr val="tx1"/>
                </a:solidFill>
              </a:rPr>
              <a:t>, </a:t>
            </a:r>
            <a:r>
              <a:rPr lang="en-US" sz="1500" dirty="0" err="1">
                <a:solidFill>
                  <a:schemeClr val="tx1"/>
                </a:solidFill>
              </a:rPr>
              <a:t>портовые</a:t>
            </a:r>
            <a:r>
              <a:rPr lang="en-US" sz="1500" dirty="0">
                <a:solidFill>
                  <a:schemeClr val="tx1"/>
                </a:solidFill>
              </a:rPr>
              <a:t> </a:t>
            </a:r>
            <a:r>
              <a:rPr lang="en-US" sz="1500" dirty="0" err="1">
                <a:solidFill>
                  <a:schemeClr val="tx1"/>
                </a:solidFill>
              </a:rPr>
              <a:t>терминалы</a:t>
            </a:r>
            <a:r>
              <a:rPr lang="en-US" sz="1500" dirty="0">
                <a:solidFill>
                  <a:schemeClr val="tx1"/>
                </a:solidFill>
              </a:rPr>
              <a:t>, </a:t>
            </a:r>
            <a:r>
              <a:rPr lang="en-US" sz="1500" dirty="0" err="1">
                <a:solidFill>
                  <a:schemeClr val="tx1"/>
                </a:solidFill>
              </a:rPr>
              <a:t>карьеры</a:t>
            </a:r>
            <a:r>
              <a:rPr lang="en-US" sz="1500" dirty="0">
                <a:solidFill>
                  <a:schemeClr val="tx1"/>
                </a:solidFill>
              </a:rPr>
              <a:t>. </a:t>
            </a:r>
            <a:r>
              <a:rPr lang="en-US" sz="1500" dirty="0" err="1">
                <a:solidFill>
                  <a:schemeClr val="tx1"/>
                </a:solidFill>
              </a:rPr>
              <a:t>Та</a:t>
            </a:r>
            <a:r>
              <a:rPr lang="en-US" sz="1500" dirty="0">
                <a:solidFill>
                  <a:schemeClr val="tx1"/>
                </a:solidFill>
              </a:rPr>
              <a:t> </a:t>
            </a:r>
            <a:r>
              <a:rPr lang="en-US" sz="1500" dirty="0" err="1">
                <a:solidFill>
                  <a:schemeClr val="tx1"/>
                </a:solidFill>
              </a:rPr>
              <a:t>же</a:t>
            </a:r>
            <a:r>
              <a:rPr lang="en-US" sz="1500" dirty="0">
                <a:solidFill>
                  <a:schemeClr val="tx1"/>
                </a:solidFill>
              </a:rPr>
              <a:t> </a:t>
            </a:r>
            <a:r>
              <a:rPr lang="en-US" sz="1500" dirty="0" err="1">
                <a:solidFill>
                  <a:schemeClr val="tx1"/>
                </a:solidFill>
              </a:rPr>
              <a:t>методика</a:t>
            </a:r>
            <a:r>
              <a:rPr lang="en-US" sz="1500" dirty="0">
                <a:solidFill>
                  <a:schemeClr val="tx1"/>
                </a:solidFill>
              </a:rPr>
              <a:t> </a:t>
            </a:r>
            <a:r>
              <a:rPr lang="en-US" sz="1500" dirty="0" err="1">
                <a:solidFill>
                  <a:schemeClr val="tx1"/>
                </a:solidFill>
              </a:rPr>
              <a:t>сессий</a:t>
            </a:r>
            <a:r>
              <a:rPr lang="en-US" sz="1500" dirty="0">
                <a:solidFill>
                  <a:schemeClr val="tx1"/>
                </a:solidFill>
              </a:rPr>
              <a:t> и </a:t>
            </a:r>
            <a:r>
              <a:rPr lang="en-US" sz="1500" dirty="0" err="1">
                <a:solidFill>
                  <a:schemeClr val="tx1"/>
                </a:solidFill>
              </a:rPr>
              <a:t>отклонений</a:t>
            </a:r>
            <a:endParaRPr lang="ru-RU" sz="1300" dirty="0">
              <a:solidFill>
                <a:schemeClr val="tx1"/>
              </a:solidFill>
            </a:endParaRPr>
          </a:p>
        </p:txBody>
      </p:sp>
      <p:sp>
        <p:nvSpPr>
          <p:cNvPr id="1908450424" name="Текст 8"/>
          <p:cNvSpPr>
            <a:spLocks noGrp="1"/>
          </p:cNvSpPr>
          <p:nvPr>
            <p:ph type="body" sz="quarter" idx="19"/>
          </p:nvPr>
        </p:nvSpPr>
        <p:spPr bwMode="auto">
          <a:xfrm>
            <a:off x="6172730" y="5516924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 sz="1500" dirty="0" err="1">
                <a:solidFill>
                  <a:schemeClr val="tx1"/>
                </a:solidFill>
              </a:rPr>
              <a:t>Разметка кадров своей площадки заказчика: на Лиме такое дообучение подняло mAP50 с 0,07 до 0,81</a:t>
            </a: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1065763849" name="Номер слайда 9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633200" y="6356350"/>
            <a:ext cx="558800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15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290914196" name="Заголовок 13"/>
          <p:cNvSpPr>
            <a:spLocks noGrp="1"/>
          </p:cNvSpPr>
          <p:nvPr>
            <p:ph type="title"/>
          </p:nvPr>
        </p:nvSpPr>
        <p:spPr bwMode="auto">
          <a:xfrm>
            <a:off x="526074" y="421226"/>
            <a:ext cx="4740000" cy="376138"/>
          </a:xfrm>
        </p:spPr>
        <p:txBody>
          <a:bodyPr/>
          <a:lstStyle/>
          <a:p>
            <a:pPr>
              <a:defRPr/>
            </a:pPr>
            <a:r>
              <a:rPr lang="ru-RU" dirty="0"/>
              <a:t>МАСШТАБ И РАЗВИТИЕ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</TotalTime>
  <Words>1312</Words>
  <Application>Microsoft Office PowerPoint</Application>
  <PresentationFormat>Widescreen</PresentationFormat>
  <Paragraphs>169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Lato Light</vt:lpstr>
      <vt:lpstr>Montserrat</vt:lpstr>
      <vt:lpstr>Wingdings</vt:lpstr>
      <vt:lpstr>Для Академия инноваторов 16_9</vt:lpstr>
      <vt:lpstr>КВОРУМ</vt:lpstr>
      <vt:lpstr>КОМАНДА «КВОРУМ»</vt:lpstr>
      <vt:lpstr>КОМАНДА «КВОРУМ»</vt:lpstr>
      <vt:lpstr>КОМАНДА «КВОРУМ»</vt:lpstr>
      <vt:lpstr>КОРОТКО О РЕШЕНИИ</vt:lpstr>
      <vt:lpstr>АРХИТЕКТУРА РЕШЕНИЯ</vt:lpstr>
      <vt:lpstr>ОБОСНОВАНИЕ ВЫБОРА ТЕХНОЛОГИЙ</vt:lpstr>
      <vt:lpstr>СВЯЗЬ СНИМКОВ С ГРАФИКОМ</vt:lpstr>
      <vt:lpstr>СТРУКТУРА ПРОТОТИПА</vt:lpstr>
      <vt:lpstr>ПРОТОТИП</vt:lpstr>
      <vt:lpstr>ЭТАП → ТЕХНИКА</vt:lpstr>
      <vt:lpstr>ЛЕНТА ПРЕДУПРЕЖДЕНИЙ</vt:lpstr>
      <vt:lpstr>ГАНТ И ПРОГНОЗ</vt:lpstr>
      <vt:lpstr>РЕКОМЕНДАЦИИ ПО УСТАНОВКЕ КАМЕР</vt:lpstr>
      <vt:lpstr>МАСШТАБИРОВАНИЕ И РАЗВИТИЕ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Infuy</cp:lastModifiedBy>
  <cp:revision>98</cp:revision>
  <dcterms:created xsi:type="dcterms:W3CDTF">2023-05-15T07:36:23Z</dcterms:created>
  <dcterms:modified xsi:type="dcterms:W3CDTF">2026-09-29T19:30:32Z</dcterms:modified>
</cp:coreProperties>
</file>
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2" r:id="rId2"/>
    <p:sldId id="263" r:id="rId3"/>
    <p:sldId id="264" r:id="rId4"/>
    <p:sldId id="265" r:id="rId5"/>
    <p:sldId id="266" r:id="rId6"/>
    <p:sldId id="267" r:id="rId7"/>
    <p:sldId id="270" r:id="rId8"/>
    <p:sldId id="280" r:id="rId9"/>
    <p:sldId id="283" r:id="rId10"/>
    <p:sldId id="296" r:id="rId23"/>
    <p:sldId id="297" r:id="rId24"/>
    <p:sldId id="298" r:id="rId25"/>
    <p:sldId id="299" r:id="rId26"/>
    <p:sldId id="294" r:id="rId12"/>
    <p:sldId id="269" r:id="rId13"/>
    <p:sldId id="281" r:id="rId14"/>
    <p:sldId id="295" r:id="rId22"/>
    <p:sldId id="279" r:id="rId15"/>
    <p:sldId id="275" r:id="rId16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5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CBCB3-A5B2-A499-0B59-C14AA7E2E84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94A65-4A95-5C32-0584-82265EE9C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D2290-2F05-50C4-D552-6C25AE48DCE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3B07-7196-F996-3707-594AEB274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3173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КВОРУМ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E31E2F71-AB2B-7A09-F5CC-7574560B988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450" b="1450"/>
          <a:stretch/>
        </p:blipFill>
        <p:spPr bwMode="auto">
          <a:xfrm>
            <a:off x="304800" y="330200"/>
            <a:ext cx="5194300" cy="1082675"/>
          </a:xfrm>
          <a:prstGeom prst="rect">
            <a:avLst/>
          </a:prstGeo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 dirty="0"/>
              <a:t>№ 7. </a:t>
            </a:r>
            <a:r>
              <a:rPr lang="en-US" dirty="0" err="1"/>
              <a:t>Интеллектуальная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мониторинга</a:t>
            </a:r>
            <a:r>
              <a:rPr lang="en-US" dirty="0"/>
              <a:t> </a:t>
            </a:r>
            <a:r>
              <a:rPr lang="en-US" dirty="0" err="1"/>
              <a:t>строительной</a:t>
            </a:r>
            <a:r>
              <a:rPr lang="en-US" dirty="0"/>
              <a:t> </a:t>
            </a:r>
            <a:r>
              <a:rPr lang="en-US" dirty="0" err="1"/>
              <a:t>площадки</a:t>
            </a:r>
            <a:endParaRPr lang="ru-RU" dirty="0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lstStyle/>
          <a:p>
            <a:endParaRPr lang="en-US"/>
          </a:p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sz="1300" dirty="0" err="1">
                <a:solidFill>
                  <a:schemeClr val="tx1"/>
                </a:solidFill>
              </a:rPr>
              <a:t>Каждое отклонение несёт числа (facts) и снимок с рамками (evidence). Правила — это данные, а не код: новый класс техники — одна запись в YAML, новое правило этапа — правка в интерфейсе с пересчётом.</a:t>
            </a:r>
            <a:endParaRPr sz="1300" dirty="0">
              <a:solidFill>
                <a:schemeClr val="tx1"/>
              </a:solidFill>
            </a:endParaRPr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Петрин Денис Иванович, студент ФИИ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Студенты ФИИ МГУ и МФТИ: компьютерное зрение, бэкенд, продукт и дизайн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Факультет искусственного интеллекта МГУ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МФТИ ФПМИ </a:t>
            </a:r>
            <a:r>
              <a:rPr lang="en-US" i="1" dirty="0">
                <a:solidFill>
                  <a:schemeClr val="tx1"/>
                </a:solidFill>
              </a:rPr>
              <a:t>AI360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г.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 «КВОРУМ»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Система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анализирует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снимки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камер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стройплощадки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автоматически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сопоставляет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работ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календарным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графиком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распознаёт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определяет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участок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привязывает</a:t>
            </a:r>
            <a:r>
              <a:rPr lang="en-US" dirty="0">
                <a:solidFill>
                  <a:schemeClr val="tx1"/>
                </a:solidFill>
              </a:rPr>
              <a:t> к </a:t>
            </a:r>
            <a:r>
              <a:rPr lang="en-US" dirty="0" err="1">
                <a:solidFill>
                  <a:schemeClr val="tx1"/>
                </a:solidFill>
              </a:rPr>
              <a:t>этапу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находит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сроков</a:t>
            </a:r>
            <a:r>
              <a:rPr lang="en-US" dirty="0">
                <a:solidFill>
                  <a:schemeClr val="tx1"/>
                </a:solidFill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@denbug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+7 901 745 3592</a:t>
            </a:r>
            <a:endParaRPr sz="1200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 Петрин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Маркетинг и дизайн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@infuy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+7 983 324 5207</a:t>
            </a: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Александр Горбунов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lstStyle/>
          <a:p>
            <a:endParaRPr lang="en-US"/>
          </a:p>
        </p:txBody>
      </p:sp>
      <p:sp>
        <p:nvSpPr>
          <p:cNvPr id="368022300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1344225912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Разработка и </a:t>
            </a:r>
            <a:r>
              <a:rPr lang="en-US" sz="1200" dirty="0">
                <a:solidFill>
                  <a:schemeClr val="tx1"/>
                </a:solidFill>
              </a:rPr>
              <a:t>DevOps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@cerXXXX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+7 903 975 4526</a:t>
            </a:r>
            <a:endParaRPr sz="1200" dirty="0">
              <a:solidFill>
                <a:schemeClr val="tx1"/>
              </a:solidFill>
            </a:endParaRPr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МФТИ ФПМИ </a:t>
            </a:r>
            <a:r>
              <a:rPr lang="en-US" sz="1200" dirty="0">
                <a:solidFill>
                  <a:schemeClr val="tx1"/>
                </a:solidFill>
              </a:rPr>
              <a:t>AI360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Иван Поляков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Собрались под ЛЦТ-2026: двое — первокурсники ФИИ МГУ, один — МФТИ ФПМИ AI360. Работали как продуктовая команда: ТЗ → методика → архитектурные решения (ADR) → код с тестами → репетиция запуска на чистой машине.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  <a:endParaRPr dirty="0"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1) Техника есть, но не та или не там — у каждого отклонения D1–D10 порог в данных, числа и снимок.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2) Zero-shot почти не видит технику (mAP50 0,07) — дообучили до 0,81 и показываем обе цифры.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3) Запуск на чужой машине — образы, веса и демо-кадры скачиваются одной командой.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endParaRPr dirty="0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Возможность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превратить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пассивное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видеонаблюдение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активного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цифрового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помощника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прораба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просто</a:t>
            </a:r>
            <a:r>
              <a:rPr lang="en-US" dirty="0">
                <a:solidFill>
                  <a:schemeClr val="tx1"/>
                </a:solidFill>
              </a:rPr>
              <a:t> «</a:t>
            </a:r>
            <a:r>
              <a:rPr lang="en-US" dirty="0" err="1">
                <a:solidFill>
                  <a:schemeClr val="tx1"/>
                </a:solidFill>
              </a:rPr>
              <a:t>запись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архива</a:t>
            </a:r>
            <a:r>
              <a:rPr lang="en-US" dirty="0">
                <a:solidFill>
                  <a:schemeClr val="tx1"/>
                </a:solidFill>
              </a:rPr>
              <a:t>», а </a:t>
            </a:r>
            <a:r>
              <a:rPr lang="en-US" dirty="0" err="1">
                <a:solidFill>
                  <a:schemeClr val="tx1"/>
                </a:solidFill>
              </a:rPr>
              <a:t>система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которая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сама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говорит</a:t>
            </a:r>
            <a:r>
              <a:rPr lang="en-US" dirty="0">
                <a:solidFill>
                  <a:schemeClr val="tx1"/>
                </a:solidFill>
              </a:rPr>
              <a:t>: «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доказательство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вот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».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  <a:endParaRPr dirty="0"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>
                <a:solidFill>
                  <a:schemeClr val="tx1"/>
                </a:solidFill>
              </a:rPr>
              <a:t>4 сервиса (план, площадка, распознавание, анализ с отчётами) + gateway. У каждого сервиса с данными — своя БД, связь только по REST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Распознавание: YOLO-World, дообученный на открытых датасетах стройтехники, + OpenCLIP для стадии объекта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Правила отклонений, классы техники, зоны и пороги — это данные (YAML, БД), а не код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Стек: FastAPI, PostgreSQL, SeaweedFS (S3), React, Docker.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От видеоархива — к контролю графика: система сама говорит, что не так, где и почему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Цепочка ценности: Снимок → Техника → Участок → Этап графика → Отклонение → Прогноз</a:t>
            </a:r>
            <a:endParaRPr lang="ru-RU" sz="13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Развитие: гибрид детекторов, расчёт графика для всех типов объектов (сейчас — монолитный жилой дом), другие площадки с техникой: карьеры, порты.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4 сервиса + gateway: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plan-service — объекты, график (импорт XLSX/CSV или расчёт по МРР), этапы, правила «этап → техника»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site-service — камеры, зоны, снимки, детекции, окна наблюдения по 30 минут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vision-service — распознавание техники (YOLO-World) и стадии объекта (OpenCLIP)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analysis-service — отклонения D1–D10, прогноз, PDF-отчёт и LLM-резюме. У каждого сервиса с данными — своя БД, связь только по REST через gateway.</a:t>
            </a:r>
            <a:br>
              <a:rPr lang="en-US" dirty="0">
                <a:solidFill>
                  <a:schemeClr val="tx1"/>
                </a:solidFill>
              </a:rPr>
            </a:b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Данные, а не код: правила, классы техники, зоны и пороги. Новый класс техники — одна запись в YAML, без правки кода.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Сквозные X-API-Key и X-Request-Id: один запрос прослеживается через все сервисы.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АРХИТЕКТУРА РЕШЕНИЯ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5712D0-C197-73D8-C6CA-634675406E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445" y="1747768"/>
            <a:ext cx="6072555" cy="3362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ОБОСНОВАНИЕ ВЫБОРА ТЕХНОЛОГИЙ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YOLO-World + OpenCLIP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Классы техники задаются текстом: новый тип машины добавляется без переобучения. OpenCLIP — стадия по фото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Дообучение ce-ulima-v1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YOLO-World, дообученный на Construction Equipment и датасете Лимы: mAP50 0,07 → 0,81 на отложенном тесте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FastAPI</a:t>
            </a:r>
            <a:r>
              <a:rPr lang="en-US" b="1" dirty="0">
                <a:solidFill>
                  <a:schemeClr val="accent1"/>
                </a:solidFill>
              </a:rPr>
              <a:t> + PostgreSQL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Асинхронный</a:t>
            </a:r>
            <a:r>
              <a:rPr lang="en-US" dirty="0">
                <a:solidFill>
                  <a:schemeClr val="tx1"/>
                </a:solidFill>
              </a:rPr>
              <a:t> Python-</a:t>
            </a:r>
            <a:r>
              <a:rPr lang="en-US" dirty="0" err="1">
                <a:solidFill>
                  <a:schemeClr val="tx1"/>
                </a:solidFill>
              </a:rPr>
              <a:t>стек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изолированными</a:t>
            </a:r>
            <a:r>
              <a:rPr lang="en-US" dirty="0">
                <a:solidFill>
                  <a:schemeClr val="tx1"/>
                </a:solidFill>
              </a:rPr>
              <a:t> БД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сервис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SeaweedFS (S3)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Хранилище снимков и отчётов. У заказчика меняется на любой S3 через .env, без правки кода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React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Интерфейс оператора: у каждого отклонения — числа, правило и снимок с рамками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4" y="324562"/>
            <a:ext cx="477352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Кадр с камеры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EXIF-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зона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времени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NEEDS_TIME, </a:t>
            </a:r>
            <a:r>
              <a:rPr lang="en-US" dirty="0" err="1">
                <a:solidFill>
                  <a:schemeClr val="tx1"/>
                </a:solidFill>
              </a:rPr>
              <a:t>дубль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</a:t>
            </a:r>
            <a:r>
              <a:rPr lang="en-US" dirty="0">
                <a:solidFill>
                  <a:schemeClr val="tx1"/>
                </a:solidFill>
              </a:rPr>
              <a:t> sha256 — </a:t>
            </a:r>
            <a:r>
              <a:rPr lang="en-US" dirty="0" err="1">
                <a:solidFill>
                  <a:schemeClr val="tx1"/>
                </a:solidFill>
              </a:rPr>
              <a:t>отклонён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Сессия 30 минут</a:t>
            </a: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Кадры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один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единицы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работает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простой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вне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Прогноз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= facts (</a:t>
            </a:r>
            <a:r>
              <a:rPr lang="en-US" dirty="0" err="1">
                <a:solidFill>
                  <a:schemeClr val="tx1"/>
                </a:solidFill>
              </a:rPr>
              <a:t>числа</a:t>
            </a:r>
            <a:r>
              <a:rPr lang="en-US" dirty="0">
                <a:solidFill>
                  <a:schemeClr val="tx1"/>
                </a:solidFill>
              </a:rPr>
              <a:t>) + evidence (</a:t>
            </a:r>
            <a:r>
              <a:rPr lang="en-US" dirty="0" err="1">
                <a:solidFill>
                  <a:schemeClr val="tx1"/>
                </a:solidFill>
              </a:rPr>
              <a:t>кадр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рамками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Гант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сдвигает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зависимые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Техника и участок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YOLO-World: класс и рамка техники на кадре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Участок — по точке, где рамка касается земли, в зоне камеры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Правило этапа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В </a:t>
            </a:r>
            <a:r>
              <a:rPr lang="en-US" dirty="0" err="1">
                <a:solidFill>
                  <a:schemeClr val="tx1"/>
                </a:solidFill>
              </a:rPr>
              <a:t>карточке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этапа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какая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сколько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</a:t>
            </a:r>
            <a:r>
              <a:rPr lang="ru-RU" dirty="0">
                <a:solidFill>
                  <a:schemeClr val="tx1"/>
                </a:solidFill>
              </a:rPr>
              <a:t>ы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участке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против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D1–D10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СВЯЗЬ СНИМКОВ С ГРАФИКОМ</a:t>
            </a:r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324562"/>
            <a:ext cx="36997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D902B22-114B-E4E6-B83F-E4F34518D58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t="3496" r="-10" b="5763"/>
          <a:stretch>
            <a:fillRect/>
          </a:stretch>
        </p:blipFill>
        <p:spPr bwMode="auto">
          <a:xfrm>
            <a:off x="5034405" y="1358954"/>
            <a:ext cx="2172255" cy="4270120"/>
          </a:xfrm>
          <a:prstGeom prst="roundRect">
            <a:avLst>
              <a:gd name="adj" fmla="val 12294"/>
            </a:avLst>
          </a:prstGeom>
          <a:noFill/>
        </p:spPr>
      </p:pic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Наблюдение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Обзор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лента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предупреждений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план-факт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отчёты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всё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читает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прораб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ежедневно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Настройка объекта</a:t>
            </a: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Реквизиты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календарный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привязки</a:t>
            </a:r>
            <a:r>
              <a:rPr lang="en-US" dirty="0">
                <a:solidFill>
                  <a:schemeClr val="tx1"/>
                </a:solidFill>
              </a:rPr>
              <a:t> «</a:t>
            </a:r>
            <a:r>
              <a:rPr lang="en-US" dirty="0" err="1">
                <a:solidFill>
                  <a:schemeClr val="tx1"/>
                </a:solidFill>
              </a:rPr>
              <a:t>этап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»,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камерах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Загрузка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снимков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контролем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качества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метаданных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отсутствие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дублей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распознавание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Справочники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Пороги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классы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логика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системы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данные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код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1034340990" name="Группа 12"/>
          <p:cNvGrpSpPr/>
          <p:nvPr/>
        </p:nvGrpSpPr>
        <p:grpSpPr bwMode="auto">
          <a:xfrm>
            <a:off x="4951937" y="1228926"/>
            <a:ext cx="2268386" cy="4490387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СТРУКТУРА ПРОТОТИПА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B96DE-42B5-C482-522D-5399513453F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>
            <a:extLst>
              <a:ext uri="{FF2B5EF4-FFF2-40B4-BE49-F238E27FC236}">
                <a16:creationId xmlns:a16="http://schemas.microsoft.com/office/drawing/2014/main" id="{0935B526-6572-9F62-FAD7-170CE8FD11D0}"/>
              </a:ext>
            </a:extLst>
          </p:cNvPr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>
            <a:extLst>
              <a:ext uri="{FF2B5EF4-FFF2-40B4-BE49-F238E27FC236}">
                <a16:creationId xmlns:a16="http://schemas.microsoft.com/office/drawing/2014/main" id="{254E12BA-0303-871B-0BA4-5E614F67F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>
            <a:extLst>
              <a:ext uri="{FF2B5EF4-FFF2-40B4-BE49-F238E27FC236}">
                <a16:creationId xmlns:a16="http://schemas.microsoft.com/office/drawing/2014/main" id="{CDA7A03A-1920-4EEB-0A1C-614FA18F1D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auto">
          <a:xfrm>
            <a:off x="8292891" y="1105718"/>
            <a:ext cx="3626835" cy="500887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Обязательная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Группы классов с минимальным числом машин. Нет ни одной группы — D1, собрана только часть — D2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Допустимая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Классы, которые могут работать на этапе, но не требуются. Всё остальное — D3 «техника не по этапу»</a:t>
            </a: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Признак старта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Какие классы вместе означают начало этапа: по нему система находит фактический старт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Устойчивость</a:t>
            </a:r>
          </a:p>
          <a:p>
            <a:pPr lvl="1">
              <a:defRPr/>
            </a:pPr>
            <a:r>
              <a:rPr lang="ru-RU" sz="1450" dirty="0">
                <a:solidFill>
                  <a:schemeClr val="tx1"/>
                </a:solidFill>
              </a:rPr>
              <a:t>Условие должно держаться несколько сессий подряд — одна случайная машина не даёт тревоги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>
            <a:extLst>
              <a:ext uri="{FF2B5EF4-FFF2-40B4-BE49-F238E27FC236}">
                <a16:creationId xmlns:a16="http://schemas.microsoft.com/office/drawing/2014/main" id="{2A26B42A-75D5-4CD7-B5A0-D3EF03F71C0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ЭТАП </a:t>
            </a:r>
            <a:r>
              <a:rPr lang="en-US" dirty="0"/>
              <a:t>→ </a:t>
            </a:r>
            <a:r>
              <a:rPr lang="ru-RU" dirty="0"/>
              <a:t>ТЕХНИКА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1AF724-D960-0C69-650F-400A12D68D4A}"/>
              </a:ext>
            </a:extLst>
          </p:cNvPr>
          <p:cNvGrpSpPr/>
          <p:nvPr/>
        </p:nvGrpSpPr>
        <p:grpSpPr>
          <a:xfrm>
            <a:off x="267284" y="1206873"/>
            <a:ext cx="7759626" cy="4806563"/>
            <a:chOff x="267284" y="1206873"/>
            <a:chExt cx="7759626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24629891-711E-A87D-F209-A3318EC9252F}"/>
                </a:ext>
              </a:extLst>
            </p:cNvPr>
            <p:cNvGrpSpPr/>
            <p:nvPr/>
          </p:nvGrpSpPr>
          <p:grpSpPr bwMode="auto">
            <a:xfrm>
              <a:off x="269778" y="1206873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C7B85541-967C-329B-37B2-E0F36FA5F6F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56A350E0-2215-B3D7-835F-2AD5E4A17BFE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88A3707E-5D2C-1E8A-9C6F-5BA49253539A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746FC7D9-15FF-AAA2-5C0B-A0E13057E574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06E5E10-1469-22D7-58F5-AE2AC244CED1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F0AE1BF-89C4-0762-0DC8-46B2DDD6FDD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7AD0B4E-28FA-A190-1993-3648D7BEC2A0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ACA41B05-9F49-38DF-A1D8-ADD78F567C2A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B414A41D-2999-A268-0F40-819FA8F982EF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DB6C1B4-6C35-8FDB-0CD1-7C6BFFE3094E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C7D8B99D-63D5-A8DD-32AA-CE4C41366A33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62F2555B-B73A-4B2C-7286-D04C9CDAA5D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DA11E19-AE12-5E31-DB0F-7C32CFE3C133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B075CC1B-8D52-735B-80FA-01CBDA58D8D7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C917E5CC-CBB6-E91D-5EC3-A28824F688C9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0F344A6-987A-55AE-B96B-FFFE56EDD500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9CB43ACC-5212-F9D5-4D58-96C907D3B532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94066B1A-278F-6DFD-1F0B-22002ABE14FB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14088A7-BF04-B718-6981-9DD9498AB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284" y="1903556"/>
              <a:ext cx="7754636" cy="38834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833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281611" y="887375"/>
            <a:ext cx="4375367" cy="5295060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505009" y="1029610"/>
            <a:ext cx="3906828" cy="395228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ЛЕНТА ПРЕДУПРЕЖДЕНИЙ</a:t>
            </a: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05009" y="1567072"/>
            <a:ext cx="3928569" cy="4482614"/>
          </a:xfrm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Каждый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элемент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b="1" dirty="0" err="1">
                <a:solidFill>
                  <a:schemeClr val="accent1"/>
                </a:solidFill>
              </a:rPr>
              <a:t>код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временное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 err="1">
                <a:solidFill>
                  <a:schemeClr val="tx1"/>
                </a:solidFill>
              </a:rPr>
              <a:t>День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днём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видно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объект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шёл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чисто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сошлись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фактом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Фильтры</a:t>
            </a:r>
            <a:r>
              <a:rPr lang="en-US" b="1" dirty="0">
                <a:solidFill>
                  <a:schemeClr val="accent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открытые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закрытые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ложные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коды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период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оператор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смотрит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сейчас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Решение оператора (подтвердить / ложное) сохраняется и видно в отчёте; отклонение закрывается само, когда условие больше не выполняется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" name="Picture Placeholder 2">
            <a:extLst>
              <a:ext uri="{FF2B5EF4-FFF2-40B4-BE49-F238E27FC236}">
                <a16:creationId xmlns:a16="http://schemas.microsoft.com/office/drawing/2014/main" id="{C9C2BACB-4AEE-17E3-6F43-BE305D6E60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032" r="14032"/>
          <a:stretch/>
        </p:blipFill>
        <p:spPr bwMode="auto">
          <a:xfrm>
            <a:off x="4832581" y="1029610"/>
            <a:ext cx="7077808" cy="4945526"/>
          </a:xfrm>
          <a:prstGeom prst="roundRect">
            <a:avLst>
              <a:gd name="adj" fmla="val 6127"/>
            </a:avLst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/>
          <p:cNvSpPr>
            <a:spLocks noGrp="1"/>
          </p:cNvSpPr>
          <p:nvPr>
            <p:ph type="body" sz="quarter" idx="15"/>
          </p:nvPr>
        </p:nvSpPr>
        <p:spPr bwMode="auto">
          <a:xfrm>
            <a:off x="308684" y="1470269"/>
            <a:ext cx="3626835" cy="416040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Факт-старт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Система находит его сама: первая сессия, где на участке собран признак старта этапа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Прогноз и перенос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Прогноз — по темпу работы техники за последние дни; зависимые этапы сдвигаются по связям графика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«Этап выполнен»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Отметка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оператора</a:t>
            </a:r>
            <a:r>
              <a:rPr lang="en-US" sz="1450" dirty="0">
                <a:solidFill>
                  <a:schemeClr val="tx1"/>
                </a:solidFill>
              </a:rPr>
              <a:t>: </a:t>
            </a:r>
            <a:r>
              <a:rPr lang="en-US" sz="1450" dirty="0" err="1">
                <a:solidFill>
                  <a:schemeClr val="tx1"/>
                </a:solidFill>
              </a:rPr>
              <a:t>пересчёт</a:t>
            </a:r>
            <a:r>
              <a:rPr lang="en-US" sz="1450" dirty="0">
                <a:solidFill>
                  <a:schemeClr val="tx1"/>
                </a:solidFill>
              </a:rPr>
              <a:t> «</a:t>
            </a:r>
            <a:r>
              <a:rPr lang="en-US" sz="1450" dirty="0" err="1">
                <a:solidFill>
                  <a:schemeClr val="tx1"/>
                </a:solidFill>
              </a:rPr>
              <a:t>было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dirty="0" err="1">
                <a:solidFill>
                  <a:schemeClr val="tx1"/>
                </a:solidFill>
              </a:rPr>
              <a:t>стало</a:t>
            </a:r>
            <a:r>
              <a:rPr lang="en-US" sz="1450" dirty="0">
                <a:solidFill>
                  <a:schemeClr val="tx1"/>
                </a:solidFill>
              </a:rPr>
              <a:t>»; </a:t>
            </a:r>
            <a:r>
              <a:rPr lang="en-US" sz="1450" dirty="0" err="1">
                <a:solidFill>
                  <a:schemeClr val="tx1"/>
                </a:solidFill>
              </a:rPr>
              <a:t>снятие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отметки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возвращает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всё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назад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Критический путь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Подсвечен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диаграмме</a:t>
            </a:r>
            <a:r>
              <a:rPr lang="en-US" sz="1450" dirty="0">
                <a:solidFill>
                  <a:schemeClr val="tx1"/>
                </a:solidFill>
              </a:rPr>
              <a:t>; </a:t>
            </a:r>
            <a:r>
              <a:rPr lang="en-US" sz="1450" dirty="0" err="1">
                <a:solidFill>
                  <a:schemeClr val="tx1"/>
                </a:solidFill>
              </a:rPr>
              <a:t>задержка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нём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сразу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видна</a:t>
            </a:r>
            <a:r>
              <a:rPr lang="en-US" sz="1450" dirty="0">
                <a:solidFill>
                  <a:schemeClr val="tx1"/>
                </a:solidFill>
              </a:rPr>
              <a:t> в </a:t>
            </a:r>
            <a:r>
              <a:rPr lang="en-US" sz="1450" dirty="0" err="1">
                <a:solidFill>
                  <a:schemeClr val="tx1"/>
                </a:solidFill>
              </a:rPr>
              <a:t>дате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окончания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ГАНТ И ПРОГНОЗ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8367BB-FCDF-EA76-DFEC-E6F1EE34AC10}"/>
              </a:ext>
            </a:extLst>
          </p:cNvPr>
          <p:cNvGrpSpPr/>
          <p:nvPr/>
        </p:nvGrpSpPr>
        <p:grpSpPr>
          <a:xfrm>
            <a:off x="4099906" y="1025718"/>
            <a:ext cx="7757132" cy="4806563"/>
            <a:chOff x="2057437" y="1042144"/>
            <a:chExt cx="7757132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759B3D19-6E33-F082-4925-90DD78CA1906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B1C904A4-3ADE-FD0E-BF6A-A048866EFE1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8AF3DA00-4500-BC01-C2F7-B3DAD8C321C6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16710499-6685-AB47-96AF-13330181B802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56ACA19C-20B6-DF80-31F6-31079F669B55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8E06B126-0983-8BCD-1758-C6C5D7F9CBDA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C095A73-1D5E-7494-DDED-871A2DBDF4DD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343320B1-E31F-FCDF-B5BE-077166A1CDAF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E8981878-C992-8B81-6E9A-6C74F0D49F5F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D49D5031-C424-1354-C698-A4DD2F6B9F6A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5979040-D996-0AA1-916F-E307D39AD425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2625A7E6-2F2D-7875-1E1B-7FF68EFFC9BF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D72A0A22-BD0E-0641-6424-C1B1743D3540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3E6344D-0DF6-50A9-CE04-1C825156AFE1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F55BDF03-CCD5-A7B3-2FD6-E9E9667F6132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AFD7E96-7F8C-062D-FD55-48D7B97DA0BE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65C5DE58-FF0A-F878-BB53-E004FA4A193A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AA354CD4-37DB-5B8E-0357-A6E05CB487F0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48A4ACC4-102A-A65C-F5D3-7626E9663761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40083BF-E96D-DA41-323B-24A4A4CB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57437" y="1816301"/>
              <a:ext cx="7754636" cy="383079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КАЧЕСТВО РАСПОЗНАВАНИЯ И СКОРОСТЬ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mAP50 0,81 на тесте Лимы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Против 0,07 у zero-shot. 264 отложенных кадра, 4 945 рамок: самосвал, погрузчик, миксер, насос, кран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Чужие объекты — честно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100 снимков организаторов, 600 машин: при рабочем пороге 83 верно и 18 ложных. Zero-shot — 59 верно и 521 ложная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29 мс на снимок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Медиана на RTX 3060 Laptop, p90 — 58 мс. Требование ТЗ — до 100 мс. Без GPU — около 1 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Снимок → анализ за ~1 с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После распознавания факт окна пересчитывается сразу. Стек поднимается одной командой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Что не измерено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Ночь, зима, стадия по фото. Узкое место — назвать машину, а не найти 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4" y="324562"/>
            <a:ext cx="597708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27652" y="3547298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Высота 10–15 м (мачта или башенный кран), вид на всё пятно застройки. Положение не меняется: зоны размечаются один раз на эталонном кадре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89" y="3547297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Отдельные камеры на въезде и выезде.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Видят самосвалы и миксеры, которые на площадке недолго. Снимок раз в 20–30 минут, время — в EXIF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57248" y="354296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Видеть минимум двумя камерами.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На демо склад видит только камера D3: когда она закрыта, система ставит D10 «участок вне контроля». Пятно застройки видят две камеры — контроль не теряется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РЕКОМЕНДАЦИИ ПО УСТАНОВКЕ КАМЕР</a:t>
            </a:r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FE889A6-2C88-5A32-656F-113401E60107}"/>
              </a:ext>
            </a:extLst>
          </p:cNvPr>
          <p:cNvSpPr txBox="1"/>
          <p:nvPr/>
        </p:nvSpPr>
        <p:spPr>
          <a:xfrm>
            <a:off x="1139011" y="3052913"/>
            <a:ext cx="2458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 err="1">
                <a:solidFill>
                  <a:schemeClr val="tx1"/>
                </a:solidFill>
                <a:effectLst/>
                <a:latin typeface="+mn-lt"/>
              </a:rPr>
              <a:t>Обзорные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1" i="0" dirty="0" err="1">
                <a:solidFill>
                  <a:schemeClr val="tx1"/>
                </a:solidFill>
                <a:effectLst/>
                <a:latin typeface="+mn-lt"/>
              </a:rPr>
              <a:t>камеры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2779B-DA2A-2EE7-57B7-AC4B3F503E14}"/>
              </a:ext>
            </a:extLst>
          </p:cNvPr>
          <p:cNvSpPr txBox="1"/>
          <p:nvPr/>
        </p:nvSpPr>
        <p:spPr>
          <a:xfrm>
            <a:off x="5158575" y="3052913"/>
            <a:ext cx="19796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Въезд</a:t>
            </a:r>
            <a:r>
              <a:rPr lang="en-US" b="1" dirty="0"/>
              <a:t> и </a:t>
            </a:r>
            <a:r>
              <a:rPr lang="en-US" b="1" dirty="0" err="1"/>
              <a:t>выезд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7FEFC-520C-69D9-473F-CFB4BBCCF03A}"/>
              </a:ext>
            </a:extLst>
          </p:cNvPr>
          <p:cNvSpPr txBox="1"/>
          <p:nvPr/>
        </p:nvSpPr>
        <p:spPr>
          <a:xfrm>
            <a:off x="8921745" y="3043449"/>
            <a:ext cx="2554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Критичный</a:t>
            </a:r>
            <a:r>
              <a:rPr lang="en-US" b="1" dirty="0"/>
              <a:t> </a:t>
            </a:r>
            <a:r>
              <a:rPr lang="en-US" b="1" dirty="0" err="1"/>
              <a:t>участок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4" y="324562"/>
            <a:ext cx="519208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sz="3600" dirty="0">
                <a:solidFill>
                  <a:schemeClr val="tx1"/>
                </a:solidFill>
              </a:rPr>
              <a:t>Архитектура готова к горизонтальному росту и подключению к инфраструктуре заказчика без правок кода сервисов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Много объектов — уже сейчас: объекты, камеры и графики — строки в базе. Воркеры распознавания масштабируются копиями (--scale site-worker=N)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Гибрид: дообученный детектор + YOLOE + CLIP по вырезкам. Проверен офлайн: 112 найденных машин против 81 при том же числе ложных, 106 мс на снимок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1600" dirty="0" err="1">
                <a:solidFill>
                  <a:schemeClr val="tx1"/>
                </a:solidFill>
              </a:rPr>
              <a:t>Методика: техника, которая работает стоя (кран, насос), вне размеченных участков — чтобы не было ложного простоя D4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>
              <a:defRPr/>
            </a:pPr>
            <a:r>
              <a:rPr lang="en-US" sz="1300" dirty="0" err="1">
                <a:solidFill>
                  <a:schemeClr val="tx1"/>
                </a:solidFill>
              </a:rPr>
              <a:t>Не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только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стройплощадки</a:t>
            </a:r>
            <a:r>
              <a:rPr lang="en-US" sz="1300" dirty="0">
                <a:solidFill>
                  <a:schemeClr val="tx1"/>
                </a:solidFill>
              </a:rPr>
              <a:t>: </a:t>
            </a:r>
            <a:r>
              <a:rPr lang="en-US" sz="1300" dirty="0" err="1">
                <a:solidFill>
                  <a:schemeClr val="tx1"/>
                </a:solidFill>
              </a:rPr>
              <a:t>логистические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хабы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dirty="0" err="1">
                <a:solidFill>
                  <a:schemeClr val="tx1"/>
                </a:solidFill>
              </a:rPr>
              <a:t>портовые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терминалы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dirty="0" err="1">
                <a:solidFill>
                  <a:schemeClr val="tx1"/>
                </a:solidFill>
              </a:rPr>
              <a:t>карьеры</a:t>
            </a:r>
            <a:r>
              <a:rPr lang="en-US" sz="1300" dirty="0">
                <a:solidFill>
                  <a:schemeClr val="tx1"/>
                </a:solidFill>
              </a:rPr>
              <a:t>. </a:t>
            </a:r>
            <a:r>
              <a:rPr lang="en-US" sz="1300" dirty="0" err="1">
                <a:solidFill>
                  <a:schemeClr val="tx1"/>
                </a:solidFill>
              </a:rPr>
              <a:t>Та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же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методика</a:t>
            </a:r>
            <a:r>
              <a:rPr lang="en-US" sz="1300" dirty="0">
                <a:solidFill>
                  <a:schemeClr val="tx1"/>
                </a:solidFill>
              </a:rPr>
              <a:t> </a:t>
            </a:r>
            <a:r>
              <a:rPr lang="en-US" sz="1300" dirty="0" err="1">
                <a:solidFill>
                  <a:schemeClr val="tx1"/>
                </a:solidFill>
              </a:rPr>
              <a:t>сессий</a:t>
            </a:r>
            <a:r>
              <a:rPr lang="en-US" sz="1300" dirty="0">
                <a:solidFill>
                  <a:schemeClr val="tx1"/>
                </a:solidFill>
              </a:rPr>
              <a:t> и </a:t>
            </a:r>
            <a:r>
              <a:rPr lang="en-US" sz="1300" dirty="0" err="1">
                <a:solidFill>
                  <a:schemeClr val="tx1"/>
                </a:solidFill>
              </a:rPr>
              <a:t>отклонений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Разметка кадров своей площадки заказчика: на Лиме такое дообучение подняло mAP50 с 0,07 до 0,81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МАСШТАБИРОВАНИЕ И РАЗВИТИЕ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485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33524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1 · КАМЕРА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техника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на кадре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Детектор находит технику и людей. У каждой машины — участок и состояние: стоит на месте или сдвинулась с прошлого окна.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547681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32681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2 · ПРЕДУПРЕЖДЕНИЕ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числа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и снимок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D10: склад 8 сессий подряд не виден ни одной камерой. Вывод — «проверить вручную», а не «пусто». Оператор ставит вердикт.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485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33524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3 · СВОДКА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статус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объекта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SPI 0,98, видимость участков 92 %, 4 дня наблюдений: объект в графике, открытых предупреждений нет.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73419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584193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4 · ПРОГНОЗ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риск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по срокам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Объект с отставанием: +24 раб. дн. по критическому пути, SPI 0,71. Этапы в риске — с плановой и прогнозной датой.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1312</Words>
  <Application>Microsoft Office PowerPoint</Application>
  <PresentationFormat>Widescreen</PresentationFormat>
  <Paragraphs>169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Lato Light</vt:lpstr>
      <vt:lpstr>Montserrat</vt:lpstr>
      <vt:lpstr>Wingdings</vt:lpstr>
      <vt:lpstr>Для Академия инноваторов 16_9</vt:lpstr>
      <vt:lpstr>КВОРУМ</vt:lpstr>
      <vt:lpstr>КОМАНДА «КВОРУМ»</vt:lpstr>
      <vt:lpstr>КОМАНДА «КВОРУМ»</vt:lpstr>
      <vt:lpstr>КОМАНДА «КВОРУМ»</vt:lpstr>
      <vt:lpstr>КОРОТКО О РЕШЕНИИ</vt:lpstr>
      <vt:lpstr>АРХИТЕКТУРА РЕШЕНИЯ</vt:lpstr>
      <vt:lpstr>ОБОСНОВАНИЕ ВЫБОРА ТЕХНОЛОГИЙ</vt:lpstr>
      <vt:lpstr>СВЯЗЬ СНИМКОВ С ГРАФИКОМ</vt:lpstr>
      <vt:lpstr>СТРУКТУРА ПРОТОТИПА</vt:lpstr>
      <vt:lpstr>ПРОТОТИП</vt:lpstr>
      <vt:lpstr>ЭТАП → ТЕХНИКА</vt:lpstr>
      <vt:lpstr>ЛЕНТА ПРЕДУПРЕЖДЕНИЙ</vt:lpstr>
      <vt:lpstr>ГАНТ И ПРОГНОЗ</vt:lpstr>
      <vt:lpstr>РЕКОМЕНДАЦИИ ПО УСТАНОВКЕ КАМЕР</vt:lpstr>
      <vt:lpstr>МАСШТАБИРОВАНИЕ И РАЗВИТИЕ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Infuy</cp:lastModifiedBy>
  <cp:revision>98</cp:revision>
  <dcterms:created xsi:type="dcterms:W3CDTF">2023-05-15T07:36:23Z</dcterms:created>
  <dcterms:modified xsi:type="dcterms:W3CDTF">2026-09-29T19:30:32Z</dcterms:modified>
</cp:coreProperties>
</file>